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iofYsNCkLN+grpks6LkozJk1s1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Internal walkthrough, not a defence. Data and the two attention tricks first.</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Deinterleaving drops the other pulses before the mode stage, and the errors are hard assignments. Open-set is about new modes, not new emitters, and that experiment was not run.</a:t>
            </a: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Both partitions come from the mixed list. Emitter ids do not transfer across recordings. Mode labels do. Clustering at test time is deliberate, and held-out modes were not scored.</a:t>
            </a:r>
          </a:p>
        </p:txBody>
      </p:sp>
      <p:sp>
        <p:nvSpPr>
          <p:cNvPr id="140" name="Google Shape;14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Do not say 2,000 scenarios or at most 10 emitters. The corpus is 1,950 scenarios, and the busiest window has 7 emitters. Test is 1,169 non-overlapping windows.</a:t>
            </a:r>
          </a:p>
        </p:txBody>
      </p:sp>
      <p:sp>
        <p:nvSpPr>
          <p:cNvPr id="167" name="Google Shape;16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Left plot is one crowded window of input features. Then name the other cases: the 3/1997 split, a scanning mode, and a crowded mode mixture. Do not call the scanning window sparse.</a:t>
            </a:r>
          </a:p>
        </p:txBody>
      </p:sp>
      <p:sp>
        <p:nvSpPr>
          <p:cNvPr id="185" name="Google Shape;185;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Do not say the embeddings are 256-dimensional. Hidden width is 256. The vectors that are clustered are 64-dimensional. Standard attention does not encode order; that is the point of the next slides.</a:t>
            </a:r>
          </a:p>
        </p:txBody>
      </p:sp>
      <p:sp>
        <p:nvSpPr>
          <p:cNvPr id="201" name="Google Shape;20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The two losses can pull the shared trunk in different directions. The unused branch of a single-task run is cut out of the backward pass. Do not describe it as a different architecture.</a:t>
            </a:r>
          </a:p>
        </p:txBody>
      </p:sp>
      <p:sp>
        <p:nvSpPr>
          <p:cNvPr id="231" name="Google Shape;23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9e926ad14_0_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g3f9e926ad14_0_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 diagram on this slide. Attention is a pairwise score. The next slide is the two ways time enters that score. RoPE is cheap. The bias is an explicit matrix.</a:t>
            </a:r>
          </a:p>
        </p:txBody>
      </p:sp>
      <p:sp>
        <p:nvSpPr>
          <p:cNvPr id="252" name="Google Shape;252;g3f9e926ad14_0_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Give both mechanisms in one pass. RoPE forward pass is 2.5 ms against 1.6 ms. Bias is 32 ms. Do not say the practical cost is the same. Stacking them is worse, and that result is two slides on.</a:t>
            </a:r>
          </a:p>
        </p:txBody>
      </p:sp>
      <p:sp>
        <p:nvSpPr>
          <p:cNvPr id="266" name="Google Shape;26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Five joint models. RoPE-az is incidence rotation on the deinterleaving branch, not a second time encoding. Say up front that stacking is a negative result, then show the numbers.</a:t>
            </a:r>
          </a:p>
        </p:txBody>
      </p:sp>
      <p:sp>
        <p:nvSpPr>
          <p:cNvPr id="299" name="Google Shape;299;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Saab will ask about cost. Clustering is ~55 ms either way. The bias shows up in the forward pass: 32 ms against 1.6 ms. A cache removes the rebuild, not the subtraction.</a:t>
            </a:r>
          </a:p>
        </p:txBody>
      </p:sp>
      <p:sp>
        <p:nvSpPr>
          <p:cNvPr id="318" name="Google Shape;31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Same loss, different positive set. Emitter positives stay inside the window. Mode positives can come from anywhere in the batch. The sum is unweighted, which is one candidate for the Vanilla emitter tax.</a:t>
            </a:r>
          </a:p>
        </p:txBody>
      </p:sp>
      <p:sp>
        <p:nvSpPr>
          <p:cNvPr id="338" name="Google Shape;33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Do not say the other branch is computed and thrown away, or that this equals a pure transformer. The inactive branch is severed from the backward pass. Mode-only RoPE and Bias do not exist in the report.</a:t>
            </a:r>
          </a:p>
        </p:txBody>
      </p:sp>
      <p:sp>
        <p:nvSpPr>
          <p:cNvPr id="352" name="Google Shape;35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Walk the emitter column top to bottom. Feature DBSCAN 0.578, joint Vanilla 0.948, emitter-only Vanilla already 0.999. Joint RoPE-TOA and Bias hit 1.000. Then the two failures: emitter-only Bias 0.840 and the stack 0.851. Modes barely move, and there is no mode-only RoPE or Bias number to quote.</a:t>
            </a:r>
          </a:p>
        </p:txBody>
      </p:sp>
      <p:sp>
        <p:nvSpPr>
          <p:cNvPr id="365" name="Google Shape;3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This replaces the curves. The mean hides a tail: joint Vanilla fails on about one crowded window in ten. RoPE-TOA and Bias do not. Emitter-only Vanilla was already there. Emitter-only Bias and the stack are the negative results. Modes were never the hard task.</a:t>
            </a:r>
          </a:p>
        </p:txBody>
      </p:sp>
      <p:sp>
        <p:nvSpPr>
          <p:cNvPr id="380" name="Google Shape;380;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Three sentences on emitters: joint Vanilla taxes them; time in attention removes the tax; stacking and emitter-only Bias fail. On modes, slightly higher, and the fair pipeline comparison was not run. Do not say the joint model is slightly better as if there were a winner on deinterleaving.</a:t>
            </a:r>
          </a:p>
        </p:txBody>
      </p:sp>
      <p:sp>
        <p:nvSpPr>
          <p:cNvPr id="395" name="Google Shape;39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Windows, streaming, capacity, the loss weight, a classification head, and the two missing evaluations: held-out modes and operational data. RoPE-TOA is the practical joint recipe if they ask what to build next. The bias does the same job and costs more.</a:t>
            </a:r>
          </a:p>
        </p:txBody>
      </p:sp>
      <p:sp>
        <p:nvSpPr>
          <p:cNvPr id="412" name="Google Shape;41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1" name="Google Shape;43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drive.google.com/file/d/1-xpfRBrN038rJen1Im2aSOsPr11uWAHT/view" TargetMode="Externa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txBox="1"/>
          <p:nvPr/>
        </p:nvSpPr>
        <p:spPr>
          <a:xfrm>
            <a:off x="640080" y="1737360"/>
            <a:ext cx="1097280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42034"/>
                </a:solidFill>
                <a:latin typeface="Calibri"/>
                <a:ea typeface="Calibri"/>
                <a:cs typeface="Calibri"/>
                <a:sym typeface="Calibri"/>
              </a:rPr>
              <a:t>Joint emitter and mode clustering</a:t>
            </a:r>
            <a:br>
              <a:rPr b="1" i="0" lang="en-US" sz="3400" u="none" cap="none" strike="noStrike">
                <a:solidFill>
                  <a:srgbClr val="142034"/>
                </a:solidFill>
                <a:latin typeface="Calibri"/>
                <a:ea typeface="Calibri"/>
                <a:cs typeface="Calibri"/>
                <a:sym typeface="Calibri"/>
              </a:rPr>
            </a:br>
            <a:r>
              <a:rPr b="1" i="0" lang="en-US" sz="3400" u="none" cap="none" strike="noStrike">
                <a:solidFill>
                  <a:srgbClr val="142034"/>
                </a:solidFill>
                <a:latin typeface="Calibri"/>
                <a:ea typeface="Calibri"/>
                <a:cs typeface="Calibri"/>
                <a:sym typeface="Calibri"/>
              </a:rPr>
              <a:t>from mixed PDW streams</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640080" y="5029200"/>
            <a:ext cx="10058400" cy="6400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42034"/>
                </a:solidFill>
                <a:latin typeface="Calibri"/>
                <a:ea typeface="Calibri"/>
                <a:cs typeface="Calibri"/>
                <a:sym typeface="Calibri"/>
              </a:rPr>
              <a:t>Markus Johnson Swegmark</a:t>
            </a:r>
            <a:br>
              <a:rPr b="0" i="0" lang="en-US" sz="1400" u="none" cap="none" strike="noStrike">
                <a:solidFill>
                  <a:srgbClr val="142034"/>
                </a:solidFill>
                <a:latin typeface="Calibri"/>
                <a:ea typeface="Calibri"/>
                <a:cs typeface="Calibri"/>
                <a:sym typeface="Calibri"/>
              </a:rPr>
            </a:br>
            <a:r>
              <a:rPr b="0" i="0" lang="en-US" sz="1400" u="none" cap="none" strike="noStrike">
                <a:solidFill>
                  <a:srgbClr val="142034"/>
                </a:solidFill>
                <a:latin typeface="Calibri"/>
                <a:ea typeface="Calibri"/>
                <a:cs typeface="Calibri"/>
                <a:sym typeface="Calibri"/>
              </a:rPr>
              <a:t>Supervisors: Alexander Karlsson, Elin Ohlman (Saab)  ·  Saikat Chatterjee (KTH)</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 /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 name="Google Shape;98;p2"/>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Introduction and terminology</a:t>
            </a:r>
            <a:endParaRPr b="0" i="0" sz="1400" u="none" cap="none" strike="noStrike">
              <a:solidFill>
                <a:srgbClr val="000000"/>
              </a:solidFill>
              <a:latin typeface="Arial"/>
              <a:ea typeface="Arial"/>
              <a:cs typeface="Arial"/>
              <a:sym typeface="Arial"/>
            </a:endParaRPr>
          </a:p>
        </p:txBody>
      </p:sp>
      <p:sp>
        <p:nvSpPr>
          <p:cNvPr id="99" name="Google Shape;99;p2"/>
          <p:cNvSpPr txBox="1"/>
          <p:nvPr/>
        </p:nvSpPr>
        <p:spPr>
          <a:xfrm>
            <a:off x="502920" y="777240"/>
            <a:ext cx="1115568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A7A96"/>
                </a:solidFill>
                <a:latin typeface="Calibri"/>
                <a:ea typeface="Calibri"/>
                <a:cs typeface="Calibri"/>
                <a:sym typeface="Calibri"/>
              </a:rPr>
              <a:t>Electronic Support Measures (ESM)</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502920" y="1115568"/>
            <a:ext cx="1115568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Passively detect, intercept, and analyze electromagnetic signals.</a:t>
            </a:r>
            <a:endParaRPr b="0" i="0" sz="1400" u="none" cap="none" strike="noStrike">
              <a:solidFill>
                <a:srgbClr val="000000"/>
              </a:solidFill>
              <a:latin typeface="Arial"/>
              <a:ea typeface="Arial"/>
              <a:cs typeface="Arial"/>
              <a:sym typeface="Arial"/>
            </a:endParaRPr>
          </a:p>
        </p:txBody>
      </p:sp>
      <p:sp>
        <p:nvSpPr>
          <p:cNvPr id="101" name="Google Shape;101;p2"/>
          <p:cNvSpPr txBox="1"/>
          <p:nvPr/>
        </p:nvSpPr>
        <p:spPr>
          <a:xfrm>
            <a:off x="502920" y="1737360"/>
            <a:ext cx="11155680" cy="310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A7A96"/>
                </a:solidFill>
                <a:latin typeface="Calibri"/>
                <a:ea typeface="Calibri"/>
                <a:cs typeface="Calibri"/>
                <a:sym typeface="Calibri"/>
              </a:rPr>
              <a:t>Pulse Descriptor Word (PDW)</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502920" y="2075688"/>
            <a:ext cx="1115568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A discrete record of a single pulse's measured parameters.</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502920" y="28803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2"/>
          <p:cNvSpPr txBox="1"/>
          <p:nvPr/>
        </p:nvSpPr>
        <p:spPr>
          <a:xfrm>
            <a:off x="758952" y="2788920"/>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Time of arrival (TOA)</a:t>
            </a:r>
            <a:endParaRPr b="0" i="0" sz="1400" u="none" cap="none" strike="noStrike">
              <a:solidFill>
                <a:srgbClr val="000000"/>
              </a:solidFill>
              <a:latin typeface="Arial"/>
              <a:ea typeface="Arial"/>
              <a:cs typeface="Arial"/>
              <a:sym typeface="Arial"/>
            </a:endParaRPr>
          </a:p>
        </p:txBody>
      </p:sp>
      <p:sp>
        <p:nvSpPr>
          <p:cNvPr id="105" name="Google Shape;105;p2"/>
          <p:cNvSpPr/>
          <p:nvPr/>
        </p:nvSpPr>
        <p:spPr>
          <a:xfrm>
            <a:off x="502920" y="3319272"/>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2"/>
          <p:cNvSpPr txBox="1"/>
          <p:nvPr/>
        </p:nvSpPr>
        <p:spPr>
          <a:xfrm>
            <a:off x="758952" y="3227832"/>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Carrier frequency (Frequency)</a:t>
            </a:r>
            <a:endParaRPr b="0" i="0" sz="1400" u="none" cap="none" strike="noStrike">
              <a:solidFill>
                <a:srgbClr val="000000"/>
              </a:solidFill>
              <a:latin typeface="Arial"/>
              <a:ea typeface="Arial"/>
              <a:cs typeface="Arial"/>
              <a:sym typeface="Arial"/>
            </a:endParaRPr>
          </a:p>
        </p:txBody>
      </p:sp>
      <p:sp>
        <p:nvSpPr>
          <p:cNvPr id="107" name="Google Shape;107;p2"/>
          <p:cNvSpPr/>
          <p:nvPr/>
        </p:nvSpPr>
        <p:spPr>
          <a:xfrm>
            <a:off x="502920" y="3758184"/>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2"/>
          <p:cNvSpPr txBox="1"/>
          <p:nvPr/>
        </p:nvSpPr>
        <p:spPr>
          <a:xfrm>
            <a:off x="758952" y="3666744"/>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Pulse width (PW)</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6309360" y="288036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2"/>
          <p:cNvSpPr txBox="1"/>
          <p:nvPr/>
        </p:nvSpPr>
        <p:spPr>
          <a:xfrm>
            <a:off x="6565392" y="2788920"/>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Amplitude (A)</a:t>
            </a:r>
            <a:endParaRPr b="0" i="0" sz="1400" u="none" cap="none" strike="noStrike">
              <a:solidFill>
                <a:srgbClr val="000000"/>
              </a:solidFill>
              <a:latin typeface="Arial"/>
              <a:ea typeface="Arial"/>
              <a:cs typeface="Arial"/>
              <a:sym typeface="Arial"/>
            </a:endParaRPr>
          </a:p>
        </p:txBody>
      </p:sp>
      <p:sp>
        <p:nvSpPr>
          <p:cNvPr id="111" name="Google Shape;111;p2"/>
          <p:cNvSpPr/>
          <p:nvPr/>
        </p:nvSpPr>
        <p:spPr>
          <a:xfrm>
            <a:off x="6309360" y="3319272"/>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txBox="1"/>
          <p:nvPr/>
        </p:nvSpPr>
        <p:spPr>
          <a:xfrm>
            <a:off x="6565392" y="3227832"/>
            <a:ext cx="5047488" cy="512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42034"/>
                </a:solidFill>
                <a:latin typeface="Calibri"/>
                <a:ea typeface="Calibri"/>
                <a:cs typeface="Calibri"/>
                <a:sym typeface="Calibri"/>
              </a:rPr>
              <a:t>Angle of arrival (AOA)</a:t>
            </a:r>
            <a:endParaRPr b="0" i="0" sz="1400" u="none" cap="none" strike="noStrike">
              <a:solidFill>
                <a:srgbClr val="000000"/>
              </a:solidFill>
              <a:latin typeface="Arial"/>
              <a:ea typeface="Arial"/>
              <a:cs typeface="Arial"/>
              <a:sym typeface="Arial"/>
            </a:endParaRPr>
          </a:p>
        </p:txBody>
      </p:sp>
      <p:sp>
        <p:nvSpPr>
          <p:cNvPr id="113" name="Google Shape;113;p2"/>
          <p:cNvSpPr txBox="1"/>
          <p:nvPr/>
        </p:nvSpPr>
        <p:spPr>
          <a:xfrm>
            <a:off x="6565392" y="3703320"/>
            <a:ext cx="50292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A687A"/>
                </a:solidFill>
                <a:latin typeface="Calibri"/>
                <a:ea typeface="Calibri"/>
                <a:cs typeface="Calibri"/>
                <a:sym typeface="Calibri"/>
              </a:rPr>
              <a:t>Converted to a Euclidean direction: three components, not the raw angles.</a:t>
            </a:r>
            <a:endParaRPr b="0" i="0" sz="1400" u="none" cap="none" strike="noStrike">
              <a:solidFill>
                <a:srgbClr val="000000"/>
              </a:solidFill>
              <a:latin typeface="Arial"/>
              <a:ea typeface="Arial"/>
              <a:cs typeface="Arial"/>
              <a:sym typeface="Arial"/>
            </a:endParaRPr>
          </a:p>
        </p:txBody>
      </p:sp>
      <p:sp>
        <p:nvSpPr>
          <p:cNvPr id="114" name="Google Shape;114;p2"/>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2"/>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2 / 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3"/>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 name="Google Shape;134;p3"/>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3"/>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36" name="Google Shape;136;p3"/>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3 / 19</a:t>
            </a:r>
            <a:endParaRPr b="0" i="0" sz="1400" u="none" cap="none" strike="noStrike">
              <a:solidFill>
                <a:srgbClr val="000000"/>
              </a:solidFill>
              <a:latin typeface="Arial"/>
              <a:ea typeface="Arial"/>
              <a:cs typeface="Arial"/>
              <a:sym typeface="Arial"/>
            </a:endParaRPr>
          </a:p>
        </p:txBody>
      </p:sp>
      <p:sp>
        <p:nvSpPr>
          <p:cNvPr id="137" name="TextBox 136"/>
          <p:cNvSpPr txBox="1"/>
          <p:nvPr/>
        </p:nvSpPr>
        <p:spPr>
          <a:xfrm>
            <a:off x="502920" y="201168"/>
            <a:ext cx="11155680" cy="384048"/>
          </a:xfrm>
          <a:prstGeom prst="rect">
            <a:avLst/>
          </a:prstGeom>
          <a:noFill/>
        </p:spPr>
        <p:txBody>
          <a:bodyPr wrap="square"/>
          <a:lstStyle/>
          <a:p>
            <a:r>
              <a:rPr sz="2400" b="1">
                <a:solidFill>
                  <a:srgbClr val="142034"/>
                </a:solidFill>
                <a:latin typeface="Calibri"/>
              </a:rPr>
              <a:t>Problem</a:t>
            </a:r>
          </a:p>
        </p:txBody>
      </p:sp>
      <p:sp>
        <p:nvSpPr>
          <p:cNvPr id="138" name="TextBox 137"/>
          <p:cNvSpPr txBox="1"/>
          <p:nvPr/>
        </p:nvSpPr>
        <p:spPr>
          <a:xfrm>
            <a:off x="502920" y="658368"/>
            <a:ext cx="11155680" cy="329184"/>
          </a:xfrm>
          <a:prstGeom prst="rect">
            <a:avLst/>
          </a:prstGeom>
          <a:noFill/>
        </p:spPr>
        <p:txBody>
          <a:bodyPr wrap="square"/>
          <a:lstStyle/>
          <a:p>
            <a:r>
              <a:rPr sz="1600" b="0">
                <a:solidFill>
                  <a:srgbClr val="5A687A"/>
                </a:solidFill>
                <a:latin typeface="Calibri"/>
              </a:rPr>
              <a:t>In a typical ESM chain, mode recognition runs only after deinterleaving.</a:t>
            </a:r>
          </a:p>
        </p:txBody>
      </p:sp>
      <p:sp>
        <p:nvSpPr>
          <p:cNvPr id="139" name="Rectangle 138"/>
          <p:cNvSpPr/>
          <p:nvPr/>
        </p:nvSpPr>
        <p:spPr>
          <a:xfrm>
            <a:off x="502920" y="1078992"/>
            <a:ext cx="11155680" cy="9601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85800" y="1207008"/>
            <a:ext cx="10789920" cy="713232"/>
          </a:xfrm>
          <a:prstGeom prst="rect">
            <a:avLst/>
          </a:prstGeom>
          <a:noFill/>
        </p:spPr>
        <p:txBody>
          <a:bodyPr wrap="square"/>
          <a:lstStyle/>
          <a:p>
            <a:r>
              <a:rPr sz="1500" b="1">
                <a:solidFill>
                  <a:srgbClr val="142034"/>
                </a:solidFill>
                <a:latin typeface="Calibri"/>
              </a:rPr>
              <a:t>RF environment  →  detection  →  PDW generation  →  preprocessing  →  deinterleaving  →  emitter identification  →  mode classification  →  tracking</a:t>
            </a:r>
          </a:p>
        </p:txBody>
      </p:sp>
      <p:sp>
        <p:nvSpPr>
          <p:cNvPr id="141" name="TextBox 140"/>
          <p:cNvSpPr txBox="1"/>
          <p:nvPr/>
        </p:nvSpPr>
        <p:spPr>
          <a:xfrm>
            <a:off x="502920" y="2240280"/>
            <a:ext cx="11155680" cy="2331720"/>
          </a:xfrm>
          <a:prstGeom prst="rect">
            <a:avLst/>
          </a:prstGeom>
          <a:noFill/>
        </p:spPr>
        <p:txBody>
          <a:bodyPr wrap="square"/>
          <a:lstStyle/>
          <a:p>
            <a:pPr>
              <a:lnSpc>
                <a:spcPct val="105000"/>
              </a:lnSpc>
              <a:spcAft>
                <a:spcPts val="1200"/>
              </a:spcAft>
            </a:pPr>
            <a:r>
              <a:rPr sz="1600" b="0">
                <a:solidFill>
                  <a:srgbClr val="142034"/>
                </a:solidFill>
                <a:latin typeface="Calibri"/>
              </a:rPr>
              <a:t>•  The mode stage then sees only the predicted pulse train. A wrong assignment is passed on as a hard decision, and pulses from the other emitters are no longer in view.</a:t>
            </a:r>
          </a:p>
          <a:p>
            <a:pPr>
              <a:lnSpc>
                <a:spcPct val="105000"/>
              </a:lnSpc>
              <a:spcAft>
                <a:spcPts val="1200"/>
              </a:spcAft>
            </a:pPr>
            <a:r>
              <a:rPr sz="1600" b="0">
                <a:solidFill>
                  <a:srgbClr val="142034"/>
                </a:solidFill>
                <a:latin typeface="Calibri"/>
              </a:rPr>
              <a:t>•  Emitter identities are local to the recording, so deinterleaving is already clustering. Clustering modes, rather than classifying them from a fixed catalogue, is what would stay open to modulations that were not in training. That split was not run.</a:t>
            </a:r>
          </a:p>
        </p:txBody>
      </p:sp>
      <p:sp>
        <p:nvSpPr>
          <p:cNvPr id="142" name="TextBox 141"/>
          <p:cNvSpPr txBox="1"/>
          <p:nvPr/>
        </p:nvSpPr>
        <p:spPr>
          <a:xfrm>
            <a:off x="502920" y="4709160"/>
            <a:ext cx="11155680" cy="292608"/>
          </a:xfrm>
          <a:prstGeom prst="rect">
            <a:avLst/>
          </a:prstGeom>
          <a:noFill/>
        </p:spPr>
        <p:txBody>
          <a:bodyPr wrap="square"/>
          <a:lstStyle/>
          <a:p>
            <a:r>
              <a:rPr sz="1600" b="1">
                <a:solidFill>
                  <a:srgbClr val="0A7A96"/>
                </a:solidFill>
                <a:latin typeface="Calibri"/>
              </a:rPr>
              <a:t>Hypothesis</a:t>
            </a:r>
          </a:p>
        </p:txBody>
      </p:sp>
      <p:sp>
        <p:nvSpPr>
          <p:cNvPr id="143" name="TextBox 142"/>
          <p:cNvSpPr txBox="1"/>
          <p:nvPr/>
        </p:nvSpPr>
        <p:spPr>
          <a:xfrm>
            <a:off x="502920" y="5047488"/>
            <a:ext cx="11155680" cy="1188720"/>
          </a:xfrm>
          <a:prstGeom prst="rect">
            <a:avLst/>
          </a:prstGeom>
          <a:noFill/>
        </p:spPr>
        <p:txBody>
          <a:bodyPr wrap="square"/>
          <a:lstStyle/>
          <a:p>
            <a:pPr>
              <a:lnSpc>
                <a:spcPct val="105000"/>
              </a:lnSpc>
              <a:spcAft>
                <a:spcPts val="600"/>
              </a:spcAft>
            </a:pPr>
            <a:r>
              <a:rPr sz="1600" b="0">
                <a:solidFill>
                  <a:srgbClr val="142034"/>
                </a:solidFill>
                <a:latin typeface="Calibri"/>
              </a:rPr>
              <a:t>•  One encoder can recover both partitions from the mixed window, instead of deinterleaving first and recognizing modes on the predicted trains.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4"/>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4"/>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4"/>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64" name="Google Shape;164;p4"/>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4 / 19</a:t>
            </a:r>
            <a:endParaRPr b="0" i="0" sz="1400" u="none" cap="none" strike="noStrike">
              <a:solidFill>
                <a:srgbClr val="000000"/>
              </a:solidFill>
              <a:latin typeface="Arial"/>
              <a:ea typeface="Arial"/>
              <a:cs typeface="Arial"/>
              <a:sym typeface="Arial"/>
            </a:endParaRPr>
          </a:p>
        </p:txBody>
      </p:sp>
      <p:sp>
        <p:nvSpPr>
          <p:cNvPr id="165" name="TextBox 164"/>
          <p:cNvSpPr txBox="1"/>
          <p:nvPr/>
        </p:nvSpPr>
        <p:spPr>
          <a:xfrm>
            <a:off x="502920" y="201168"/>
            <a:ext cx="11155680" cy="384048"/>
          </a:xfrm>
          <a:prstGeom prst="rect">
            <a:avLst/>
          </a:prstGeom>
          <a:noFill/>
        </p:spPr>
        <p:txBody>
          <a:bodyPr wrap="square"/>
          <a:lstStyle/>
          <a:p>
            <a:r>
              <a:rPr sz="2400" b="1">
                <a:solidFill>
                  <a:srgbClr val="142034"/>
                </a:solidFill>
                <a:latin typeface="Calibri"/>
              </a:rPr>
              <a:t>One mixed stream, two partitions</a:t>
            </a:r>
          </a:p>
        </p:txBody>
      </p:sp>
      <p:sp>
        <p:nvSpPr>
          <p:cNvPr id="166" name="TextBox 165"/>
          <p:cNvSpPr txBox="1"/>
          <p:nvPr/>
        </p:nvSpPr>
        <p:spPr>
          <a:xfrm>
            <a:off x="502920" y="658368"/>
            <a:ext cx="11155680" cy="502920"/>
          </a:xfrm>
          <a:prstGeom prst="rect">
            <a:avLst/>
          </a:prstGeom>
          <a:noFill/>
        </p:spPr>
        <p:txBody>
          <a:bodyPr wrap="square"/>
          <a:lstStyle/>
          <a:p>
            <a:r>
              <a:rPr sz="1600" b="0">
                <a:solidFill>
                  <a:srgbClr val="5A687A"/>
                </a:solidFill>
                <a:latin typeface="Calibri"/>
              </a:rPr>
              <a:t>Every pulse carries two labels. They are not the same grouping, and a classical chain recovers them in sequence.</a:t>
            </a:r>
          </a:p>
        </p:txBody>
      </p:sp>
      <p:sp>
        <p:nvSpPr>
          <p:cNvPr id="167" name="TextBox 166"/>
          <p:cNvSpPr txBox="1"/>
          <p:nvPr/>
        </p:nvSpPr>
        <p:spPr>
          <a:xfrm>
            <a:off x="502920" y="1371600"/>
            <a:ext cx="5486400" cy="329184"/>
          </a:xfrm>
          <a:prstGeom prst="rect">
            <a:avLst/>
          </a:prstGeom>
          <a:noFill/>
        </p:spPr>
        <p:txBody>
          <a:bodyPr wrap="square"/>
          <a:lstStyle/>
          <a:p>
            <a:r>
              <a:rPr sz="1800" b="1">
                <a:solidFill>
                  <a:srgbClr val="C45A20"/>
                </a:solidFill>
                <a:latin typeface="Calibri"/>
              </a:rPr>
              <a:t>Emitter  ·  deinterleaving</a:t>
            </a:r>
          </a:p>
        </p:txBody>
      </p:sp>
      <p:sp>
        <p:nvSpPr>
          <p:cNvPr id="168" name="TextBox 167"/>
          <p:cNvSpPr txBox="1"/>
          <p:nvPr/>
        </p:nvSpPr>
        <p:spPr>
          <a:xfrm>
            <a:off x="502920" y="1828800"/>
            <a:ext cx="5486400" cy="4023360"/>
          </a:xfrm>
          <a:prstGeom prst="rect">
            <a:avLst/>
          </a:prstGeom>
          <a:noFill/>
        </p:spPr>
        <p:txBody>
          <a:bodyPr wrap="square"/>
          <a:lstStyle/>
          <a:p>
            <a:pPr>
              <a:lnSpc>
                <a:spcPct val="105000"/>
              </a:lnSpc>
              <a:spcAft>
                <a:spcPts val="1200"/>
              </a:spcAft>
            </a:pPr>
            <a:r>
              <a:rPr sz="1600" b="0">
                <a:solidFill>
                  <a:srgbClr val="142034"/>
                </a:solidFill>
                <a:latin typeface="Calibri"/>
              </a:rPr>
              <a:t>•  The physical source. Its identifier is unique only inside the recording, so it cannot be a global class.</a:t>
            </a:r>
          </a:p>
          <a:p>
            <a:pPr>
              <a:lnSpc>
                <a:spcPct val="105000"/>
              </a:lnSpc>
              <a:spcAft>
                <a:spcPts val="1200"/>
              </a:spcAft>
            </a:pPr>
            <a:r>
              <a:rPr sz="1600" b="0">
                <a:solidFill>
                  <a:srgbClr val="142034"/>
                </a:solidFill>
                <a:latin typeface="Calibri"/>
              </a:rPr>
              <a:t>•  Several emitters are interleaved in one stream. Separating them is deinterleaving.</a:t>
            </a:r>
          </a:p>
          <a:p>
            <a:pPr>
              <a:lnSpc>
                <a:spcPct val="105000"/>
              </a:lnSpc>
              <a:spcAft>
                <a:spcPts val="1200"/>
              </a:spcAft>
            </a:pPr>
            <a:r>
              <a:rPr sz="1600" b="0">
                <a:solidFill>
                  <a:srgbClr val="142034"/>
                </a:solidFill>
                <a:latin typeface="Calibri"/>
              </a:rPr>
              <a:t>•  At inference the output is a cluster of embeddings, one partition per window.</a:t>
            </a:r>
          </a:p>
        </p:txBody>
      </p:sp>
      <p:sp>
        <p:nvSpPr>
          <p:cNvPr id="169" name="TextBox 168"/>
          <p:cNvSpPr txBox="1"/>
          <p:nvPr/>
        </p:nvSpPr>
        <p:spPr>
          <a:xfrm>
            <a:off x="6263640" y="1371600"/>
            <a:ext cx="5486400" cy="329184"/>
          </a:xfrm>
          <a:prstGeom prst="rect">
            <a:avLst/>
          </a:prstGeom>
          <a:noFill/>
        </p:spPr>
        <p:txBody>
          <a:bodyPr wrap="square"/>
          <a:lstStyle/>
          <a:p>
            <a:r>
              <a:rPr sz="1800" b="1">
                <a:solidFill>
                  <a:srgbClr val="0A7A96"/>
                </a:solidFill>
                <a:latin typeface="Calibri"/>
              </a:rPr>
              <a:t>Mode  ·  operating schedule</a:t>
            </a:r>
          </a:p>
        </p:txBody>
      </p:sp>
      <p:sp>
        <p:nvSpPr>
          <p:cNvPr id="170" name="TextBox 169"/>
          <p:cNvSpPr txBox="1"/>
          <p:nvPr/>
        </p:nvSpPr>
        <p:spPr>
          <a:xfrm>
            <a:off x="6263640" y="1828800"/>
            <a:ext cx="5486400" cy="4023360"/>
          </a:xfrm>
          <a:prstGeom prst="rect">
            <a:avLst/>
          </a:prstGeom>
          <a:noFill/>
        </p:spPr>
        <p:txBody>
          <a:bodyPr wrap="square"/>
          <a:lstStyle/>
          <a:p>
            <a:pPr>
              <a:lnSpc>
                <a:spcPct val="105000"/>
              </a:lnSpc>
              <a:spcAft>
                <a:spcPts val="1200"/>
              </a:spcAft>
            </a:pPr>
            <a:r>
              <a:rPr sz="1600" b="0">
                <a:solidFill>
                  <a:srgbClr val="142034"/>
                </a:solidFill>
                <a:latin typeface="Calibri"/>
              </a:rPr>
              <a:t>•  The operating mode, drawn from a catalogue of 19 types shared across recordings.</a:t>
            </a:r>
          </a:p>
          <a:p>
            <a:pPr>
              <a:lnSpc>
                <a:spcPct val="105000"/>
              </a:lnSpc>
              <a:spcAft>
                <a:spcPts val="1200"/>
              </a:spcAft>
            </a:pPr>
            <a:r>
              <a:rPr sz="1600" b="0">
                <a:solidFill>
                  <a:srgbClr val="142034"/>
                </a:solidFill>
                <a:latin typeface="Calibri"/>
              </a:rPr>
              <a:t>•  The same mode can sit on several emitters, and one emitter can switch mode inside the window.</a:t>
            </a:r>
          </a:p>
          <a:p>
            <a:pPr>
              <a:lnSpc>
                <a:spcPct val="105000"/>
              </a:lnSpc>
              <a:spcAft>
                <a:spcPts val="1200"/>
              </a:spcAft>
            </a:pPr>
            <a:r>
              <a:rPr sz="1600" b="0">
                <a:solidFill>
                  <a:srgbClr val="142034"/>
                </a:solidFill>
                <a:latin typeface="Calibri"/>
              </a:rPr>
              <a:t>•  At inference this is also a cluster. The catalogue supervises training. There is no softmax at test time.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5"/>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p5"/>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5"/>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9" name="Google Shape;179;p5"/>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80" name="Google Shape;180;p5"/>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5 / 19</a:t>
            </a:r>
            <a:endParaRPr b="0" i="0" sz="1400" u="none" cap="none" strike="noStrike">
              <a:solidFill>
                <a:srgbClr val="000000"/>
              </a:solidFill>
              <a:latin typeface="Arial"/>
              <a:ea typeface="Arial"/>
              <a:cs typeface="Arial"/>
              <a:sym typeface="Arial"/>
            </a:endParaRPr>
          </a:p>
        </p:txBody>
      </p:sp>
      <p:sp>
        <p:nvSpPr>
          <p:cNvPr id="181" name="TextBox 180"/>
          <p:cNvSpPr txBox="1"/>
          <p:nvPr/>
        </p:nvSpPr>
        <p:spPr>
          <a:xfrm>
            <a:off x="502920" y="201168"/>
            <a:ext cx="11155680" cy="384048"/>
          </a:xfrm>
          <a:prstGeom prst="rect">
            <a:avLst/>
          </a:prstGeom>
          <a:noFill/>
        </p:spPr>
        <p:txBody>
          <a:bodyPr wrap="square"/>
          <a:lstStyle/>
          <a:p>
            <a:r>
              <a:rPr sz="2400" b="1">
                <a:solidFill>
                  <a:srgbClr val="142034"/>
                </a:solidFill>
                <a:latin typeface="Calibri"/>
              </a:rPr>
              <a:t>Data</a:t>
            </a:r>
          </a:p>
        </p:txBody>
      </p:sp>
      <p:sp>
        <p:nvSpPr>
          <p:cNvPr id="182" name="TextBox 181"/>
          <p:cNvSpPr txBox="1"/>
          <p:nvPr/>
        </p:nvSpPr>
        <p:spPr>
          <a:xfrm>
            <a:off x="502920" y="685800"/>
            <a:ext cx="11155680" cy="1691640"/>
          </a:xfrm>
          <a:prstGeom prst="rect">
            <a:avLst/>
          </a:prstGeom>
          <a:noFill/>
        </p:spPr>
        <p:txBody>
          <a:bodyPr wrap="square"/>
          <a:lstStyle/>
          <a:p>
            <a:pPr>
              <a:lnSpc>
                <a:spcPct val="105000"/>
              </a:lnSpc>
              <a:spcAft>
                <a:spcPts val="600"/>
              </a:spcAft>
            </a:pPr>
            <a:r>
              <a:rPr sz="1600" b="0">
                <a:solidFill>
                  <a:srgbClr val="142034"/>
                </a:solidFill>
                <a:latin typeface="Calibri"/>
              </a:rPr>
              <a:t>•  Synthetic recordings from the scenario simulator. Each pulse has a recording-local emitter identity and a mode from a catalogue of 19 types.</a:t>
            </a:r>
          </a:p>
          <a:p>
            <a:pPr>
              <a:lnSpc>
                <a:spcPct val="105000"/>
              </a:lnSpc>
              <a:spcAft>
                <a:spcPts val="600"/>
              </a:spcAft>
            </a:pPr>
            <a:r>
              <a:rPr sz="1600" b="0">
                <a:solidFill>
                  <a:srgbClr val="142034"/>
                </a:solidFill>
                <a:latin typeface="Calibri"/>
              </a:rPr>
              <a:t>•  1,950 scenarios: 1,461 train, 245 validation, 244 test. No window contains more than 7 emitters. The test split is the one that contains all 19 modes.</a:t>
            </a:r>
          </a:p>
          <a:p>
            <a:pPr>
              <a:lnSpc>
                <a:spcPct val="105000"/>
              </a:lnSpc>
              <a:spcAft>
                <a:spcPts val="600"/>
              </a:spcAft>
            </a:pPr>
            <a:r>
              <a:rPr sz="1600" b="0">
                <a:solidFill>
                  <a:srgbClr val="142034"/>
                </a:solidFill>
                <a:latin typeface="Calibri"/>
              </a:rPr>
              <a:t>•  The encoder sees windows of 2,000 pulses. Training windows overlap (stride 200). The 1,169 test windows do not.</a:t>
            </a:r>
          </a:p>
        </p:txBody>
      </p:sp>
      <p:graphicFrame>
        <p:nvGraphicFramePr>
          <p:cNvPr id="183" name="Table 182"/>
          <p:cNvGraphicFramePr>
            <a:graphicFrameLocks noGrp="1"/>
          </p:cNvGraphicFramePr>
          <p:nvPr/>
        </p:nvGraphicFramePr>
        <p:xfrm>
          <a:off x="502920" y="2606040"/>
          <a:ext cx="11155680" cy="1874516"/>
        </p:xfrm>
        <a:graphic>
          <a:graphicData uri="http://schemas.openxmlformats.org/drawingml/2006/table">
            <a:tbl>
              <a:tblPr firstRow="0" bandRow="0"/>
              <a:tblGrid>
                <a:gridCol w="1554480"/>
                <a:gridCol w="1554480"/>
                <a:gridCol w="1920240"/>
                <a:gridCol w="1645920"/>
                <a:gridCol w="2286000"/>
                <a:gridCol w="2194560"/>
              </a:tblGrid>
              <a:tr h="468629">
                <a:tc>
                  <a:txBody>
                    <a:bodyPr wrap="square"/>
                    <a:lstStyle/>
                    <a:p>
                      <a:pPr algn="l"/>
                      <a:r>
                        <a:rPr sz="1300" b="1">
                          <a:solidFill>
                            <a:srgbClr val="FFFFFF"/>
                          </a:solidFill>
                          <a:latin typeface="Calibri"/>
                        </a:rPr>
                        <a:t>Split</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300" b="1">
                          <a:solidFill>
                            <a:srgbClr val="FFFFFF"/>
                          </a:solidFill>
                          <a:latin typeface="Calibri"/>
                        </a:rPr>
                        <a:t>Scenarios</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300" b="1">
                          <a:solidFill>
                            <a:srgbClr val="FFFFFF"/>
                          </a:solidFill>
                          <a:latin typeface="Calibri"/>
                        </a:rPr>
                        <a:t>Pulses</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300" b="1">
                          <a:solidFill>
                            <a:srgbClr val="FFFFFF"/>
                          </a:solidFill>
                          <a:latin typeface="Calibri"/>
                        </a:rPr>
                        <a:t>Windows</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300" b="1">
                          <a:solidFill>
                            <a:srgbClr val="FFFFFF"/>
                          </a:solidFill>
                          <a:latin typeface="Calibri"/>
                        </a:rPr>
                        <a:t>Emitters</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300" b="1">
                          <a:solidFill>
                            <a:srgbClr val="FFFFFF"/>
                          </a:solidFill>
                          <a:latin typeface="Calibri"/>
                        </a:rPr>
                        <a:t>Modes</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68629">
                <a:tc>
                  <a:txBody>
                    <a:bodyPr wrap="square"/>
                    <a:lstStyle/>
                    <a:p>
                      <a:pPr algn="l"/>
                      <a:r>
                        <a:rPr sz="1400" b="1">
                          <a:solidFill>
                            <a:srgbClr val="142034"/>
                          </a:solidFill>
                          <a:latin typeface="Calibri"/>
                        </a:rPr>
                        <a:t>Train</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1,461</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13.8 million</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56,029</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3.15 ± 1.14</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6.16 ± 2.95</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68629">
                <a:tc>
                  <a:txBody>
                    <a:bodyPr wrap="square"/>
                    <a:lstStyle/>
                    <a:p>
                      <a:pPr algn="l"/>
                      <a:r>
                        <a:rPr sz="1400" b="1">
                          <a:solidFill>
                            <a:srgbClr val="142034"/>
                          </a:solidFill>
                          <a:latin typeface="Calibri"/>
                        </a:rPr>
                        <a:t>Validation</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245</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2.25 million</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1,107</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3.16 ± 1.21</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6.18 ± 2.95</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68629">
                <a:tc>
                  <a:txBody>
                    <a:bodyPr wrap="square"/>
                    <a:lstStyle/>
                    <a:p>
                      <a:pPr algn="l"/>
                      <a:r>
                        <a:rPr sz="1400" b="1">
                          <a:solidFill>
                            <a:srgbClr val="142034"/>
                          </a:solidFill>
                          <a:latin typeface="Calibri"/>
                        </a:rPr>
                        <a:t>Test</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244</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2.36 million</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1,169</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3.17 ± 1.20</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400" b="0">
                          <a:solidFill>
                            <a:srgbClr val="142034"/>
                          </a:solidFill>
                          <a:latin typeface="Calibri"/>
                        </a:rPr>
                        <a:t>6.18 ± 3.02</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bl>
          </a:graphicData>
        </a:graphic>
      </p:graphicFrame>
      <p:sp>
        <p:nvSpPr>
          <p:cNvPr id="184" name="TextBox 183"/>
          <p:cNvSpPr txBox="1"/>
          <p:nvPr/>
        </p:nvSpPr>
        <p:spPr>
          <a:xfrm>
            <a:off x="502920" y="4663440"/>
            <a:ext cx="11155680" cy="1463040"/>
          </a:xfrm>
          <a:prstGeom prst="rect">
            <a:avLst/>
          </a:prstGeom>
          <a:noFill/>
        </p:spPr>
        <p:txBody>
          <a:bodyPr wrap="square"/>
          <a:lstStyle/>
          <a:p>
            <a:r>
              <a:rPr sz="1500" b="0">
                <a:solidFill>
                  <a:srgbClr val="5A687A"/>
                </a:solidFill>
                <a:latin typeface="Calibri"/>
              </a:rPr>
              <a:t>Each pulse is counted once. Training windows overlap, so the large window count is reuse, not more data. Emitter and mode columns are the mean ± standard deviation of distinct labels in a window.</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6"/>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6"/>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6"/>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198" name="Google Shape;198;p6"/>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6 / 19</a:t>
            </a:r>
            <a:endParaRPr b="0" i="0" sz="1400" u="none" cap="none" strike="noStrike">
              <a:solidFill>
                <a:srgbClr val="000000"/>
              </a:solidFill>
              <a:latin typeface="Arial"/>
              <a:ea typeface="Arial"/>
              <a:cs typeface="Arial"/>
              <a:sym typeface="Arial"/>
            </a:endParaRPr>
          </a:p>
        </p:txBody>
      </p:sp>
      <p:sp>
        <p:nvSpPr>
          <p:cNvPr id="199" name="TextBox 198"/>
          <p:cNvSpPr txBox="1"/>
          <p:nvPr/>
        </p:nvSpPr>
        <p:spPr>
          <a:xfrm>
            <a:off x="502920" y="201168"/>
            <a:ext cx="11155680" cy="365760"/>
          </a:xfrm>
          <a:prstGeom prst="rect">
            <a:avLst/>
          </a:prstGeom>
          <a:noFill/>
        </p:spPr>
        <p:txBody>
          <a:bodyPr wrap="square"/>
          <a:lstStyle/>
          <a:p>
            <a:r>
              <a:rPr sz="2400" b="1">
                <a:solidFill>
                  <a:srgbClr val="142034"/>
                </a:solidFill>
                <a:latin typeface="Calibri"/>
              </a:rPr>
              <a:t>Hard windows</a:t>
            </a:r>
          </a:p>
        </p:txBody>
      </p:sp>
      <p:sp>
        <p:nvSpPr>
          <p:cNvPr id="200" name="TextBox 199"/>
          <p:cNvSpPr txBox="1"/>
          <p:nvPr/>
        </p:nvSpPr>
        <p:spPr>
          <a:xfrm>
            <a:off x="411480" y="640080"/>
            <a:ext cx="4846320" cy="292608"/>
          </a:xfrm>
          <a:prstGeom prst="rect">
            <a:avLst/>
          </a:prstGeom>
          <a:noFill/>
        </p:spPr>
        <p:txBody>
          <a:bodyPr wrap="square"/>
          <a:lstStyle/>
          <a:p>
            <a:r>
              <a:rPr sz="1600" b="1">
                <a:solidFill>
                  <a:srgbClr val="0A7A96"/>
                </a:solidFill>
                <a:latin typeface="Calibri"/>
              </a:rPr>
              <a:t>A crowded test window</a:t>
            </a:r>
          </a:p>
        </p:txBody>
      </p:sp>
      <p:pic>
        <p:nvPicPr>
          <p:cNvPr id="201" name="Picture 200" descr="image.png"/>
          <p:cNvPicPr>
            <a:picLocks noChangeAspect="1"/>
          </p:cNvPicPr>
          <p:nvPr/>
        </p:nvPicPr>
        <p:blipFill>
          <a:blip r:embed="rId3"/>
          <a:stretch>
            <a:fillRect/>
          </a:stretch>
        </p:blipFill>
        <p:spPr>
          <a:xfrm>
            <a:off x="411480" y="987552"/>
            <a:ext cx="4527759" cy="5074920"/>
          </a:xfrm>
          <a:prstGeom prst="rect">
            <a:avLst/>
          </a:prstGeom>
        </p:spPr>
      </p:pic>
      <p:sp>
        <p:nvSpPr>
          <p:cNvPr id="202" name="TextBox 201"/>
          <p:cNvSpPr txBox="1"/>
          <p:nvPr/>
        </p:nvSpPr>
        <p:spPr>
          <a:xfrm>
            <a:off x="5623560" y="713232"/>
            <a:ext cx="6126480" cy="5394960"/>
          </a:xfrm>
          <a:prstGeom prst="rect">
            <a:avLst/>
          </a:prstGeom>
          <a:noFill/>
        </p:spPr>
        <p:txBody>
          <a:bodyPr wrap="square"/>
          <a:lstStyle/>
          <a:p>
            <a:pPr>
              <a:lnSpc>
                <a:spcPct val="105000"/>
              </a:lnSpc>
              <a:spcAft>
                <a:spcPts val="1000"/>
              </a:spcAft>
            </a:pPr>
            <a:r>
              <a:rPr sz="1500" b="0">
                <a:solidFill>
                  <a:srgbClr val="5A687A"/>
                </a:solidFill>
                <a:latin typeface="Calibri"/>
              </a:rPr>
              <a:t>These are the measured features, not the learned embeddings. Color is a ground-truth label.</a:t>
            </a:r>
          </a:p>
          <a:p>
            <a:pPr>
              <a:lnSpc>
                <a:spcPct val="105000"/>
              </a:lnSpc>
              <a:spcAft>
                <a:spcPts val="1000"/>
              </a:spcAft>
            </a:pPr>
            <a:r>
              <a:rPr sz="1500" b="0">
                <a:solidFill>
                  <a:srgbClr val="142034"/>
                </a:solidFill>
                <a:latin typeface="Calibri"/>
              </a:rPr>
              <a:t>•  Crowded emitters. Frequency and pulse width are shared across platforms. This is where joint standard attention still drops some emitter windows.</a:t>
            </a:r>
          </a:p>
          <a:p>
            <a:pPr>
              <a:lnSpc>
                <a:spcPct val="105000"/>
              </a:lnSpc>
              <a:spcAft>
                <a:spcPts val="1000"/>
              </a:spcAft>
            </a:pPr>
            <a:r>
              <a:rPr sz="1500" b="0">
                <a:solidFill>
                  <a:srgbClr val="142034"/>
                </a:solidFill>
                <a:latin typeface="Calibri"/>
              </a:rPr>
              <a:t>•  Imbalance. One test window is a 3 / 1,997 pulse split. A recovered train of three pulses is a weak input to any later mode stage.</a:t>
            </a:r>
          </a:p>
          <a:p>
            <a:pPr>
              <a:lnSpc>
                <a:spcPct val="105000"/>
              </a:lnSpc>
              <a:spcAft>
                <a:spcPts val="1000"/>
              </a:spcAft>
            </a:pPr>
            <a:r>
              <a:rPr sz="1500" b="0">
                <a:solidFill>
                  <a:srgbClr val="142034"/>
                </a:solidFill>
                <a:latin typeface="Calibri"/>
              </a:rPr>
              <a:t>•  Scanning. One mode whose amplitude and incidence drift inside the window. That failure is not the emitter tail.</a:t>
            </a:r>
          </a:p>
          <a:p>
            <a:pPr>
              <a:lnSpc>
                <a:spcPct val="105000"/>
              </a:lnSpc>
              <a:spcAft>
                <a:spcPts val="1000"/>
              </a:spcAft>
            </a:pPr>
            <a:r>
              <a:rPr sz="1500" b="0">
                <a:solidFill>
                  <a:srgbClr val="142034"/>
                </a:solidFill>
                <a:latin typeface="Calibri"/>
              </a:rPr>
              <a:t>•  A crowded mode mixture is a separate window from the crowded emitter mixture.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7"/>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7"/>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7"/>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213" name="Google Shape;213;p7"/>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7 / 19</a:t>
            </a:r>
            <a:endParaRPr b="0" i="0" sz="1400" u="none" cap="none" strike="noStrike">
              <a:solidFill>
                <a:srgbClr val="000000"/>
              </a:solidFill>
              <a:latin typeface="Arial"/>
              <a:ea typeface="Arial"/>
              <a:cs typeface="Arial"/>
              <a:sym typeface="Arial"/>
            </a:endParaRPr>
          </a:p>
        </p:txBody>
      </p:sp>
      <p:sp>
        <p:nvSpPr>
          <p:cNvPr id="214" name="TextBox 213"/>
          <p:cNvSpPr txBox="1"/>
          <p:nvPr/>
        </p:nvSpPr>
        <p:spPr>
          <a:xfrm>
            <a:off x="502920" y="201168"/>
            <a:ext cx="11155680" cy="384048"/>
          </a:xfrm>
          <a:prstGeom prst="rect">
            <a:avLst/>
          </a:prstGeom>
          <a:noFill/>
        </p:spPr>
        <p:txBody>
          <a:bodyPr wrap="square"/>
          <a:lstStyle/>
          <a:p>
            <a:r>
              <a:rPr sz="2400" b="1">
                <a:solidFill>
                  <a:srgbClr val="142034"/>
                </a:solidFill>
                <a:latin typeface="Calibri"/>
              </a:rPr>
              <a:t>Encoder</a:t>
            </a:r>
          </a:p>
        </p:txBody>
      </p:sp>
      <p:sp>
        <p:nvSpPr>
          <p:cNvPr id="215" name="TextBox 214"/>
          <p:cNvSpPr txBox="1"/>
          <p:nvPr/>
        </p:nvSpPr>
        <p:spPr>
          <a:xfrm>
            <a:off x="502920" y="777240"/>
            <a:ext cx="11155680" cy="5394960"/>
          </a:xfrm>
          <a:prstGeom prst="rect">
            <a:avLst/>
          </a:prstGeom>
          <a:noFill/>
        </p:spPr>
        <p:txBody>
          <a:bodyPr wrap="square"/>
          <a:lstStyle/>
          <a:p>
            <a:pPr>
              <a:lnSpc>
                <a:spcPct val="105000"/>
              </a:lnSpc>
              <a:spcAft>
                <a:spcPts val="1400"/>
              </a:spcAft>
            </a:pPr>
            <a:r>
              <a:rPr sz="1800" b="0">
                <a:solidFill>
                  <a:srgbClr val="142034"/>
                </a:solidFill>
                <a:latin typeface="Calibri"/>
              </a:rPr>
              <a:t>•  Input: 2,000 pulses by 7 features. Standardized carrier frequency, pulse width, and log-amplitude; window-local time of arrival; three Euclidean components of angle of arrival.</a:t>
            </a:r>
          </a:p>
          <a:p>
            <a:pPr>
              <a:lnSpc>
                <a:spcPct val="105000"/>
              </a:lnSpc>
              <a:spcAft>
                <a:spcPts val="1400"/>
              </a:spcAft>
            </a:pPr>
            <a:r>
              <a:rPr sz="1800" b="0">
                <a:solidFill>
                  <a:srgbClr val="142034"/>
                </a:solidFill>
                <a:latin typeface="Calibri"/>
              </a:rPr>
              <a:t>•  A linear map lifts each pulse to width 256. A shared trunk of 4 layers, 8 heads, and feed-forward width 2,048 is followed by two branches of the same size.</a:t>
            </a:r>
          </a:p>
          <a:p>
            <a:pPr>
              <a:lnSpc>
                <a:spcPct val="105000"/>
              </a:lnSpc>
              <a:spcAft>
                <a:spcPts val="1400"/>
              </a:spcAft>
            </a:pPr>
            <a:r>
              <a:rPr sz="1800" b="0">
                <a:solidFill>
                  <a:srgbClr val="142034"/>
                </a:solidFill>
                <a:latin typeface="Calibri"/>
              </a:rPr>
              <a:t>•  Each branch projects from 256 to 64 dimensions and L2-normalizes. DBSCAN runs on those 64-dimensional embeddings. The width-256 states are not the clustering space.</a:t>
            </a:r>
          </a:p>
          <a:p>
            <a:pPr>
              <a:lnSpc>
                <a:spcPct val="105000"/>
              </a:lnSpc>
              <a:spcAft>
                <a:spcPts val="1400"/>
              </a:spcAft>
            </a:pPr>
            <a:r>
              <a:rPr sz="1800" b="0">
                <a:solidFill>
                  <a:srgbClr val="142034"/>
                </a:solidFill>
                <a:latin typeface="Calibri"/>
              </a:rPr>
              <a:t>•  16.1 million parameters, the same count for every attention variant.</a:t>
            </a:r>
          </a:p>
          <a:p>
            <a:pPr>
              <a:lnSpc>
                <a:spcPct val="105000"/>
              </a:lnSpc>
              <a:spcAft>
                <a:spcPts val="1400"/>
              </a:spcAft>
            </a:pPr>
            <a:r>
              <a:rPr sz="1800" b="0">
                <a:solidFill>
                  <a:srgbClr val="142034"/>
                </a:solidFill>
                <a:latin typeface="Calibri"/>
              </a:rPr>
              <a:t>•  Attention is quadratic in the window length, which is why a recording is cut into windows. Standard attention has no notion of order. The following slides put time into the attention product.</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8"/>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8"/>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Shared trunk, two heads, two positive sets</a:t>
            </a:r>
            <a:endParaRPr b="0" i="0" sz="1400" u="none" cap="none" strike="noStrike">
              <a:solidFill>
                <a:srgbClr val="000000"/>
              </a:solidFill>
              <a:latin typeface="Arial"/>
              <a:ea typeface="Arial"/>
              <a:cs typeface="Arial"/>
              <a:sym typeface="Arial"/>
            </a:endParaRPr>
          </a:p>
        </p:txBody>
      </p:sp>
      <p:sp>
        <p:nvSpPr>
          <p:cNvPr id="235" name="Google Shape;235;p8"/>
          <p:cNvSpPr/>
          <p:nvPr/>
        </p:nvSpPr>
        <p:spPr>
          <a:xfrm>
            <a:off x="6705295" y="1700780"/>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8"/>
          <p:cNvSpPr txBox="1"/>
          <p:nvPr/>
        </p:nvSpPr>
        <p:spPr>
          <a:xfrm>
            <a:off x="6961325" y="1609350"/>
            <a:ext cx="43638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Trunk and both branches: 4 layers, width 256, 8 heads.</a:t>
            </a:r>
            <a:endParaRPr b="0" i="0" sz="1400" u="none" cap="none" strike="noStrike">
              <a:solidFill>
                <a:srgbClr val="000000"/>
              </a:solidFill>
              <a:latin typeface="Arial"/>
              <a:ea typeface="Arial"/>
              <a:cs typeface="Arial"/>
              <a:sym typeface="Arial"/>
            </a:endParaRPr>
          </a:p>
        </p:txBody>
      </p:sp>
      <p:sp>
        <p:nvSpPr>
          <p:cNvPr id="237" name="Google Shape;237;p8"/>
          <p:cNvSpPr/>
          <p:nvPr/>
        </p:nvSpPr>
        <p:spPr>
          <a:xfrm>
            <a:off x="6705295" y="2414012"/>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8"/>
          <p:cNvSpPr txBox="1"/>
          <p:nvPr/>
        </p:nvSpPr>
        <p:spPr>
          <a:xfrm>
            <a:off x="6961327" y="2322572"/>
            <a:ext cx="39501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300"/>
              <a:buFont typeface="Arial"/>
              <a:buNone/>
            </a:pPr>
            <a:r>
              <a:rPr b="0" i="0" lang="en-US" sz="1300" u="none" cap="none" strike="noStrike">
                <a:solidFill>
                  <a:srgbClr val="142034"/>
                </a:solidFill>
                <a:latin typeface="Calibri"/>
                <a:ea typeface="Calibri"/>
                <a:cs typeface="Calibri"/>
                <a:sym typeface="Calibri"/>
              </a:rPr>
              <a:t>Each branch projects 256 → 64, then L2-normalizes.</a:t>
            </a:r>
            <a:endParaRPr b="0" i="0" sz="1400" u="none" cap="none" strike="noStrike">
              <a:solidFill>
                <a:schemeClr val="dk1"/>
              </a:solidFill>
              <a:latin typeface="Arial"/>
              <a:ea typeface="Arial"/>
              <a:cs typeface="Arial"/>
              <a:sym typeface="Arial"/>
            </a:endParaRPr>
          </a:p>
        </p:txBody>
      </p:sp>
      <p:sp>
        <p:nvSpPr>
          <p:cNvPr id="239" name="Google Shape;239;p8"/>
          <p:cNvSpPr/>
          <p:nvPr/>
        </p:nvSpPr>
        <p:spPr>
          <a:xfrm>
            <a:off x="6705295" y="3127244"/>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8"/>
          <p:cNvSpPr txBox="1"/>
          <p:nvPr/>
        </p:nvSpPr>
        <p:spPr>
          <a:xfrm>
            <a:off x="6961327" y="3035804"/>
            <a:ext cx="39501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300"/>
              <a:buFont typeface="Arial"/>
              <a:buNone/>
            </a:pPr>
            <a:r>
              <a:rPr b="0" i="0" lang="en-US" sz="1300" u="none" cap="none" strike="noStrike">
                <a:solidFill>
                  <a:srgbClr val="142034"/>
                </a:solidFill>
                <a:latin typeface="Calibri"/>
                <a:ea typeface="Calibri"/>
                <a:cs typeface="Calibri"/>
                <a:sym typeface="Calibri"/>
              </a:rPr>
              <a:t>16.1 million parameters.</a:t>
            </a:r>
            <a:endParaRPr b="0" i="0" sz="1400" u="none" cap="none" strike="noStrike">
              <a:solidFill>
                <a:schemeClr val="dk1"/>
              </a:solidFill>
              <a:latin typeface="Arial"/>
              <a:ea typeface="Arial"/>
              <a:cs typeface="Arial"/>
              <a:sym typeface="Arial"/>
            </a:endParaRPr>
          </a:p>
        </p:txBody>
      </p:sp>
      <p:sp>
        <p:nvSpPr>
          <p:cNvPr id="241" name="Google Shape;241;p8"/>
          <p:cNvSpPr/>
          <p:nvPr/>
        </p:nvSpPr>
        <p:spPr>
          <a:xfrm>
            <a:off x="6705295" y="3840476"/>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8"/>
          <p:cNvSpPr txBox="1"/>
          <p:nvPr/>
        </p:nvSpPr>
        <p:spPr>
          <a:xfrm>
            <a:off x="6961327" y="3749036"/>
            <a:ext cx="39501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DBSCAN clusters each branch at inference.</a:t>
            </a:r>
            <a:endParaRPr b="0" i="0" sz="1400" u="none" cap="none" strike="noStrike">
              <a:solidFill>
                <a:srgbClr val="000000"/>
              </a:solidFill>
              <a:latin typeface="Arial"/>
              <a:ea typeface="Arial"/>
              <a:cs typeface="Arial"/>
              <a:sym typeface="Arial"/>
            </a:endParaRPr>
          </a:p>
        </p:txBody>
      </p:sp>
      <p:sp>
        <p:nvSpPr>
          <p:cNvPr id="243" name="Google Shape;243;p8"/>
          <p:cNvSpPr/>
          <p:nvPr/>
        </p:nvSpPr>
        <p:spPr>
          <a:xfrm>
            <a:off x="6705295" y="4553708"/>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8"/>
          <p:cNvSpPr txBox="1"/>
          <p:nvPr/>
        </p:nvSpPr>
        <p:spPr>
          <a:xfrm>
            <a:off x="6961327" y="4462268"/>
            <a:ext cx="39501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142034"/>
                </a:solidFill>
                <a:latin typeface="Calibri"/>
                <a:ea typeface="Calibri"/>
                <a:cs typeface="Calibri"/>
                <a:sym typeface="Calibri"/>
              </a:rPr>
              <a:t>Training does not run DBSCAN. The loss uses the embeddings.</a:t>
            </a:r>
            <a:endParaRPr b="0" i="0" sz="1400" u="none" cap="none" strike="noStrike">
              <a:solidFill>
                <a:srgbClr val="000000"/>
              </a:solidFill>
              <a:latin typeface="Arial"/>
              <a:ea typeface="Arial"/>
              <a:cs typeface="Arial"/>
              <a:sym typeface="Arial"/>
            </a:endParaRPr>
          </a:p>
        </p:txBody>
      </p:sp>
      <p:sp>
        <p:nvSpPr>
          <p:cNvPr id="245" name="Google Shape;245;p8"/>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p8"/>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247" name="Google Shape;247;p8"/>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8 / 19</a:t>
            </a:r>
            <a:endParaRPr b="0" i="0" sz="1400" u="none" cap="none" strike="noStrike">
              <a:solidFill>
                <a:srgbClr val="000000"/>
              </a:solidFill>
              <a:latin typeface="Arial"/>
              <a:ea typeface="Arial"/>
              <a:cs typeface="Arial"/>
              <a:sym typeface="Arial"/>
            </a:endParaRPr>
          </a:p>
        </p:txBody>
      </p:sp>
      <p:pic>
        <p:nvPicPr>
          <p:cNvPr id="248" name="Google Shape;248;p8"/>
          <p:cNvPicPr preferRelativeResize="0"/>
          <p:nvPr/>
        </p:nvPicPr>
        <p:blipFill rotWithShape="1">
          <a:blip r:embed="rId3">
            <a:alphaModFix/>
          </a:blip>
          <a:srcRect b="0" l="0" r="0" t="0"/>
          <a:stretch/>
        </p:blipFill>
        <p:spPr>
          <a:xfrm>
            <a:off x="789375" y="978400"/>
            <a:ext cx="4304074" cy="51611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f9e926ad14_0_32"/>
          <p:cNvSpPr/>
          <p:nvPr/>
        </p:nvSpPr>
        <p:spPr>
          <a:xfrm>
            <a:off x="0" y="0"/>
            <a:ext cx="12191700" cy="63900"/>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g3f9e926ad14_0_32"/>
          <p:cNvSpPr/>
          <p:nvPr/>
        </p:nvSpPr>
        <p:spPr>
          <a:xfrm>
            <a:off x="0" y="6510528"/>
            <a:ext cx="12191700" cy="347400"/>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g3f9e926ad14_0_32"/>
          <p:cNvSpPr txBox="1"/>
          <p:nvPr/>
        </p:nvSpPr>
        <p:spPr>
          <a:xfrm>
            <a:off x="411480" y="6528816"/>
            <a:ext cx="9327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258" name="Google Shape;258;g3f9e926ad14_0_32"/>
          <p:cNvSpPr txBox="1"/>
          <p:nvPr/>
        </p:nvSpPr>
        <p:spPr>
          <a:xfrm>
            <a:off x="10911535" y="6528816"/>
            <a:ext cx="960000" cy="2925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9 / 19</a:t>
            </a:r>
            <a:endParaRPr b="0" i="0" sz="1400" u="none" cap="none" strike="noStrike">
              <a:solidFill>
                <a:srgbClr val="000000"/>
              </a:solidFill>
              <a:latin typeface="Arial"/>
              <a:ea typeface="Arial"/>
              <a:cs typeface="Arial"/>
              <a:sym typeface="Arial"/>
            </a:endParaRPr>
          </a:p>
        </p:txBody>
      </p:sp>
      <p:sp>
        <p:nvSpPr>
          <p:cNvPr id="259" name="TextBox 258"/>
          <p:cNvSpPr txBox="1"/>
          <p:nvPr/>
        </p:nvSpPr>
        <p:spPr>
          <a:xfrm>
            <a:off x="502920" y="201168"/>
            <a:ext cx="11155680" cy="384048"/>
          </a:xfrm>
          <a:prstGeom prst="rect">
            <a:avLst/>
          </a:prstGeom>
          <a:noFill/>
        </p:spPr>
        <p:txBody>
          <a:bodyPr wrap="square"/>
          <a:lstStyle/>
          <a:p>
            <a:r>
              <a:rPr sz="2400" b="1">
                <a:solidFill>
                  <a:srgbClr val="142034"/>
                </a:solidFill>
                <a:latin typeface="Calibri"/>
              </a:rPr>
              <a:t>Attention</a:t>
            </a:r>
          </a:p>
        </p:txBody>
      </p:sp>
      <p:sp>
        <p:nvSpPr>
          <p:cNvPr id="260" name="TextBox 259"/>
          <p:cNvSpPr txBox="1"/>
          <p:nvPr/>
        </p:nvSpPr>
        <p:spPr>
          <a:xfrm>
            <a:off x="502920" y="960120"/>
            <a:ext cx="11155680" cy="4937760"/>
          </a:xfrm>
          <a:prstGeom prst="rect">
            <a:avLst/>
          </a:prstGeom>
          <a:noFill/>
        </p:spPr>
        <p:txBody>
          <a:bodyPr wrap="square"/>
          <a:lstStyle/>
          <a:p>
            <a:pPr>
              <a:lnSpc>
                <a:spcPct val="105000"/>
              </a:lnSpc>
              <a:spcAft>
                <a:spcPts val="1600"/>
              </a:spcAft>
            </a:pPr>
            <a:r>
              <a:rPr sz="1800" b="0">
                <a:solidFill>
                  <a:srgbClr val="142034"/>
                </a:solidFill>
                <a:latin typeface="Calibri"/>
              </a:rPr>
              <a:t>•  Each head scores every pair of pulses in the window. The score is a dot product of a query and a key, passed through a softmax.</a:t>
            </a:r>
          </a:p>
          <a:p>
            <a:pPr>
              <a:lnSpc>
                <a:spcPct val="105000"/>
              </a:lnSpc>
              <a:spcAft>
                <a:spcPts val="1600"/>
              </a:spcAft>
            </a:pPr>
            <a:r>
              <a:rPr sz="1800" b="0">
                <a:solidFill>
                  <a:srgbClr val="142034"/>
                </a:solidFill>
                <a:latin typeface="Calibri"/>
              </a:rPr>
              <a:t>•  The head then mixes values with those weights. With no mask, every pulse can attend to every other pulse in the window.</a:t>
            </a:r>
          </a:p>
          <a:p>
            <a:pPr>
              <a:lnSpc>
                <a:spcPct val="105000"/>
              </a:lnSpc>
              <a:spcAft>
                <a:spcPts val="1600"/>
              </a:spcAft>
            </a:pPr>
            <a:r>
              <a:rPr sz="1800" b="0">
                <a:solidFill>
                  <a:srgbClr val="142034"/>
                </a:solidFill>
                <a:latin typeface="Calibri"/>
              </a:rPr>
              <a:t>•  Nothing in that product knows the time gap between two pulses, unless time is put there on purpose. Time of arrival is otherwise only one of the seven input features.</a:t>
            </a:r>
          </a:p>
          <a:p>
            <a:pPr>
              <a:lnSpc>
                <a:spcPct val="105000"/>
              </a:lnSpc>
              <a:spcAft>
                <a:spcPts val="1600"/>
              </a:spcAft>
            </a:pPr>
            <a:r>
              <a:rPr sz="1800" b="0">
                <a:solidFill>
                  <a:srgbClr val="142034"/>
                </a:solidFill>
                <a:latin typeface="Calibri"/>
              </a:rPr>
              <a:t>•  Two ways to put it there follow. Rotate the query and the key by time of arrival, or subtract a penalty built from the time and incidence gaps.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9"/>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9" name="Google Shape;269;p9"/>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9"/>
          <p:cNvSpPr txBox="1"/>
          <p:nvPr/>
        </p:nvSpPr>
        <p:spPr>
          <a:xfrm>
            <a:off x="502920" y="201168"/>
            <a:ext cx="111556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2034"/>
                </a:solidFill>
                <a:latin typeface="Calibri"/>
                <a:ea typeface="Calibri"/>
                <a:cs typeface="Calibri"/>
                <a:sym typeface="Calibri"/>
              </a:rPr>
              <a:t>Two ways to put positional encodings into attention</a:t>
            </a:r>
            <a:endParaRPr b="0" i="0" sz="1400" u="none" cap="none" strike="noStrike">
              <a:solidFill>
                <a:srgbClr val="000000"/>
              </a:solidFill>
              <a:latin typeface="Arial"/>
              <a:ea typeface="Arial"/>
              <a:cs typeface="Arial"/>
              <a:sym typeface="Arial"/>
            </a:endParaRPr>
          </a:p>
        </p:txBody>
      </p:sp>
      <p:sp>
        <p:nvSpPr>
          <p:cNvPr id="271" name="Google Shape;271;p9"/>
          <p:cNvSpPr/>
          <p:nvPr/>
        </p:nvSpPr>
        <p:spPr>
          <a:xfrm>
            <a:off x="502920" y="822960"/>
            <a:ext cx="5486400" cy="5212080"/>
          </a:xfrm>
          <a:prstGeom prst="roundRect">
            <a:avLst>
              <a:gd fmla="val 8000" name="adj"/>
            </a:avLst>
          </a:prstGeom>
          <a:solidFill>
            <a:srgbClr val="F3F6F8"/>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2" name="Google Shape;272;p9"/>
          <p:cNvSpPr txBox="1"/>
          <p:nvPr/>
        </p:nvSpPr>
        <p:spPr>
          <a:xfrm>
            <a:off x="731520" y="1005840"/>
            <a:ext cx="5029200" cy="365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A7A96"/>
                </a:solidFill>
                <a:latin typeface="Calibri"/>
                <a:ea typeface="Calibri"/>
                <a:cs typeface="Calibri"/>
                <a:sym typeface="Calibri"/>
              </a:rPr>
              <a:t>Rotary positional encodings</a:t>
            </a:r>
            <a:endParaRPr b="0" i="0" sz="1400" u="none" cap="none" strike="noStrike">
              <a:solidFill>
                <a:srgbClr val="000000"/>
              </a:solidFill>
              <a:latin typeface="Arial"/>
              <a:ea typeface="Arial"/>
              <a:cs typeface="Arial"/>
              <a:sym typeface="Arial"/>
            </a:endParaRPr>
          </a:p>
        </p:txBody>
      </p:sp>
      <p:sp>
        <p:nvSpPr>
          <p:cNvPr id="273" name="Google Shape;273;p9"/>
          <p:cNvSpPr/>
          <p:nvPr/>
        </p:nvSpPr>
        <p:spPr>
          <a:xfrm>
            <a:off x="731520" y="160020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p9"/>
          <p:cNvSpPr txBox="1"/>
          <p:nvPr/>
        </p:nvSpPr>
        <p:spPr>
          <a:xfrm>
            <a:off x="987552" y="1508760"/>
            <a:ext cx="477316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Rotate queries and keys by window-local time of arrival.</a:t>
            </a:r>
            <a:endParaRPr b="0" i="0" sz="1400" u="none" cap="none" strike="noStrike">
              <a:solidFill>
                <a:srgbClr val="000000"/>
              </a:solidFill>
              <a:latin typeface="Arial"/>
              <a:ea typeface="Arial"/>
              <a:cs typeface="Arial"/>
              <a:sym typeface="Arial"/>
            </a:endParaRPr>
          </a:p>
        </p:txBody>
      </p:sp>
      <p:sp>
        <p:nvSpPr>
          <p:cNvPr id="275" name="Google Shape;275;p9"/>
          <p:cNvSpPr/>
          <p:nvPr/>
        </p:nvSpPr>
        <p:spPr>
          <a:xfrm>
            <a:off x="731520" y="2258568"/>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p9"/>
          <p:cNvSpPr txBox="1"/>
          <p:nvPr/>
        </p:nvSpPr>
        <p:spPr>
          <a:xfrm>
            <a:off x="987552" y="2167128"/>
            <a:ext cx="477316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Only the time gap enters the dot product.</a:t>
            </a:r>
            <a:endParaRPr b="0" i="0" sz="1400" u="none" cap="none" strike="noStrike">
              <a:solidFill>
                <a:srgbClr val="000000"/>
              </a:solidFill>
              <a:latin typeface="Arial"/>
              <a:ea typeface="Arial"/>
              <a:cs typeface="Arial"/>
              <a:sym typeface="Arial"/>
            </a:endParaRPr>
          </a:p>
        </p:txBody>
      </p:sp>
      <p:sp>
        <p:nvSpPr>
          <p:cNvPr id="277" name="Google Shape;277;p9"/>
          <p:cNvSpPr/>
          <p:nvPr/>
        </p:nvSpPr>
        <p:spPr>
          <a:xfrm>
            <a:off x="731520" y="2916936"/>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9"/>
          <p:cNvSpPr txBox="1"/>
          <p:nvPr/>
        </p:nvSpPr>
        <p:spPr>
          <a:xfrm>
            <a:off x="987552" y="2825496"/>
            <a:ext cx="4773168" cy="7315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Each plane of a head rotates at its own frequency.</a:t>
            </a:r>
            <a:endParaRPr b="0" i="0" sz="1400" u="none" cap="none" strike="noStrike">
              <a:solidFill>
                <a:srgbClr val="000000"/>
              </a:solidFill>
              <a:latin typeface="Arial"/>
              <a:ea typeface="Arial"/>
              <a:cs typeface="Arial"/>
              <a:sym typeface="Arial"/>
            </a:endParaRPr>
          </a:p>
        </p:txBody>
      </p:sp>
      <p:sp>
        <p:nvSpPr>
          <p:cNvPr id="279" name="Google Shape;279;p9"/>
          <p:cNvSpPr txBox="1"/>
          <p:nvPr/>
        </p:nvSpPr>
        <p:spPr>
          <a:xfrm>
            <a:off x="731525" y="4233675"/>
            <a:ext cx="4869300" cy="88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A687A"/>
                </a:solidFill>
                <a:latin typeface="Calibri"/>
                <a:ea typeface="Calibri"/>
                <a:cs typeface="Calibri"/>
                <a:sym typeface="Calibri"/>
              </a:rPr>
              <a:t>Pulses are not equally spaced, so time of arrival replaces the token index.</a:t>
            </a:r>
            <a:endParaRPr b="0" i="0" sz="1400" u="none" cap="none" strike="noStrike">
              <a:solidFill>
                <a:srgbClr val="000000"/>
              </a:solidFill>
              <a:latin typeface="Arial"/>
              <a:ea typeface="Arial"/>
              <a:cs typeface="Arial"/>
              <a:sym typeface="Arial"/>
            </a:endParaRPr>
          </a:p>
        </p:txBody>
      </p:sp>
      <p:sp>
        <p:nvSpPr>
          <p:cNvPr id="280" name="Google Shape;280;p9"/>
          <p:cNvSpPr/>
          <p:nvPr/>
        </p:nvSpPr>
        <p:spPr>
          <a:xfrm>
            <a:off x="6217920" y="822960"/>
            <a:ext cx="5486400" cy="5212200"/>
          </a:xfrm>
          <a:prstGeom prst="roundRect">
            <a:avLst>
              <a:gd fmla="val 8000" name="adj"/>
            </a:avLst>
          </a:prstGeom>
          <a:solidFill>
            <a:srgbClr val="F3F6F8"/>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9"/>
          <p:cNvSpPr txBox="1"/>
          <p:nvPr/>
        </p:nvSpPr>
        <p:spPr>
          <a:xfrm>
            <a:off x="6446520" y="1005840"/>
            <a:ext cx="5029200" cy="365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45A20"/>
                </a:solidFill>
                <a:latin typeface="Calibri"/>
                <a:ea typeface="Calibri"/>
                <a:cs typeface="Calibri"/>
                <a:sym typeface="Calibri"/>
              </a:rPr>
              <a:t>Physical bias</a:t>
            </a:r>
            <a:endParaRPr b="0" i="0" sz="1400" u="none" cap="none" strike="noStrike">
              <a:solidFill>
                <a:srgbClr val="000000"/>
              </a:solidFill>
              <a:latin typeface="Arial"/>
              <a:ea typeface="Arial"/>
              <a:cs typeface="Arial"/>
              <a:sym typeface="Arial"/>
            </a:endParaRPr>
          </a:p>
        </p:txBody>
      </p:sp>
      <p:sp>
        <p:nvSpPr>
          <p:cNvPr id="282" name="Google Shape;282;p9"/>
          <p:cNvSpPr/>
          <p:nvPr/>
        </p:nvSpPr>
        <p:spPr>
          <a:xfrm>
            <a:off x="6446520" y="1600200"/>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3" name="Google Shape;283;p9"/>
          <p:cNvSpPr txBox="1"/>
          <p:nvPr/>
        </p:nvSpPr>
        <p:spPr>
          <a:xfrm>
            <a:off x="6702552" y="1508760"/>
            <a:ext cx="4773168" cy="7863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Absolute gaps in time of arrival and in incidence.</a:t>
            </a:r>
            <a:endParaRPr b="0" i="0" sz="1400" u="none" cap="none" strike="noStrike">
              <a:solidFill>
                <a:srgbClr val="000000"/>
              </a:solidFill>
              <a:latin typeface="Arial"/>
              <a:ea typeface="Arial"/>
              <a:cs typeface="Arial"/>
              <a:sym typeface="Arial"/>
            </a:endParaRPr>
          </a:p>
        </p:txBody>
      </p:sp>
      <p:sp>
        <p:nvSpPr>
          <p:cNvPr id="284" name="Google Shape;284;p9"/>
          <p:cNvSpPr/>
          <p:nvPr/>
        </p:nvSpPr>
        <p:spPr>
          <a:xfrm>
            <a:off x="6446520" y="2313432"/>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9"/>
          <p:cNvSpPr txBox="1"/>
          <p:nvPr/>
        </p:nvSpPr>
        <p:spPr>
          <a:xfrm>
            <a:off x="6702552" y="2221992"/>
            <a:ext cx="4773168" cy="7863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A learned scalar per head is subtracted from the logits.</a:t>
            </a:r>
            <a:endParaRPr b="0" i="0" sz="1400" u="none" cap="none" strike="noStrike">
              <a:solidFill>
                <a:srgbClr val="000000"/>
              </a:solidFill>
              <a:latin typeface="Arial"/>
              <a:ea typeface="Arial"/>
              <a:cs typeface="Arial"/>
              <a:sym typeface="Arial"/>
            </a:endParaRPr>
          </a:p>
        </p:txBody>
      </p:sp>
      <p:sp>
        <p:nvSpPr>
          <p:cNvPr id="286" name="Google Shape;286;p9"/>
          <p:cNvSpPr/>
          <p:nvPr/>
        </p:nvSpPr>
        <p:spPr>
          <a:xfrm>
            <a:off x="6446520" y="3026664"/>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9"/>
          <p:cNvSpPr txBox="1"/>
          <p:nvPr/>
        </p:nvSpPr>
        <p:spPr>
          <a:xfrm>
            <a:off x="6702552" y="2935224"/>
            <a:ext cx="4773168" cy="7863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A negative scalar rewards a difference instead of penalizing it.</a:t>
            </a:r>
            <a:endParaRPr b="0" i="0" sz="1400" u="none" cap="none" strike="noStrike">
              <a:solidFill>
                <a:srgbClr val="000000"/>
              </a:solidFill>
              <a:latin typeface="Arial"/>
              <a:ea typeface="Arial"/>
              <a:cs typeface="Arial"/>
              <a:sym typeface="Arial"/>
            </a:endParaRPr>
          </a:p>
        </p:txBody>
      </p:sp>
      <p:sp>
        <p:nvSpPr>
          <p:cNvPr id="288" name="Google Shape;288;p9"/>
          <p:cNvSpPr/>
          <p:nvPr/>
        </p:nvSpPr>
        <p:spPr>
          <a:xfrm>
            <a:off x="6446520" y="3739896"/>
            <a:ext cx="109728" cy="109728"/>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9"/>
          <p:cNvSpPr txBox="1"/>
          <p:nvPr/>
        </p:nvSpPr>
        <p:spPr>
          <a:xfrm>
            <a:off x="6702552" y="3648456"/>
            <a:ext cx="47733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rgbClr val="142034"/>
                </a:solidFill>
                <a:latin typeface="Calibri"/>
                <a:ea typeface="Calibri"/>
                <a:cs typeface="Calibri"/>
                <a:sym typeface="Calibri"/>
              </a:rPr>
              <a:t>Forward pass 32 ms. The L×L map is stored explicitly.</a:t>
            </a:r>
            <a:endParaRPr b="0" i="0" sz="1400" u="none" cap="none" strike="noStrike">
              <a:solidFill>
                <a:schemeClr val="dk1"/>
              </a:solidFill>
              <a:latin typeface="Arial"/>
              <a:ea typeface="Arial"/>
              <a:cs typeface="Arial"/>
              <a:sym typeface="Arial"/>
            </a:endParaRPr>
          </a:p>
        </p:txBody>
      </p:sp>
      <p:sp>
        <p:nvSpPr>
          <p:cNvPr id="290" name="Google Shape;290;p9"/>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1" name="Google Shape;291;p9"/>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292" name="Google Shape;292;p9"/>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10 / 19</a:t>
            </a:r>
            <a:endParaRPr b="0" i="0" sz="1400" u="none" cap="none" strike="noStrike">
              <a:solidFill>
                <a:srgbClr val="000000"/>
              </a:solidFill>
              <a:latin typeface="Arial"/>
              <a:ea typeface="Arial"/>
              <a:cs typeface="Arial"/>
              <a:sym typeface="Arial"/>
            </a:endParaRPr>
          </a:p>
        </p:txBody>
      </p:sp>
      <p:sp>
        <p:nvSpPr>
          <p:cNvPr id="293" name="Google Shape;293;p9"/>
          <p:cNvSpPr txBox="1"/>
          <p:nvPr/>
        </p:nvSpPr>
        <p:spPr>
          <a:xfrm>
            <a:off x="6446525" y="4316650"/>
            <a:ext cx="4869300" cy="88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5A687A"/>
                </a:solidFill>
                <a:latin typeface="Calibri"/>
                <a:ea typeface="Calibri"/>
                <a:cs typeface="Calibri"/>
                <a:sym typeface="Calibri"/>
              </a:rPr>
              <a:t>Same shape as attention, but harder to skip. RoPE-TOA is the cheap version.</a:t>
            </a:r>
            <a:endParaRPr b="0" i="0" sz="1400" u="none" cap="none" strike="noStrike">
              <a:solidFill>
                <a:srgbClr val="000000"/>
              </a:solidFill>
              <a:latin typeface="Arial"/>
              <a:ea typeface="Arial"/>
              <a:cs typeface="Arial"/>
              <a:sym typeface="Arial"/>
            </a:endParaRPr>
          </a:p>
        </p:txBody>
      </p:sp>
      <p:sp>
        <p:nvSpPr>
          <p:cNvPr id="294" name="Google Shape;294;p9"/>
          <p:cNvSpPr/>
          <p:nvPr/>
        </p:nvSpPr>
        <p:spPr>
          <a:xfrm>
            <a:off x="731457" y="3493059"/>
            <a:ext cx="109800" cy="109800"/>
          </a:xfrm>
          <a:prstGeom prst="ellipse">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9"/>
          <p:cNvSpPr txBox="1"/>
          <p:nvPr/>
        </p:nvSpPr>
        <p:spPr>
          <a:xfrm>
            <a:off x="987490" y="3401618"/>
            <a:ext cx="4773300" cy="7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42034"/>
                </a:solidFill>
                <a:latin typeface="Calibri"/>
                <a:ea typeface="Calibri"/>
                <a:cs typeface="Calibri"/>
                <a:sym typeface="Calibri"/>
              </a:rPr>
              <a:t>No extra weights. Forward pass 2.5 ms, against 1.6 ms.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0"/>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10"/>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p10"/>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13" name="Google Shape;313;p10"/>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11 / 19</a:t>
            </a:r>
            <a:endParaRPr b="0" i="0" sz="1400" u="none" cap="none" strike="noStrike">
              <a:solidFill>
                <a:srgbClr val="000000"/>
              </a:solidFill>
              <a:latin typeface="Arial"/>
              <a:ea typeface="Arial"/>
              <a:cs typeface="Arial"/>
              <a:sym typeface="Arial"/>
            </a:endParaRPr>
          </a:p>
        </p:txBody>
      </p:sp>
      <p:sp>
        <p:nvSpPr>
          <p:cNvPr id="314" name="TextBox 313"/>
          <p:cNvSpPr txBox="1"/>
          <p:nvPr/>
        </p:nvSpPr>
        <p:spPr>
          <a:xfrm>
            <a:off x="502920" y="201168"/>
            <a:ext cx="11155680" cy="384048"/>
          </a:xfrm>
          <a:prstGeom prst="rect">
            <a:avLst/>
          </a:prstGeom>
          <a:noFill/>
        </p:spPr>
        <p:txBody>
          <a:bodyPr wrap="square"/>
          <a:lstStyle/>
          <a:p>
            <a:r>
              <a:rPr sz="2400" b="1">
                <a:solidFill>
                  <a:srgbClr val="142034"/>
                </a:solidFill>
                <a:latin typeface="Calibri"/>
              </a:rPr>
              <a:t>What was trained</a:t>
            </a:r>
          </a:p>
        </p:txBody>
      </p:sp>
      <p:sp>
        <p:nvSpPr>
          <p:cNvPr id="315" name="TextBox 314"/>
          <p:cNvSpPr txBox="1"/>
          <p:nvPr/>
        </p:nvSpPr>
        <p:spPr>
          <a:xfrm>
            <a:off x="502920" y="822960"/>
            <a:ext cx="11155680" cy="5303520"/>
          </a:xfrm>
          <a:prstGeom prst="rect">
            <a:avLst/>
          </a:prstGeom>
          <a:noFill/>
        </p:spPr>
        <p:txBody>
          <a:bodyPr wrap="square"/>
          <a:lstStyle/>
          <a:p>
            <a:pPr>
              <a:lnSpc>
                <a:spcPct val="105000"/>
              </a:lnSpc>
              <a:spcAft>
                <a:spcPts val="1400"/>
              </a:spcAft>
            </a:pPr>
            <a:r>
              <a:rPr sz="1800" b="0">
                <a:solidFill>
                  <a:srgbClr val="142034"/>
                </a:solidFill>
                <a:latin typeface="Calibri"/>
              </a:rPr>
              <a:t>•  Vanilla. Standard self-attention. Time of arrival is only an input feature.</a:t>
            </a:r>
          </a:p>
          <a:p>
            <a:pPr>
              <a:lnSpc>
                <a:spcPct val="105000"/>
              </a:lnSpc>
              <a:spcAft>
                <a:spcPts val="1400"/>
              </a:spcAft>
            </a:pPr>
            <a:r>
              <a:rPr sz="1800" b="0">
                <a:solidFill>
                  <a:srgbClr val="142034"/>
                </a:solidFill>
                <a:latin typeface="Calibri"/>
              </a:rPr>
              <a:t>•  RoPE-TOA. Queries and keys are rotated by window-local time of arrival, on the trunk and on both branches.</a:t>
            </a:r>
          </a:p>
          <a:p>
            <a:pPr>
              <a:lnSpc>
                <a:spcPct val="105000"/>
              </a:lnSpc>
              <a:spcAft>
                <a:spcPts val="1400"/>
              </a:spcAft>
            </a:pPr>
            <a:r>
              <a:rPr sz="1800" b="0">
                <a:solidFill>
                  <a:srgbClr val="142034"/>
                </a:solidFill>
                <a:latin typeface="Calibri"/>
              </a:rPr>
              <a:t>•  RoPE-az. The deinterleaving branch is rotated by planar incidence instead. Incidence is already in the token, so this restates a cue the model has.</a:t>
            </a:r>
          </a:p>
          <a:p>
            <a:pPr>
              <a:lnSpc>
                <a:spcPct val="105000"/>
              </a:lnSpc>
              <a:spcAft>
                <a:spcPts val="1400"/>
              </a:spcAft>
            </a:pPr>
            <a:r>
              <a:rPr sz="1800" b="0">
                <a:solidFill>
                  <a:srgbClr val="142034"/>
                </a:solidFill>
                <a:latin typeface="Calibri"/>
              </a:rPr>
              <a:t>•  Bias. Pairwise absolute gaps in time and incidence, scaled by a learned scalar per head and subtracted from the logits.</a:t>
            </a:r>
          </a:p>
          <a:p>
            <a:pPr>
              <a:lnSpc>
                <a:spcPct val="105000"/>
              </a:lnSpc>
              <a:spcAft>
                <a:spcPts val="1400"/>
              </a:spcAft>
            </a:pPr>
            <a:r>
              <a:rPr sz="1800" b="0">
                <a:solidFill>
                  <a:srgbClr val="142034"/>
                </a:solidFill>
                <a:latin typeface="Calibri"/>
              </a:rPr>
              <a:t>•  RoPE-TOA+Bias. Both mechanisms at once, with the same training setup as the other neural runs. The gains do not add.</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1"/>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2" name="Google Shape;332;p11"/>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1"/>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34" name="Google Shape;334;p11"/>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12 / 19</a:t>
            </a:r>
            <a:endParaRPr b="0" i="0" sz="1400" u="none" cap="none" strike="noStrike">
              <a:solidFill>
                <a:srgbClr val="000000"/>
              </a:solidFill>
              <a:latin typeface="Arial"/>
              <a:ea typeface="Arial"/>
              <a:cs typeface="Arial"/>
              <a:sym typeface="Arial"/>
            </a:endParaRPr>
          </a:p>
        </p:txBody>
      </p:sp>
      <p:sp>
        <p:nvSpPr>
          <p:cNvPr id="335" name="TextBox 334"/>
          <p:cNvSpPr txBox="1"/>
          <p:nvPr/>
        </p:nvSpPr>
        <p:spPr>
          <a:xfrm>
            <a:off x="502920" y="201168"/>
            <a:ext cx="11155680" cy="384048"/>
          </a:xfrm>
          <a:prstGeom prst="rect">
            <a:avLst/>
          </a:prstGeom>
          <a:noFill/>
        </p:spPr>
        <p:txBody>
          <a:bodyPr wrap="square"/>
          <a:lstStyle/>
          <a:p>
            <a:r>
              <a:rPr sz="2400" b="1">
                <a:solidFill>
                  <a:srgbClr val="142034"/>
                </a:solidFill>
                <a:latin typeface="Calibri"/>
              </a:rPr>
              <a:t>What the bias costs</a:t>
            </a:r>
          </a:p>
        </p:txBody>
      </p:sp>
      <p:sp>
        <p:nvSpPr>
          <p:cNvPr id="336" name="TextBox 335"/>
          <p:cNvSpPr txBox="1"/>
          <p:nvPr/>
        </p:nvSpPr>
        <p:spPr>
          <a:xfrm>
            <a:off x="502920" y="822960"/>
            <a:ext cx="11155680" cy="5303520"/>
          </a:xfrm>
          <a:prstGeom prst="rect">
            <a:avLst/>
          </a:prstGeom>
          <a:noFill/>
        </p:spPr>
        <p:txBody>
          <a:bodyPr wrap="square"/>
          <a:lstStyle/>
          <a:p>
            <a:pPr>
              <a:lnSpc>
                <a:spcPct val="105000"/>
              </a:lnSpc>
              <a:spcAft>
                <a:spcPts val="1200"/>
              </a:spcAft>
            </a:pPr>
            <a:r>
              <a:rPr sz="1800" b="0">
                <a:solidFill>
                  <a:srgbClr val="142034"/>
                </a:solidFill>
                <a:latin typeface="Calibri"/>
              </a:rPr>
              <a:t>•  Every neural model has 16,081,536 parameters. RoPE adds none. The bias adds a few scalars per head.</a:t>
            </a:r>
          </a:p>
          <a:p>
            <a:pPr>
              <a:lnSpc>
                <a:spcPct val="105000"/>
              </a:lnSpc>
              <a:spcAft>
                <a:spcPts val="1200"/>
              </a:spcAft>
            </a:pPr>
            <a:r>
              <a:rPr sz="1800" b="0">
                <a:solidFill>
                  <a:srgbClr val="142034"/>
                </a:solidFill>
                <a:latin typeface="Calibri"/>
              </a:rPr>
              <a:t>•  Encoder time per test window: Vanilla 1.6 ms, RoPE-TOA 2.5 ms, RoPE-az 3.1 ms, Bias 32 ms, both together 30 ms.</a:t>
            </a:r>
          </a:p>
          <a:p>
            <a:pPr>
              <a:lnSpc>
                <a:spcPct val="105000"/>
              </a:lnSpc>
              <a:spcAft>
                <a:spcPts val="1200"/>
              </a:spcAft>
            </a:pPr>
            <a:r>
              <a:rPr sz="1800" b="0">
                <a:solidFill>
                  <a:srgbClr val="142034"/>
                </a:solidFill>
                <a:latin typeface="Calibri"/>
              </a:rPr>
              <a:t>•  DBSCAN on the two branches is about 55 ms for every model. With Vanilla or RoPE, clustering is the cost. With the bias, the forward pass is no longer negligible.</a:t>
            </a:r>
          </a:p>
          <a:p>
            <a:pPr>
              <a:lnSpc>
                <a:spcPct val="105000"/>
              </a:lnSpc>
              <a:spcAft>
                <a:spcPts val="1200"/>
              </a:spcAft>
            </a:pPr>
            <a:r>
              <a:rPr sz="1800" b="0">
                <a:solidFill>
                  <a:srgbClr val="142034"/>
                </a:solidFill>
                <a:latin typeface="Calibri"/>
              </a:rPr>
              <a:t>•  One bias map, 8 heads by 2,000 by 2,000, is about 128 MB in 32-bit floats. Across twelve layers that storage is hard to fuse away.</a:t>
            </a:r>
          </a:p>
          <a:p>
            <a:pPr>
              <a:lnSpc>
                <a:spcPct val="105000"/>
              </a:lnSpc>
              <a:spcAft>
                <a:spcPts val="1200"/>
              </a:spcAft>
            </a:pPr>
            <a:r>
              <a:rPr sz="1800" b="0">
                <a:solidFill>
                  <a:srgbClr val="142034"/>
                </a:solidFill>
                <a:latin typeface="Calibri"/>
              </a:rPr>
              <a:t>•  A cache can skip rebuilding the maps. It does not skip subtracting them from the logits, which is still quadratic in the window length.</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2"/>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12"/>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12"/>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12"/>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49" name="Google Shape;349;p12"/>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13 / 19</a:t>
            </a:r>
            <a:endParaRPr b="0" i="0" sz="1400" u="none" cap="none" strike="noStrike">
              <a:solidFill>
                <a:srgbClr val="000000"/>
              </a:solidFill>
              <a:latin typeface="Arial"/>
              <a:ea typeface="Arial"/>
              <a:cs typeface="Arial"/>
              <a:sym typeface="Arial"/>
            </a:endParaRPr>
          </a:p>
        </p:txBody>
      </p:sp>
      <p:sp>
        <p:nvSpPr>
          <p:cNvPr id="350" name="TextBox 349"/>
          <p:cNvSpPr txBox="1"/>
          <p:nvPr/>
        </p:nvSpPr>
        <p:spPr>
          <a:xfrm>
            <a:off x="502920" y="201168"/>
            <a:ext cx="11155680" cy="384048"/>
          </a:xfrm>
          <a:prstGeom prst="rect">
            <a:avLst/>
          </a:prstGeom>
          <a:noFill/>
        </p:spPr>
        <p:txBody>
          <a:bodyPr wrap="square"/>
          <a:lstStyle/>
          <a:p>
            <a:r>
              <a:rPr sz="2400" b="1">
                <a:solidFill>
                  <a:srgbClr val="142034"/>
                </a:solidFill>
                <a:latin typeface="Calibri"/>
              </a:rPr>
              <a:t>Loss</a:t>
            </a:r>
          </a:p>
        </p:txBody>
      </p:sp>
      <p:sp>
        <p:nvSpPr>
          <p:cNvPr id="351" name="TextBox 350"/>
          <p:cNvSpPr txBox="1"/>
          <p:nvPr/>
        </p:nvSpPr>
        <p:spPr>
          <a:xfrm>
            <a:off x="502920" y="822960"/>
            <a:ext cx="11155680" cy="5303520"/>
          </a:xfrm>
          <a:prstGeom prst="rect">
            <a:avLst/>
          </a:prstGeom>
          <a:noFill/>
        </p:spPr>
        <p:txBody>
          <a:bodyPr wrap="square"/>
          <a:lstStyle/>
          <a:p>
            <a:pPr>
              <a:lnSpc>
                <a:spcPct val="105000"/>
              </a:lnSpc>
              <a:spcAft>
                <a:spcPts val="1400"/>
              </a:spcAft>
            </a:pPr>
            <a:r>
              <a:rPr sz="1800" b="0">
                <a:solidFill>
                  <a:srgbClr val="142034"/>
                </a:solidFill>
                <a:latin typeface="Calibri"/>
              </a:rPr>
              <a:t>•  Supervised contrastive loss on the L2-normalized embeddings. The score between two pulses is their dot product.</a:t>
            </a:r>
          </a:p>
          <a:p>
            <a:pPr>
              <a:lnSpc>
                <a:spcPct val="105000"/>
              </a:lnSpc>
              <a:spcAft>
                <a:spcPts val="1400"/>
              </a:spcAft>
            </a:pPr>
            <a:r>
              <a:rPr sz="1800" b="0">
                <a:solidFill>
                  <a:srgbClr val="142034"/>
                </a:solidFill>
                <a:latin typeface="Calibri"/>
              </a:rPr>
              <a:t>•  Pulses that share a label are pulled together. Pulses that do not are pushed apart. Both branches use that same formula.</a:t>
            </a:r>
          </a:p>
          <a:p>
            <a:pPr>
              <a:lnSpc>
                <a:spcPct val="105000"/>
              </a:lnSpc>
              <a:spcAft>
                <a:spcPts val="1400"/>
              </a:spcAft>
            </a:pPr>
            <a:r>
              <a:rPr sz="1800" b="0">
                <a:solidFill>
                  <a:srgbClr val="142034"/>
                </a:solidFill>
                <a:latin typeface="Calibri"/>
              </a:rPr>
              <a:t>•  Emitter positives are other pulses in the same window with the same emitter. Those identities are not shared across recordings.</a:t>
            </a:r>
          </a:p>
          <a:p>
            <a:pPr>
              <a:lnSpc>
                <a:spcPct val="105000"/>
              </a:lnSpc>
              <a:spcAft>
                <a:spcPts val="1400"/>
              </a:spcAft>
            </a:pPr>
            <a:r>
              <a:rPr sz="1800" b="0">
                <a:solidFill>
                  <a:srgbClr val="142034"/>
                </a:solidFill>
                <a:latin typeface="Calibri"/>
              </a:rPr>
              <a:t>•  Mode positives are pulses with the same catalogue mode, including pulses from other windows in the batch. Mode labels are global.</a:t>
            </a:r>
          </a:p>
          <a:p>
            <a:pPr>
              <a:lnSpc>
                <a:spcPct val="105000"/>
              </a:lnSpc>
              <a:spcAft>
                <a:spcPts val="1400"/>
              </a:spcAft>
            </a:pPr>
            <a:r>
              <a:rPr sz="1800" b="0">
                <a:solidFill>
                  <a:srgbClr val="142034"/>
                </a:solidFill>
                <a:latin typeface="Calibri"/>
              </a:rPr>
              <a:t>•  The joint loss is the unweighted sum of the two terms. No relative weight was trained.</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3"/>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5" name="Google Shape;355;p13"/>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13"/>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3"/>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62" name="Google Shape;362;p13"/>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14 / 19</a:t>
            </a:r>
            <a:endParaRPr b="0" i="0" sz="1400" u="none" cap="none" strike="noStrike">
              <a:solidFill>
                <a:srgbClr val="000000"/>
              </a:solidFill>
              <a:latin typeface="Arial"/>
              <a:ea typeface="Arial"/>
              <a:cs typeface="Arial"/>
              <a:sym typeface="Arial"/>
            </a:endParaRPr>
          </a:p>
        </p:txBody>
      </p:sp>
      <p:sp>
        <p:nvSpPr>
          <p:cNvPr id="363" name="TextBox 362"/>
          <p:cNvSpPr txBox="1"/>
          <p:nvPr/>
        </p:nvSpPr>
        <p:spPr>
          <a:xfrm>
            <a:off x="502920" y="201168"/>
            <a:ext cx="11155680" cy="384048"/>
          </a:xfrm>
          <a:prstGeom prst="rect">
            <a:avLst/>
          </a:prstGeom>
          <a:noFill/>
        </p:spPr>
        <p:txBody>
          <a:bodyPr wrap="square"/>
          <a:lstStyle/>
          <a:p>
            <a:r>
              <a:rPr sz="2400" b="1">
                <a:solidFill>
                  <a:srgbClr val="142034"/>
                </a:solidFill>
                <a:latin typeface="Calibri"/>
              </a:rPr>
              <a:t>Joint and single-task training</a:t>
            </a:r>
          </a:p>
        </p:txBody>
      </p:sp>
      <p:sp>
        <p:nvSpPr>
          <p:cNvPr id="364" name="TextBox 363"/>
          <p:cNvSpPr txBox="1"/>
          <p:nvPr/>
        </p:nvSpPr>
        <p:spPr>
          <a:xfrm>
            <a:off x="502920" y="822960"/>
            <a:ext cx="11155680" cy="5303520"/>
          </a:xfrm>
          <a:prstGeom prst="rect">
            <a:avLst/>
          </a:prstGeom>
          <a:noFill/>
        </p:spPr>
        <p:txBody>
          <a:bodyPr wrap="square"/>
          <a:lstStyle/>
          <a:p>
            <a:pPr>
              <a:lnSpc>
                <a:spcPct val="105000"/>
              </a:lnSpc>
              <a:spcAft>
                <a:spcPts val="1200"/>
              </a:spcAft>
            </a:pPr>
            <a:r>
              <a:rPr sz="1800" b="0">
                <a:solidFill>
                  <a:srgbClr val="142034"/>
                </a:solidFill>
                <a:latin typeface="Calibri"/>
              </a:rPr>
              <a:t>•  Joint training adds the emitter loss and the mode loss, and back-propagates both through the shared trunk.</a:t>
            </a:r>
          </a:p>
          <a:p>
            <a:pPr>
              <a:lnSpc>
                <a:spcPct val="105000"/>
              </a:lnSpc>
              <a:spcAft>
                <a:spcPts val="1200"/>
              </a:spcAft>
            </a:pPr>
            <a:r>
              <a:rPr sz="1800" b="0">
                <a:solidFill>
                  <a:srgbClr val="142034"/>
                </a:solidFill>
                <a:latin typeface="Calibri"/>
              </a:rPr>
              <a:t>•  A single-task run keeps the same two-branch network and drops one loss. The unused branch is cut out of the backward pass and is not scored.</a:t>
            </a:r>
          </a:p>
          <a:p>
            <a:pPr>
              <a:lnSpc>
                <a:spcPct val="105000"/>
              </a:lnSpc>
              <a:spcAft>
                <a:spcPts val="1200"/>
              </a:spcAft>
            </a:pPr>
            <a:r>
              <a:rPr sz="1800" b="0">
                <a:solidFill>
                  <a:srgbClr val="142034"/>
                </a:solidFill>
                <a:latin typeface="Calibri"/>
              </a:rPr>
              <a:t>•  That is not a separate single-stack transformer. The trunk is still shared. It only receives gradient from the active loss.</a:t>
            </a:r>
          </a:p>
          <a:p>
            <a:pPr>
              <a:lnSpc>
                <a:spcPct val="105000"/>
              </a:lnSpc>
              <a:spcAft>
                <a:spcPts val="1200"/>
              </a:spcAft>
            </a:pPr>
            <a:r>
              <a:rPr sz="1800" b="0">
                <a:solidFill>
                  <a:srgbClr val="142034"/>
                </a:solidFill>
                <a:latin typeface="Calibri"/>
              </a:rPr>
              <a:t>•  Emitter-only runs exist for Vanilla, RoPE-TOA, and the bias. A mode-only run exists for Vanilla. Mode-only RoPE and Bias were not trained.</a:t>
            </a:r>
          </a:p>
          <a:p>
            <a:pPr>
              <a:lnSpc>
                <a:spcPct val="105000"/>
              </a:lnSpc>
              <a:spcAft>
                <a:spcPts val="1200"/>
              </a:spcAft>
            </a:pPr>
            <a:r>
              <a:rPr sz="1800" b="0">
                <a:solidFill>
                  <a:srgbClr val="142034"/>
                </a:solidFill>
                <a:latin typeface="Calibri"/>
              </a:rPr>
              <a:t>•  Not run: deinterleave with an emitter-only model, then cluster or classify modes on each recovered train. That is the classical order.</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4"/>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p14"/>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p14"/>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p14"/>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74" name="Google Shape;374;p14"/>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15 / 19</a:t>
            </a:r>
            <a:endParaRPr b="0" i="0" sz="1400" u="none" cap="none" strike="noStrike">
              <a:solidFill>
                <a:srgbClr val="000000"/>
              </a:solidFill>
              <a:latin typeface="Arial"/>
              <a:ea typeface="Arial"/>
              <a:cs typeface="Arial"/>
              <a:sym typeface="Arial"/>
            </a:endParaRPr>
          </a:p>
        </p:txBody>
      </p:sp>
      <p:sp>
        <p:nvSpPr>
          <p:cNvPr id="375" name="TextBox 374"/>
          <p:cNvSpPr txBox="1"/>
          <p:nvPr/>
        </p:nvSpPr>
        <p:spPr>
          <a:xfrm>
            <a:off x="502920" y="164592"/>
            <a:ext cx="11155680" cy="347472"/>
          </a:xfrm>
          <a:prstGeom prst="rect">
            <a:avLst/>
          </a:prstGeom>
          <a:noFill/>
        </p:spPr>
        <p:txBody>
          <a:bodyPr wrap="square"/>
          <a:lstStyle/>
          <a:p>
            <a:r>
              <a:rPr sz="2400" b="1">
                <a:solidFill>
                  <a:srgbClr val="142034"/>
                </a:solidFill>
                <a:latin typeface="Calibri"/>
              </a:rPr>
              <a:t>Results over 1,169 test windows</a:t>
            </a:r>
          </a:p>
        </p:txBody>
      </p:sp>
      <p:sp>
        <p:nvSpPr>
          <p:cNvPr id="376" name="TextBox 375"/>
          <p:cNvSpPr txBox="1"/>
          <p:nvPr/>
        </p:nvSpPr>
        <p:spPr>
          <a:xfrm>
            <a:off x="502920" y="530352"/>
            <a:ext cx="11155680" cy="274320"/>
          </a:xfrm>
          <a:prstGeom prst="rect">
            <a:avLst/>
          </a:prstGeom>
          <a:noFill/>
        </p:spPr>
        <p:txBody>
          <a:bodyPr wrap="square"/>
          <a:lstStyle/>
          <a:p>
            <a:r>
              <a:rPr sz="1400" b="0">
                <a:solidFill>
                  <a:srgbClr val="5A687A"/>
                </a:solidFill>
                <a:latin typeface="Calibri"/>
              </a:rPr>
              <a:t>Adjusted Rand index, mean ± standard deviation across windows. Higher is better.</a:t>
            </a:r>
          </a:p>
        </p:txBody>
      </p:sp>
      <p:sp>
        <p:nvSpPr>
          <p:cNvPr id="377" name="TextBox 376"/>
          <p:cNvSpPr txBox="1"/>
          <p:nvPr/>
        </p:nvSpPr>
        <p:spPr>
          <a:xfrm>
            <a:off x="365760" y="877824"/>
            <a:ext cx="5623560" cy="274320"/>
          </a:xfrm>
          <a:prstGeom prst="rect">
            <a:avLst/>
          </a:prstGeom>
          <a:noFill/>
        </p:spPr>
        <p:txBody>
          <a:bodyPr wrap="square"/>
          <a:lstStyle/>
          <a:p>
            <a:r>
              <a:rPr sz="1600" b="1">
                <a:solidFill>
                  <a:srgbClr val="C45A20"/>
                </a:solidFill>
                <a:latin typeface="Calibri"/>
              </a:rPr>
              <a:t>Deinterleaving</a:t>
            </a:r>
          </a:p>
        </p:txBody>
      </p:sp>
      <p:graphicFrame>
        <p:nvGraphicFramePr>
          <p:cNvPr id="378" name="Table 377"/>
          <p:cNvGraphicFramePr>
            <a:graphicFrameLocks noGrp="1"/>
          </p:cNvGraphicFramePr>
          <p:nvPr/>
        </p:nvGraphicFramePr>
        <p:xfrm>
          <a:off x="365760" y="1170432"/>
          <a:ext cx="5623559" cy="4160510"/>
        </p:xfrm>
        <a:graphic>
          <a:graphicData uri="http://schemas.openxmlformats.org/drawingml/2006/table">
            <a:tbl>
              <a:tblPr firstRow="0" bandRow="0"/>
              <a:tblGrid>
                <a:gridCol w="3824020"/>
                <a:gridCol w="1799539"/>
              </a:tblGrid>
              <a:tr h="416051">
                <a:tc>
                  <a:txBody>
                    <a:bodyPr wrap="square"/>
                    <a:lstStyle/>
                    <a:p>
                      <a:pPr algn="l"/>
                      <a:r>
                        <a:rPr sz="1200" b="1">
                          <a:solidFill>
                            <a:srgbClr val="FFFFFF"/>
                          </a:solidFill>
                          <a:latin typeface="Calibri"/>
                        </a:rPr>
                        <a:t>Model</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1">
                          <a:solidFill>
                            <a:srgbClr val="FFFFFF"/>
                          </a:solidFill>
                          <a:latin typeface="Calibri"/>
                        </a:rPr>
                        <a:t>ARI</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16051">
                <a:tc>
                  <a:txBody>
                    <a:bodyPr wrap="square"/>
                    <a:lstStyle/>
                    <a:p>
                      <a:pPr algn="l"/>
                      <a:r>
                        <a:rPr sz="1200" b="0">
                          <a:solidFill>
                            <a:srgbClr val="142034"/>
                          </a:solidFill>
                          <a:latin typeface="Calibri"/>
                        </a:rPr>
                        <a:t>Feature DBSCAN</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0.578 ± 0.348</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16051">
                <a:tc>
                  <a:txBody>
                    <a:bodyPr wrap="square"/>
                    <a:lstStyle/>
                    <a:p>
                      <a:pPr algn="l"/>
                      <a:r>
                        <a:rPr sz="1200" b="0">
                          <a:solidFill>
                            <a:srgbClr val="142034"/>
                          </a:solidFill>
                          <a:latin typeface="Calibri"/>
                        </a:rPr>
                        <a:t>Joint Vanilla</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0.948 ± 0.176</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16051">
                <a:tc>
                  <a:txBody>
                    <a:bodyPr wrap="square"/>
                    <a:lstStyle/>
                    <a:p>
                      <a:pPr algn="l"/>
                      <a:r>
                        <a:rPr sz="1200" b="0">
                          <a:solidFill>
                            <a:srgbClr val="142034"/>
                          </a:solidFill>
                          <a:latin typeface="Calibri"/>
                        </a:rPr>
                        <a:t>Emitter-only Vanilla</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0.999 ± 0.012</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16051">
                <a:tc>
                  <a:txBody>
                    <a:bodyPr wrap="square"/>
                    <a:lstStyle/>
                    <a:p>
                      <a:pPr algn="l"/>
                      <a:r>
                        <a:rPr sz="1200" b="0">
                          <a:solidFill>
                            <a:srgbClr val="142034"/>
                          </a:solidFill>
                          <a:latin typeface="Calibri"/>
                        </a:rPr>
                        <a:t>Joint RoPE-TOA</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1.000 ± 0.003</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16051">
                <a:tc>
                  <a:txBody>
                    <a:bodyPr wrap="square"/>
                    <a:lstStyle/>
                    <a:p>
                      <a:pPr algn="l"/>
                      <a:r>
                        <a:rPr sz="1200" b="0">
                          <a:solidFill>
                            <a:srgbClr val="142034"/>
                          </a:solidFill>
                          <a:latin typeface="Calibri"/>
                        </a:rPr>
                        <a:t>Emitter-only RoPE-TOA</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0.998 ± 0.036</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16051">
                <a:tc>
                  <a:txBody>
                    <a:bodyPr wrap="square"/>
                    <a:lstStyle/>
                    <a:p>
                      <a:pPr algn="l"/>
                      <a:r>
                        <a:rPr sz="1200" b="0">
                          <a:solidFill>
                            <a:srgbClr val="142034"/>
                          </a:solidFill>
                          <a:latin typeface="Calibri"/>
                        </a:rPr>
                        <a:t>Joint RoPE-az</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0.973 ± 0.135</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16051">
                <a:tc>
                  <a:txBody>
                    <a:bodyPr wrap="square"/>
                    <a:lstStyle/>
                    <a:p>
                      <a:pPr algn="l"/>
                      <a:r>
                        <a:rPr sz="1200" b="0">
                          <a:solidFill>
                            <a:srgbClr val="142034"/>
                          </a:solidFill>
                          <a:latin typeface="Calibri"/>
                        </a:rPr>
                        <a:t>Joint Bias</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1.000 ± 0.002</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16051">
                <a:tc>
                  <a:txBody>
                    <a:bodyPr wrap="square"/>
                    <a:lstStyle/>
                    <a:p>
                      <a:pPr algn="l"/>
                      <a:r>
                        <a:rPr sz="1200" b="0">
                          <a:solidFill>
                            <a:srgbClr val="142034"/>
                          </a:solidFill>
                          <a:latin typeface="Calibri"/>
                        </a:rPr>
                        <a:t>Emitter-only Bias</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0.840 ± 0.265</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16051">
                <a:tc>
                  <a:txBody>
                    <a:bodyPr wrap="square"/>
                    <a:lstStyle/>
                    <a:p>
                      <a:pPr algn="l"/>
                      <a:r>
                        <a:rPr sz="1200" b="0">
                          <a:solidFill>
                            <a:srgbClr val="142034"/>
                          </a:solidFill>
                          <a:latin typeface="Calibri"/>
                        </a:rPr>
                        <a:t>Joint RoPE-TOA+Bias</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0.851 ± 0.255</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bl>
          </a:graphicData>
        </a:graphic>
      </p:graphicFrame>
      <p:sp>
        <p:nvSpPr>
          <p:cNvPr id="379" name="TextBox 378"/>
          <p:cNvSpPr txBox="1"/>
          <p:nvPr/>
        </p:nvSpPr>
        <p:spPr>
          <a:xfrm>
            <a:off x="6217920" y="877824"/>
            <a:ext cx="5623560" cy="274320"/>
          </a:xfrm>
          <a:prstGeom prst="rect">
            <a:avLst/>
          </a:prstGeom>
          <a:noFill/>
        </p:spPr>
        <p:txBody>
          <a:bodyPr wrap="square"/>
          <a:lstStyle/>
          <a:p>
            <a:r>
              <a:rPr sz="1600" b="1">
                <a:solidFill>
                  <a:srgbClr val="0A7A96"/>
                </a:solidFill>
                <a:latin typeface="Calibri"/>
              </a:rPr>
              <a:t>Mode clustering</a:t>
            </a:r>
          </a:p>
        </p:txBody>
      </p:sp>
      <p:graphicFrame>
        <p:nvGraphicFramePr>
          <p:cNvPr id="380" name="Table 379"/>
          <p:cNvGraphicFramePr>
            <a:graphicFrameLocks noGrp="1"/>
          </p:cNvGraphicFramePr>
          <p:nvPr/>
        </p:nvGraphicFramePr>
        <p:xfrm>
          <a:off x="6217920" y="1170432"/>
          <a:ext cx="5623559" cy="3383280"/>
        </p:xfrm>
        <a:graphic>
          <a:graphicData uri="http://schemas.openxmlformats.org/drawingml/2006/table">
            <a:tbl>
              <a:tblPr firstRow="0" bandRow="0"/>
              <a:tblGrid>
                <a:gridCol w="3824020"/>
                <a:gridCol w="1799539"/>
              </a:tblGrid>
              <a:tr h="422910">
                <a:tc>
                  <a:txBody>
                    <a:bodyPr wrap="square"/>
                    <a:lstStyle/>
                    <a:p>
                      <a:pPr algn="l"/>
                      <a:r>
                        <a:rPr sz="1200" b="1">
                          <a:solidFill>
                            <a:srgbClr val="FFFFFF"/>
                          </a:solidFill>
                          <a:latin typeface="Calibri"/>
                        </a:rPr>
                        <a:t>Model</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1">
                          <a:solidFill>
                            <a:srgbClr val="FFFFFF"/>
                          </a:solidFill>
                          <a:latin typeface="Calibri"/>
                        </a:rPr>
                        <a:t>ARI</a:t>
                      </a:r>
                    </a:p>
                  </a:txBody>
                  <a:tcPr anchor="ctr" marL="73152" marR="54864" marT="27432" marB="27432">
                    <a:solidFill>
                      <a:srgbClr val="142034"/>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22910">
                <a:tc>
                  <a:txBody>
                    <a:bodyPr wrap="square"/>
                    <a:lstStyle/>
                    <a:p>
                      <a:pPr algn="l"/>
                      <a:r>
                        <a:rPr sz="1200" b="0">
                          <a:solidFill>
                            <a:srgbClr val="142034"/>
                          </a:solidFill>
                          <a:latin typeface="Calibri"/>
                        </a:rPr>
                        <a:t>Feature DBSCAN</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0.811 ± 0.250</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22910">
                <a:tc>
                  <a:txBody>
                    <a:bodyPr wrap="square"/>
                    <a:lstStyle/>
                    <a:p>
                      <a:pPr algn="l"/>
                      <a:r>
                        <a:rPr sz="1200" b="0">
                          <a:solidFill>
                            <a:srgbClr val="142034"/>
                          </a:solidFill>
                          <a:latin typeface="Calibri"/>
                        </a:rPr>
                        <a:t>Joint Vanilla</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0.985 ± 0.107</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22910">
                <a:tc>
                  <a:txBody>
                    <a:bodyPr wrap="square"/>
                    <a:lstStyle/>
                    <a:p>
                      <a:pPr algn="l"/>
                      <a:r>
                        <a:rPr sz="1200" b="0">
                          <a:solidFill>
                            <a:srgbClr val="142034"/>
                          </a:solidFill>
                          <a:latin typeface="Calibri"/>
                        </a:rPr>
                        <a:t>Mode-only Vanilla</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0.983 ± 0.110</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22910">
                <a:tc>
                  <a:txBody>
                    <a:bodyPr wrap="square"/>
                    <a:lstStyle/>
                    <a:p>
                      <a:pPr algn="l"/>
                      <a:r>
                        <a:rPr sz="1200" b="0">
                          <a:solidFill>
                            <a:srgbClr val="142034"/>
                          </a:solidFill>
                          <a:latin typeface="Calibri"/>
                        </a:rPr>
                        <a:t>Joint RoPE-TOA</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0.991 ± 0.075</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22910">
                <a:tc>
                  <a:txBody>
                    <a:bodyPr wrap="square"/>
                    <a:lstStyle/>
                    <a:p>
                      <a:pPr algn="l"/>
                      <a:r>
                        <a:rPr sz="1200" b="0">
                          <a:solidFill>
                            <a:srgbClr val="142034"/>
                          </a:solidFill>
                          <a:latin typeface="Calibri"/>
                        </a:rPr>
                        <a:t>Joint RoPE-az</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0.983 ± 0.102</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22910">
                <a:tc>
                  <a:txBody>
                    <a:bodyPr wrap="square"/>
                    <a:lstStyle/>
                    <a:p>
                      <a:pPr algn="l"/>
                      <a:r>
                        <a:rPr sz="1200" b="0">
                          <a:solidFill>
                            <a:srgbClr val="142034"/>
                          </a:solidFill>
                          <a:latin typeface="Calibri"/>
                        </a:rPr>
                        <a:t>Joint Bias</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0.992 ± 0.081</a:t>
                      </a:r>
                    </a:p>
                  </a:txBody>
                  <a:tcPr anchor="ctr" marL="73152" marR="54864" marT="27432" marB="27432">
                    <a:solidFill>
                      <a:srgbClr val="F4F6F8"/>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r h="422910">
                <a:tc>
                  <a:txBody>
                    <a:bodyPr wrap="square"/>
                    <a:lstStyle/>
                    <a:p>
                      <a:pPr algn="l"/>
                      <a:r>
                        <a:rPr sz="1200" b="0">
                          <a:solidFill>
                            <a:srgbClr val="142034"/>
                          </a:solidFill>
                          <a:latin typeface="Calibri"/>
                        </a:rPr>
                        <a:t>Joint RoPE-TOA+Bias</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c>
                  <a:txBody>
                    <a:bodyPr wrap="square"/>
                    <a:lstStyle/>
                    <a:p>
                      <a:pPr algn="r"/>
                      <a:r>
                        <a:rPr sz="1200" b="0">
                          <a:solidFill>
                            <a:srgbClr val="142034"/>
                          </a:solidFill>
                          <a:latin typeface="Calibri"/>
                        </a:rPr>
                        <a:t>0.977 ± 0.112</a:t>
                      </a:r>
                    </a:p>
                  </a:txBody>
                  <a:tcPr anchor="ctr" marL="73152" marR="54864" marT="27432" marB="27432">
                    <a:solidFill>
                      <a:srgbClr val="FFFFFF"/>
                    </a:solidFill>
                    <a:lnL w="6350" cap="flat" cmpd="sng">
                      <a:solidFill>
                        <a:srgbClr val="D5DBE3"/>
                      </a:solidFill>
                    </a:lnL>
                    <a:lnR w="6350" cap="flat" cmpd="sng">
                      <a:solidFill>
                        <a:srgbClr val="D5DBE3"/>
                      </a:solidFill>
                    </a:lnR>
                    <a:lnT w="6350" cap="flat" cmpd="sng">
                      <a:solidFill>
                        <a:srgbClr val="D5DBE3"/>
                      </a:solidFill>
                    </a:lnT>
                    <a:lnB w="6350" cap="flat" cmpd="sng">
                      <a:solidFill>
                        <a:srgbClr val="D5DBE3"/>
                      </a:solidFill>
                    </a:lnB>
                  </a:tcPr>
                </a:tc>
              </a:tr>
            </a:tbl>
          </a:graphicData>
        </a:graphic>
      </p:graphicFrame>
      <p:sp>
        <p:nvSpPr>
          <p:cNvPr id="381" name="TextBox 380"/>
          <p:cNvSpPr txBox="1"/>
          <p:nvPr/>
        </p:nvSpPr>
        <p:spPr>
          <a:xfrm>
            <a:off x="411480" y="5532120"/>
            <a:ext cx="11338560" cy="868680"/>
          </a:xfrm>
          <a:prstGeom prst="rect">
            <a:avLst/>
          </a:prstGeom>
          <a:noFill/>
        </p:spPr>
        <p:txBody>
          <a:bodyPr wrap="square"/>
          <a:lstStyle/>
          <a:p>
            <a:r>
              <a:rPr sz="1400" b="0">
                <a:solidFill>
                  <a:srgbClr val="5A687A"/>
                </a:solidFill>
                <a:latin typeface="Calibri"/>
              </a:rPr>
              <a:t>Mode-only RoPE and Bias are not in the report, so they are not here. Joint RoPE-TOA and joint Bias close the emitter gap. Emitter-only Bias and stacking both mechanisms reopen it.</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5"/>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5"/>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p15"/>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5"/>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390" name="Google Shape;390;p15"/>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16 / 19</a:t>
            </a:r>
            <a:endParaRPr b="0" i="0" sz="1400" u="none" cap="none" strike="noStrike">
              <a:solidFill>
                <a:srgbClr val="000000"/>
              </a:solidFill>
              <a:latin typeface="Arial"/>
              <a:ea typeface="Arial"/>
              <a:cs typeface="Arial"/>
              <a:sym typeface="Arial"/>
            </a:endParaRPr>
          </a:p>
        </p:txBody>
      </p:sp>
      <p:sp>
        <p:nvSpPr>
          <p:cNvPr id="391" name="TextBox 390"/>
          <p:cNvSpPr txBox="1"/>
          <p:nvPr/>
        </p:nvSpPr>
        <p:spPr>
          <a:xfrm>
            <a:off x="502920" y="201168"/>
            <a:ext cx="11155680" cy="384048"/>
          </a:xfrm>
          <a:prstGeom prst="rect">
            <a:avLst/>
          </a:prstGeom>
          <a:noFill/>
        </p:spPr>
        <p:txBody>
          <a:bodyPr wrap="square"/>
          <a:lstStyle/>
          <a:p>
            <a:r>
              <a:rPr sz="2400" b="1">
                <a:solidFill>
                  <a:srgbClr val="142034"/>
                </a:solidFill>
                <a:latin typeface="Calibri"/>
              </a:rPr>
              <a:t>Where the errors sit</a:t>
            </a:r>
          </a:p>
        </p:txBody>
      </p:sp>
      <p:sp>
        <p:nvSpPr>
          <p:cNvPr id="392" name="TextBox 391"/>
          <p:cNvSpPr txBox="1"/>
          <p:nvPr/>
        </p:nvSpPr>
        <p:spPr>
          <a:xfrm>
            <a:off x="502920" y="731520"/>
            <a:ext cx="11155680" cy="5486400"/>
          </a:xfrm>
          <a:prstGeom prst="rect">
            <a:avLst/>
          </a:prstGeom>
          <a:noFill/>
        </p:spPr>
        <p:txBody>
          <a:bodyPr wrap="square"/>
          <a:lstStyle/>
          <a:p>
            <a:pPr>
              <a:lnSpc>
                <a:spcPct val="105000"/>
              </a:lnSpc>
              <a:spcAft>
                <a:spcPts val="800"/>
              </a:spcAft>
            </a:pPr>
            <a:r>
              <a:rPr sz="1600" b="0">
                <a:solidFill>
                  <a:srgbClr val="142034"/>
                </a:solidFill>
                <a:latin typeface="Calibri"/>
              </a:rPr>
              <a:t>•  Joint Vanilla deinterleaves most windows: 88% have emitter ARI at or above 0.99. About one window in ten falls below 0.90. Those are crowded mixtures.</a:t>
            </a:r>
          </a:p>
          <a:p>
            <a:pPr>
              <a:lnSpc>
                <a:spcPct val="105000"/>
              </a:lnSpc>
              <a:spcAft>
                <a:spcPts val="800"/>
              </a:spcAft>
            </a:pPr>
            <a:r>
              <a:rPr sz="1600" b="0">
                <a:solidFill>
                  <a:srgbClr val="142034"/>
                </a:solidFill>
                <a:latin typeface="Calibri"/>
              </a:rPr>
              <a:t>•  RoPE-TOA and the bias remove that tail. 99% of windows sit at or above 0.99, and none fall below 0.90.</a:t>
            </a:r>
          </a:p>
          <a:p>
            <a:pPr>
              <a:lnSpc>
                <a:spcPct val="105000"/>
              </a:lnSpc>
              <a:spcAft>
                <a:spcPts val="800"/>
              </a:spcAft>
            </a:pPr>
            <a:r>
              <a:rPr sz="1600" b="0">
                <a:solidFill>
                  <a:srgbClr val="142034"/>
                </a:solidFill>
                <a:latin typeface="Calibri"/>
              </a:rPr>
              <a:t>•  Emitter-only Vanilla is already at that ceiling, ARI 0.999. There is no clear winner between it and joint RoPE-TOA on deinterleaving.</a:t>
            </a:r>
          </a:p>
          <a:p>
            <a:pPr>
              <a:lnSpc>
                <a:spcPct val="105000"/>
              </a:lnSpc>
              <a:spcAft>
                <a:spcPts val="800"/>
              </a:spcAft>
            </a:pPr>
            <a:r>
              <a:rPr sz="1600" b="0">
                <a:solidFill>
                  <a:srgbClr val="142034"/>
                </a:solidFill>
                <a:latin typeface="Calibri"/>
              </a:rPr>
              <a:t>•  Emitter-only Bias does not get there: mean emitter ARI 0.840. The bias is not a deinterleaving-only model.</a:t>
            </a:r>
          </a:p>
          <a:p>
            <a:pPr>
              <a:lnSpc>
                <a:spcPct val="105000"/>
              </a:lnSpc>
              <a:spcAft>
                <a:spcPts val="800"/>
              </a:spcAft>
            </a:pPr>
            <a:r>
              <a:rPr sz="1600" b="0">
                <a:solidFill>
                  <a:srgbClr val="142034"/>
                </a:solidFill>
                <a:latin typeface="Calibri"/>
              </a:rPr>
              <a:t>•  RoPE on incidence reaches 0.973, with 4.6% of windows below 0.90, and does not match rotation by time of arrival. Stacking the two mechanisms falls to 0.851, and 31% of windows fall below 0.90.</a:t>
            </a:r>
          </a:p>
          <a:p>
            <a:pPr>
              <a:lnSpc>
                <a:spcPct val="105000"/>
              </a:lnSpc>
              <a:spcAft>
                <a:spcPts val="800"/>
              </a:spcAft>
            </a:pPr>
            <a:r>
              <a:rPr sz="1600" b="0">
                <a:solidFill>
                  <a:srgbClr val="142034"/>
                </a:solidFill>
                <a:latin typeface="Calibri"/>
              </a:rPr>
              <a:t>•  Modes move much less. Joint Vanilla is 0.985 against 0.983 for mode-only, and only 2.5% of its mode windows fall below 0.90.</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6"/>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16"/>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16"/>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401" name="Google Shape;401;p16"/>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17 / 19</a:t>
            </a:r>
            <a:endParaRPr b="0" i="0" sz="1400" u="none" cap="none" strike="noStrike">
              <a:solidFill>
                <a:srgbClr val="000000"/>
              </a:solidFill>
              <a:latin typeface="Arial"/>
              <a:ea typeface="Arial"/>
              <a:cs typeface="Arial"/>
              <a:sym typeface="Arial"/>
            </a:endParaRPr>
          </a:p>
        </p:txBody>
      </p:sp>
      <p:sp>
        <p:nvSpPr>
          <p:cNvPr id="402" name="TextBox 401"/>
          <p:cNvSpPr txBox="1"/>
          <p:nvPr/>
        </p:nvSpPr>
        <p:spPr>
          <a:xfrm>
            <a:off x="502920" y="201168"/>
            <a:ext cx="11155680" cy="384048"/>
          </a:xfrm>
          <a:prstGeom prst="rect">
            <a:avLst/>
          </a:prstGeom>
          <a:noFill/>
        </p:spPr>
        <p:txBody>
          <a:bodyPr wrap="square"/>
          <a:lstStyle/>
          <a:p>
            <a:r>
              <a:rPr sz="2400" b="1">
                <a:solidFill>
                  <a:srgbClr val="142034"/>
                </a:solidFill>
                <a:latin typeface="Calibri"/>
              </a:rPr>
              <a:t>Conclusion</a:t>
            </a:r>
          </a:p>
        </p:txBody>
      </p:sp>
      <p:sp>
        <p:nvSpPr>
          <p:cNvPr id="403" name="TextBox 402"/>
          <p:cNvSpPr txBox="1"/>
          <p:nvPr/>
        </p:nvSpPr>
        <p:spPr>
          <a:xfrm>
            <a:off x="502920" y="713232"/>
            <a:ext cx="11155680" cy="292608"/>
          </a:xfrm>
          <a:prstGeom prst="rect">
            <a:avLst/>
          </a:prstGeom>
          <a:noFill/>
        </p:spPr>
        <p:txBody>
          <a:bodyPr wrap="square"/>
          <a:lstStyle/>
          <a:p>
            <a:r>
              <a:rPr sz="1800" b="1">
                <a:solidFill>
                  <a:srgbClr val="C45A20"/>
                </a:solidFill>
                <a:latin typeface="Calibri"/>
              </a:rPr>
              <a:t>Deinterleaving</a:t>
            </a:r>
          </a:p>
        </p:txBody>
      </p:sp>
      <p:sp>
        <p:nvSpPr>
          <p:cNvPr id="404" name="TextBox 403"/>
          <p:cNvSpPr txBox="1"/>
          <p:nvPr/>
        </p:nvSpPr>
        <p:spPr>
          <a:xfrm>
            <a:off x="502920" y="1078992"/>
            <a:ext cx="11155680" cy="2468880"/>
          </a:xfrm>
          <a:prstGeom prst="rect">
            <a:avLst/>
          </a:prstGeom>
          <a:noFill/>
        </p:spPr>
        <p:txBody>
          <a:bodyPr wrap="square"/>
          <a:lstStyle/>
          <a:p>
            <a:pPr>
              <a:lnSpc>
                <a:spcPct val="105000"/>
              </a:lnSpc>
              <a:spcAft>
                <a:spcPts val="800"/>
              </a:spcAft>
            </a:pPr>
            <a:r>
              <a:rPr sz="1600" b="0">
                <a:solidFill>
                  <a:srgbClr val="142034"/>
                </a:solidFill>
                <a:latin typeface="Calibri"/>
              </a:rPr>
              <a:t>•  Under standard attention the joint loss costs emitters: 0.948 against 0.999 for an emitter-only encoder.</a:t>
            </a:r>
          </a:p>
          <a:p>
            <a:pPr>
              <a:lnSpc>
                <a:spcPct val="105000"/>
              </a:lnSpc>
              <a:spcAft>
                <a:spcPts val="800"/>
              </a:spcAft>
            </a:pPr>
            <a:r>
              <a:rPr sz="1600" b="0">
                <a:solidFill>
                  <a:srgbClr val="142034"/>
                </a:solidFill>
                <a:latin typeface="Calibri"/>
              </a:rPr>
              <a:t>•  Once time is in the attention product, the joint encoder is at par. Joint RoPE-TOA and joint Bias reach 1.000. The margin over emitter-only Vanilla is too small to call a winner.</a:t>
            </a:r>
          </a:p>
          <a:p>
            <a:pPr>
              <a:lnSpc>
                <a:spcPct val="105000"/>
              </a:lnSpc>
              <a:spcAft>
                <a:spcPts val="800"/>
              </a:spcAft>
            </a:pPr>
            <a:r>
              <a:rPr sz="1600" b="0">
                <a:solidFill>
                  <a:srgbClr val="142034"/>
                </a:solidFill>
                <a:latin typeface="Calibri"/>
              </a:rPr>
              <a:t>•  Two variants do not work. Stacking both mechanisms scores 0.851. Training the bias for deinterleaving alone scores 0.840.</a:t>
            </a:r>
          </a:p>
        </p:txBody>
      </p:sp>
      <p:sp>
        <p:nvSpPr>
          <p:cNvPr id="405" name="TextBox 404"/>
          <p:cNvSpPr txBox="1"/>
          <p:nvPr/>
        </p:nvSpPr>
        <p:spPr>
          <a:xfrm>
            <a:off x="502920" y="3703320"/>
            <a:ext cx="11155680" cy="292608"/>
          </a:xfrm>
          <a:prstGeom prst="rect">
            <a:avLst/>
          </a:prstGeom>
          <a:noFill/>
        </p:spPr>
        <p:txBody>
          <a:bodyPr wrap="square"/>
          <a:lstStyle/>
          <a:p>
            <a:r>
              <a:rPr sz="1800" b="1">
                <a:solidFill>
                  <a:srgbClr val="0A7A96"/>
                </a:solidFill>
                <a:latin typeface="Calibri"/>
              </a:rPr>
              <a:t>Mode clustering</a:t>
            </a:r>
          </a:p>
        </p:txBody>
      </p:sp>
      <p:sp>
        <p:nvSpPr>
          <p:cNvPr id="406" name="TextBox 405"/>
          <p:cNvSpPr txBox="1"/>
          <p:nvPr/>
        </p:nvSpPr>
        <p:spPr>
          <a:xfrm>
            <a:off x="502920" y="4069080"/>
            <a:ext cx="11155680" cy="2103120"/>
          </a:xfrm>
          <a:prstGeom prst="rect">
            <a:avLst/>
          </a:prstGeom>
          <a:noFill/>
        </p:spPr>
        <p:txBody>
          <a:bodyPr wrap="square"/>
          <a:lstStyle/>
          <a:p>
            <a:pPr>
              <a:lnSpc>
                <a:spcPct val="105000"/>
              </a:lnSpc>
              <a:spcAft>
                <a:spcPts val="800"/>
              </a:spcAft>
            </a:pPr>
            <a:r>
              <a:rPr sz="1600" b="0">
                <a:solidFill>
                  <a:srgbClr val="142034"/>
                </a:solidFill>
                <a:latin typeface="Calibri"/>
              </a:rPr>
              <a:t>•  The joint model is slightly above mode-only Vanilla, already under standard attention (0.985 against 0.983), and a little higher again with RoPE-TOA or the bias.</a:t>
            </a:r>
          </a:p>
          <a:p>
            <a:pPr>
              <a:lnSpc>
                <a:spcPct val="105000"/>
              </a:lnSpc>
              <a:spcAft>
                <a:spcPts val="800"/>
              </a:spcAft>
            </a:pPr>
            <a:r>
              <a:rPr sz="1600" b="0">
                <a:solidFill>
                  <a:srgbClr val="142034"/>
                </a:solidFill>
                <a:latin typeface="Calibri"/>
              </a:rPr>
              <a:t>•  A mode stage on the trains of an emitter-only encoder was not scored. Held-out modulations were not scored either.</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7"/>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p17"/>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17"/>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p17"/>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419" name="Google Shape;419;p17"/>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18 / 19</a:t>
            </a:r>
            <a:endParaRPr b="0" i="0" sz="1400" u="none" cap="none" strike="noStrike">
              <a:solidFill>
                <a:srgbClr val="000000"/>
              </a:solidFill>
              <a:latin typeface="Arial"/>
              <a:ea typeface="Arial"/>
              <a:cs typeface="Arial"/>
              <a:sym typeface="Arial"/>
            </a:endParaRPr>
          </a:p>
        </p:txBody>
      </p:sp>
      <p:sp>
        <p:nvSpPr>
          <p:cNvPr id="420" name="TextBox 419"/>
          <p:cNvSpPr txBox="1"/>
          <p:nvPr/>
        </p:nvSpPr>
        <p:spPr>
          <a:xfrm>
            <a:off x="502920" y="201168"/>
            <a:ext cx="11155680" cy="384048"/>
          </a:xfrm>
          <a:prstGeom prst="rect">
            <a:avLst/>
          </a:prstGeom>
          <a:noFill/>
        </p:spPr>
        <p:txBody>
          <a:bodyPr wrap="square"/>
          <a:lstStyle/>
          <a:p>
            <a:r>
              <a:rPr sz="2400" b="1">
                <a:solidFill>
                  <a:srgbClr val="142034"/>
                </a:solidFill>
                <a:latin typeface="Calibri"/>
              </a:rPr>
              <a:t>Further work</a:t>
            </a:r>
          </a:p>
        </p:txBody>
      </p:sp>
      <p:sp>
        <p:nvSpPr>
          <p:cNvPr id="421" name="TextBox 420"/>
          <p:cNvSpPr txBox="1"/>
          <p:nvPr/>
        </p:nvSpPr>
        <p:spPr>
          <a:xfrm>
            <a:off x="502920" y="731520"/>
            <a:ext cx="11155680" cy="5486400"/>
          </a:xfrm>
          <a:prstGeom prst="rect">
            <a:avLst/>
          </a:prstGeom>
          <a:noFill/>
        </p:spPr>
        <p:txBody>
          <a:bodyPr wrap="square"/>
          <a:lstStyle/>
          <a:p>
            <a:pPr>
              <a:lnSpc>
                <a:spcPct val="105000"/>
              </a:lnSpc>
              <a:spcAft>
                <a:spcPts val="800"/>
              </a:spcAft>
            </a:pPr>
            <a:r>
              <a:rPr sz="1600" b="0">
                <a:solidFill>
                  <a:srgbClr val="142034"/>
                </a:solidFill>
                <a:latin typeface="Calibri"/>
              </a:rPr>
              <a:t>•  Across windows. A score covers 2,000 pulses. The same emitter in the next window is not linked. One approach is to cluster the mean embedding of each window cluster over the recording.</a:t>
            </a:r>
          </a:p>
          <a:p>
            <a:pPr>
              <a:lnSpc>
                <a:spcPct val="105000"/>
              </a:lnSpc>
              <a:spcAft>
                <a:spcPts val="800"/>
              </a:spcAft>
            </a:pPr>
            <a:r>
              <a:rPr sz="1600" b="0">
                <a:solidFill>
                  <a:srgbClr val="142034"/>
                </a:solidFill>
                <a:latin typeface="Calibri"/>
              </a:rPr>
              <a:t>•  A live stream. The encoder reads a whole block. A cache of keys and values would let a new pulse attend to that block without a full forward pass.</a:t>
            </a:r>
          </a:p>
          <a:p>
            <a:pPr>
              <a:lnSpc>
                <a:spcPct val="105000"/>
              </a:lnSpc>
              <a:spcAft>
                <a:spcPts val="800"/>
              </a:spcAft>
            </a:pPr>
            <a:r>
              <a:rPr sz="1600" b="0">
                <a:solidFill>
                  <a:srgbClr val="142034"/>
                </a:solidFill>
                <a:latin typeface="Calibri"/>
              </a:rPr>
              <a:t>•  Model size. About 16 million parameters, while most windows already sit at the ceiling. A narrower or shallower stack was not tried.</a:t>
            </a:r>
          </a:p>
          <a:p>
            <a:pPr>
              <a:lnSpc>
                <a:spcPct val="105000"/>
              </a:lnSpc>
              <a:spcAft>
                <a:spcPts val="800"/>
              </a:spcAft>
            </a:pPr>
            <a:r>
              <a:rPr sz="1600" b="0">
                <a:solidFill>
                  <a:srgbClr val="142034"/>
                </a:solidFill>
                <a:latin typeface="Calibri"/>
              </a:rPr>
              <a:t>•  The two losses are added with equal weight. A higher weight on the emitter term might remove the Vanilla tax without giving up the modes.</a:t>
            </a:r>
          </a:p>
          <a:p>
            <a:pPr>
              <a:lnSpc>
                <a:spcPct val="105000"/>
              </a:lnSpc>
              <a:spcAft>
                <a:spcPts val="800"/>
              </a:spcAft>
            </a:pPr>
            <a:r>
              <a:rPr sz="1600" b="0">
                <a:solidFill>
                  <a:srgbClr val="142034"/>
                </a:solidFill>
                <a:latin typeface="Calibri"/>
              </a:rPr>
              <a:t>•  Catalogue names. A linear head on the frozen mode embeddings would name types seen in training. Clustering would remain the decoder for types outside the catalogue.</a:t>
            </a:r>
          </a:p>
          <a:p>
            <a:pPr>
              <a:lnSpc>
                <a:spcPct val="105000"/>
              </a:lnSpc>
              <a:spcAft>
                <a:spcPts val="800"/>
              </a:spcAft>
            </a:pPr>
            <a:r>
              <a:rPr sz="1600" b="0">
                <a:solidFill>
                  <a:srgbClr val="142034"/>
                </a:solidFill>
                <a:latin typeface="Calibri"/>
              </a:rPr>
              <a:t>•  Not in this study: held-out modulation types, operational recordings, and a classical mode stage after deinterleaving.</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8"/>
          <p:cNvSpPr/>
          <p:nvPr/>
        </p:nvSpPr>
        <p:spPr>
          <a:xfrm>
            <a:off x="0" y="0"/>
            <a:ext cx="12191695"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18"/>
          <p:cNvSpPr/>
          <p:nvPr/>
        </p:nvSpPr>
        <p:spPr>
          <a:xfrm>
            <a:off x="0" y="0"/>
            <a:ext cx="12191695" cy="64008"/>
          </a:xfrm>
          <a:prstGeom prst="rect">
            <a:avLst/>
          </a:prstGeom>
          <a:solidFill>
            <a:srgbClr val="0A7A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18"/>
          <p:cNvSpPr/>
          <p:nvPr/>
        </p:nvSpPr>
        <p:spPr>
          <a:xfrm>
            <a:off x="0" y="6510528"/>
            <a:ext cx="12191695" cy="347472"/>
          </a:xfrm>
          <a:prstGeom prst="rect">
            <a:avLst/>
          </a:prstGeom>
          <a:solidFill>
            <a:srgbClr val="F5F7F9"/>
          </a:solidFill>
          <a:ln cap="flat" cmpd="sng" w="12700">
            <a:solidFill>
              <a:srgbClr val="D2DA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p18"/>
          <p:cNvSpPr txBox="1"/>
          <p:nvPr/>
        </p:nvSpPr>
        <p:spPr>
          <a:xfrm>
            <a:off x="411480" y="6528816"/>
            <a:ext cx="93268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Internal briefing  ·  Saab  ·  KTH master's thesis  ·  Markus Johnson Swegmark</a:t>
            </a:r>
            <a:endParaRPr b="0" i="0" sz="1400" u="none" cap="none" strike="noStrike">
              <a:solidFill>
                <a:srgbClr val="000000"/>
              </a:solidFill>
              <a:latin typeface="Arial"/>
              <a:ea typeface="Arial"/>
              <a:cs typeface="Arial"/>
              <a:sym typeface="Arial"/>
            </a:endParaRPr>
          </a:p>
        </p:txBody>
      </p:sp>
      <p:sp>
        <p:nvSpPr>
          <p:cNvPr id="437" name="Google Shape;437;p18"/>
          <p:cNvSpPr txBox="1"/>
          <p:nvPr/>
        </p:nvSpPr>
        <p:spPr>
          <a:xfrm>
            <a:off x="10911535" y="6528816"/>
            <a:ext cx="960120" cy="2926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5A687A"/>
                </a:solidFill>
                <a:latin typeface="Calibri"/>
                <a:ea typeface="Calibri"/>
                <a:cs typeface="Calibri"/>
                <a:sym typeface="Calibri"/>
              </a:rPr>
              <a:t>19 / 19</a:t>
            </a:r>
            <a:endParaRPr b="0" i="0" sz="1400" u="none" cap="none" strike="noStrike">
              <a:solidFill>
                <a:srgbClr val="000000"/>
              </a:solidFill>
              <a:latin typeface="Arial"/>
              <a:ea typeface="Arial"/>
              <a:cs typeface="Arial"/>
              <a:sym typeface="Arial"/>
            </a:endParaRPr>
          </a:p>
        </p:txBody>
      </p:sp>
      <p:sp>
        <p:nvSpPr>
          <p:cNvPr id="438" name="Google Shape;438;p18"/>
          <p:cNvSpPr txBox="1"/>
          <p:nvPr/>
        </p:nvSpPr>
        <p:spPr>
          <a:xfrm>
            <a:off x="502920" y="2331720"/>
            <a:ext cx="11155680" cy="1463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4400" u="none" cap="none" strike="noStrike">
                <a:solidFill>
                  <a:srgbClr val="142034"/>
                </a:solidFill>
                <a:latin typeface="Calibri"/>
                <a:ea typeface="Calibri"/>
                <a:cs typeface="Calibri"/>
                <a:sym typeface="Calibri"/>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