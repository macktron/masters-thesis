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Internal walkthrough, not a defence. Data and the two attention tricks first.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Classical chain deinterleaves first. We want both partitions from the mixed list. Answers at the end.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the amplitude panel. Gaps between purple lobes are the rotation.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Why attention rather than an O(L) state. Feature DBSCAN completeness 0.52 on emitters.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two similarities can fight in the trunk. Do not claim a Mamba bake-off.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Next two slides are the animations. Let them play once.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Vanilla already has ToA as a channel. RoPE puts Δt into every query-key product.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cache skips rebuild, not the quadratic subtract. RoPE is the cheap twin.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RQ1 is yes, with a leftover deinterleaving tail. Mode is already easier in the raw PDWs.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RQ2 is no for deinterleaving alone. RQ3 is yes for time, no for stacking. Do not recommend Bias for production.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Stop. Questions. Mamba: not compared. Real data: not scored. Tracks: future 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1.mp4"/><Relationship Id="rId3" Type="http://schemas.openxmlformats.org/officeDocument/2006/relationships/video" Target="../media/media1.mp4"/><Relationship Id="rId4" Type="http://schemas.openxmlformats.org/officeDocument/2006/relationships/image" Target="../media/image6.png"/><Relationship Id="rId5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2.mp4"/><Relationship Id="rId3" Type="http://schemas.openxmlformats.org/officeDocument/2006/relationships/video" Target="../media/media2.mp4"/><Relationship Id="rId4" Type="http://schemas.openxmlformats.org/officeDocument/2006/relationships/image" Target="../media/image7.png"/><Relationship Id="rId5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0A7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325880"/>
            <a:ext cx="109728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0A7A96"/>
                </a:solidFill>
                <a:latin typeface="Calibri"/>
              </a:rPr>
              <a:t>INTERNAL BRIEFING  ·  SAAB / KTH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72800" cy="1371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400" b="1" i="0">
                <a:solidFill>
                  <a:srgbClr val="142034"/>
                </a:solidFill>
                <a:latin typeface="Calibri"/>
              </a:rPr>
              <a:t>Joint emitter and mode clustering
from mixed PDW streams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246120"/>
            <a:ext cx="1051560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0" i="0">
                <a:solidFill>
                  <a:srgbClr val="5A687A"/>
                </a:solidFill>
                <a:latin typeface="Calibri"/>
              </a:rPr>
              <a:t>What the data looks like, how the encoder works, and which scores actually moved.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069080"/>
            <a:ext cx="109728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A7A96"/>
                </a:solidFill>
                <a:latin typeface="Calibri"/>
              </a:rPr>
              <a:t>Problem   ·   Data   ·   Encoder   ·   RoPE / bias   ·   Takeaways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029200"/>
            <a:ext cx="1005840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142034"/>
                </a:solidFill>
                <a:latin typeface="Calibri"/>
              </a:rPr>
              <a:t>Markus Johnson Swegmark
Supervisors: Alexander Karlsson, Elin Ohlman (Saab)  ·  Saikat Chatterjee (KTH)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5F7F9"/>
          </a:solidFill>
          <a:ln w="12700">
            <a:solidFill>
              <a:srgbClr val="D2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6528816"/>
            <a:ext cx="93268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100" b="0" i="0">
                <a:solidFill>
                  <a:srgbClr val="5A687A"/>
                </a:solidFill>
                <a:latin typeface="Calibri"/>
              </a:rPr>
              <a:t>Internal briefing  ·  Saab  ·  KTH master's thesis  ·  Markus Johnson Swegmark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11535" y="6528816"/>
            <a:ext cx="96012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100" b="0" i="0">
                <a:solidFill>
                  <a:srgbClr val="5A687A"/>
                </a:solidFill>
                <a:latin typeface="Calibri"/>
              </a:rPr>
              <a:t>1 / 11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0A7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28600"/>
            <a:ext cx="1097280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 i="0">
                <a:solidFill>
                  <a:srgbClr val="142034"/>
                </a:solidFill>
                <a:latin typeface="Calibri"/>
              </a:rPr>
              <a:t>One mixed stream, two partitions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9768" y="640080"/>
            <a:ext cx="8105618" cy="2478024"/>
          </a:xfrm>
          <a:prstGeom prst="roundRect">
            <a:avLst>
              <a:gd name="adj" fmla="val 4000"/>
            </a:avLst>
          </a:prstGeom>
          <a:solidFill>
            <a:srgbClr val="F3F6F8"/>
          </a:solidFill>
          <a:ln w="12700">
            <a:solidFill>
              <a:srgbClr val="D2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nterleaved_stre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713232"/>
            <a:ext cx="7959314" cy="23317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02920" y="3246120"/>
            <a:ext cx="5486400" cy="2880360"/>
          </a:xfrm>
          <a:prstGeom prst="roundRect">
            <a:avLst>
              <a:gd name="adj" fmla="val 8000"/>
            </a:avLst>
          </a:prstGeom>
          <a:solidFill>
            <a:srgbClr val="F3F6F8"/>
          </a:solidFill>
          <a:ln w="12700">
            <a:solidFill>
              <a:srgbClr val="D2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3383280"/>
            <a:ext cx="512064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C45A20"/>
                </a:solidFill>
                <a:latin typeface="Calibri"/>
              </a:rPr>
              <a:t>Emitter  ·  deinterleaving</a:t>
            </a:r>
          </a:p>
        </p:txBody>
      </p:sp>
      <p:sp>
        <p:nvSpPr>
          <p:cNvPr id="9" name="Oval 8"/>
          <p:cNvSpPr/>
          <p:nvPr/>
        </p:nvSpPr>
        <p:spPr>
          <a:xfrm>
            <a:off x="685800" y="3886200"/>
            <a:ext cx="109728" cy="109728"/>
          </a:xfrm>
          <a:prstGeom prst="ellipse">
            <a:avLst/>
          </a:prstGeom>
          <a:solidFill>
            <a:srgbClr val="0A7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41832" y="3794760"/>
            <a:ext cx="4818888" cy="5760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142034"/>
                </a:solidFill>
                <a:latin typeface="Calibri"/>
              </a:rPr>
              <a:t>IDs unique only inside this recording.</a:t>
            </a:r>
          </a:p>
        </p:txBody>
      </p:sp>
      <p:sp>
        <p:nvSpPr>
          <p:cNvPr id="11" name="Oval 10"/>
          <p:cNvSpPr/>
          <p:nvPr/>
        </p:nvSpPr>
        <p:spPr>
          <a:xfrm>
            <a:off x="685800" y="4389120"/>
            <a:ext cx="109728" cy="109728"/>
          </a:xfrm>
          <a:prstGeom prst="ellipse">
            <a:avLst/>
          </a:prstGeom>
          <a:solidFill>
            <a:srgbClr val="0A7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41832" y="4297680"/>
            <a:ext cx="4818888" cy="5760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142034"/>
                </a:solidFill>
                <a:latin typeface="Calibri"/>
              </a:rPr>
              <a:t>Unknown how many platforms are present.</a:t>
            </a:r>
          </a:p>
        </p:txBody>
      </p:sp>
      <p:sp>
        <p:nvSpPr>
          <p:cNvPr id="13" name="Oval 12"/>
          <p:cNvSpPr/>
          <p:nvPr/>
        </p:nvSpPr>
        <p:spPr>
          <a:xfrm>
            <a:off x="685800" y="4892040"/>
            <a:ext cx="109728" cy="109728"/>
          </a:xfrm>
          <a:prstGeom prst="ellipse">
            <a:avLst/>
          </a:prstGeom>
          <a:solidFill>
            <a:srgbClr val="0A7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41832" y="4800600"/>
            <a:ext cx="4818888" cy="5760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142034"/>
                </a:solidFill>
                <a:latin typeface="Calibri"/>
              </a:rPr>
              <a:t>We recover a partition, not a name.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3246120"/>
            <a:ext cx="5486400" cy="2880360"/>
          </a:xfrm>
          <a:prstGeom prst="roundRect">
            <a:avLst>
              <a:gd name="adj" fmla="val 8000"/>
            </a:avLst>
          </a:prstGeom>
          <a:solidFill>
            <a:srgbClr val="F3F6F8"/>
          </a:solidFill>
          <a:ln w="12700">
            <a:solidFill>
              <a:srgbClr val="D2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3383280"/>
            <a:ext cx="512064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A7A96"/>
                </a:solidFill>
                <a:latin typeface="Calibri"/>
              </a:rPr>
              <a:t>Mode  ·  operating schedule</a:t>
            </a:r>
          </a:p>
        </p:txBody>
      </p:sp>
      <p:sp>
        <p:nvSpPr>
          <p:cNvPr id="17" name="Oval 16"/>
          <p:cNvSpPr/>
          <p:nvPr/>
        </p:nvSpPr>
        <p:spPr>
          <a:xfrm>
            <a:off x="6355080" y="3886200"/>
            <a:ext cx="109728" cy="109728"/>
          </a:xfrm>
          <a:prstGeom prst="ellipse">
            <a:avLst/>
          </a:prstGeom>
          <a:solidFill>
            <a:srgbClr val="0A7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11112" y="3794760"/>
            <a:ext cx="4818888" cy="5760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142034"/>
                </a:solidFill>
                <a:latin typeface="Calibri"/>
              </a:rPr>
              <a:t>19-type catalogue, shared across recordings.</a:t>
            </a:r>
          </a:p>
        </p:txBody>
      </p:sp>
      <p:sp>
        <p:nvSpPr>
          <p:cNvPr id="19" name="Oval 18"/>
          <p:cNvSpPr/>
          <p:nvPr/>
        </p:nvSpPr>
        <p:spPr>
          <a:xfrm>
            <a:off x="6355080" y="4389120"/>
            <a:ext cx="109728" cy="109728"/>
          </a:xfrm>
          <a:prstGeom prst="ellipse">
            <a:avLst/>
          </a:prstGeom>
          <a:solidFill>
            <a:srgbClr val="0A7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11112" y="4297680"/>
            <a:ext cx="4818888" cy="5760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142034"/>
                </a:solidFill>
                <a:latin typeface="Calibri"/>
              </a:rPr>
              <a:t>Same mode can sit on several emitters.</a:t>
            </a:r>
          </a:p>
        </p:txBody>
      </p:sp>
      <p:sp>
        <p:nvSpPr>
          <p:cNvPr id="21" name="Oval 20"/>
          <p:cNvSpPr/>
          <p:nvPr/>
        </p:nvSpPr>
        <p:spPr>
          <a:xfrm>
            <a:off x="6355080" y="4892040"/>
            <a:ext cx="109728" cy="109728"/>
          </a:xfrm>
          <a:prstGeom prst="ellipse">
            <a:avLst/>
          </a:prstGeom>
          <a:solidFill>
            <a:srgbClr val="0A7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11112" y="4800600"/>
            <a:ext cx="4818888" cy="5760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142034"/>
                </a:solidFill>
                <a:latin typeface="Calibri"/>
              </a:rPr>
              <a:t>Inference still clusters — no catalogue softmax.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5F7F9"/>
          </a:solidFill>
          <a:ln w="12700">
            <a:solidFill>
              <a:srgbClr val="D2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1480" y="6528816"/>
            <a:ext cx="93268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100" b="0" i="0">
                <a:solidFill>
                  <a:srgbClr val="5A687A"/>
                </a:solidFill>
                <a:latin typeface="Calibri"/>
              </a:rPr>
              <a:t>Internal briefing  ·  Saab  ·  KTH master's thesis  ·  Markus Johnson Swegmark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11535" y="6528816"/>
            <a:ext cx="96012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100" b="0" i="0">
                <a:solidFill>
                  <a:srgbClr val="5A687A"/>
                </a:solidFill>
                <a:latin typeface="Calibri"/>
              </a:rPr>
              <a:t>2 / 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0A7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01168"/>
            <a:ext cx="109728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 i="0">
                <a:solidFill>
                  <a:srgbClr val="142034"/>
                </a:solidFill>
                <a:latin typeface="Calibri"/>
              </a:rPr>
              <a:t>Dense lock-on versus sparse scan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640080"/>
            <a:ext cx="2788920" cy="777240"/>
          </a:xfrm>
          <a:prstGeom prst="roundRect">
            <a:avLst>
              <a:gd name="adj" fmla="val 8000"/>
            </a:avLst>
          </a:prstGeom>
          <a:solidFill>
            <a:srgbClr val="F3F6F8"/>
          </a:solidFill>
          <a:ln w="12700">
            <a:solidFill>
              <a:srgbClr val="D2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76656"/>
            <a:ext cx="260604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 i="0">
                <a:solidFill>
                  <a:srgbClr val="0A7A96"/>
                </a:solidFill>
                <a:latin typeface="Calibri"/>
              </a:rPr>
              <a:t>L = 2000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024128"/>
            <a:ext cx="260604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100" b="0" i="0">
                <a:solidFill>
                  <a:srgbClr val="5A687A"/>
                </a:solidFill>
                <a:latin typeface="Calibri"/>
              </a:rPr>
              <a:t>pulses / window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29000" y="640080"/>
            <a:ext cx="2788920" cy="777240"/>
          </a:xfrm>
          <a:prstGeom prst="roundRect">
            <a:avLst>
              <a:gd name="adj" fmla="val 8000"/>
            </a:avLst>
          </a:prstGeom>
          <a:solidFill>
            <a:srgbClr val="F3F6F8"/>
          </a:solidFill>
          <a:ln w="12700">
            <a:solidFill>
              <a:srgbClr val="D2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20440" y="676656"/>
            <a:ext cx="260604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 i="0">
                <a:solidFill>
                  <a:srgbClr val="0A7A96"/>
                </a:solidFill>
                <a:latin typeface="Calibri"/>
              </a:rPr>
              <a:t>1 169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20440" y="1024128"/>
            <a:ext cx="260604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100" b="0" i="0">
                <a:solidFill>
                  <a:srgbClr val="5A687A"/>
                </a:solidFill>
                <a:latin typeface="Calibri"/>
              </a:rPr>
              <a:t>test windows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55080" y="640080"/>
            <a:ext cx="2788920" cy="777240"/>
          </a:xfrm>
          <a:prstGeom prst="roundRect">
            <a:avLst>
              <a:gd name="adj" fmla="val 8000"/>
            </a:avLst>
          </a:prstGeom>
          <a:solidFill>
            <a:srgbClr val="F3F6F8"/>
          </a:solidFill>
          <a:ln w="12700">
            <a:solidFill>
              <a:srgbClr val="D2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676656"/>
            <a:ext cx="260604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 i="0">
                <a:solidFill>
                  <a:srgbClr val="0A7A96"/>
                </a:solidFill>
                <a:latin typeface="Calibri"/>
              </a:rPr>
              <a:t>~3 / ~6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1024128"/>
            <a:ext cx="260604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100" b="0" i="0">
                <a:solidFill>
                  <a:srgbClr val="5A687A"/>
                </a:solidFill>
                <a:latin typeface="Calibri"/>
              </a:rPr>
              <a:t>emitters / modes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281160" y="640080"/>
            <a:ext cx="2788920" cy="777240"/>
          </a:xfrm>
          <a:prstGeom prst="roundRect">
            <a:avLst>
              <a:gd name="adj" fmla="val 8000"/>
            </a:avLst>
          </a:prstGeom>
          <a:solidFill>
            <a:srgbClr val="F3F6F8"/>
          </a:solidFill>
          <a:ln w="12700">
            <a:solidFill>
              <a:srgbClr val="D2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72600" y="676656"/>
            <a:ext cx="260604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 i="0">
                <a:solidFill>
                  <a:srgbClr val="0A7A96"/>
                </a:solidFill>
                <a:latin typeface="Calibri"/>
              </a:rPr>
              <a:t>19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72600" y="1024128"/>
            <a:ext cx="260604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100" b="0" i="0">
                <a:solidFill>
                  <a:srgbClr val="5A687A"/>
                </a:solidFill>
                <a:latin typeface="Calibri"/>
              </a:rPr>
              <a:t>mode types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38328" y="1481328"/>
            <a:ext cx="7004304" cy="4696072"/>
          </a:xfrm>
          <a:prstGeom prst="roundRect">
            <a:avLst>
              <a:gd name="adj" fmla="val 4000"/>
            </a:avLst>
          </a:prstGeom>
          <a:solidFill>
            <a:srgbClr val="F3F6F8"/>
          </a:solidFill>
          <a:ln w="12700">
            <a:solidFill>
              <a:srgbClr val="D2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feat_w100_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554480"/>
            <a:ext cx="6858000" cy="4549768"/>
          </a:xfrm>
          <a:prstGeom prst="rect">
            <a:avLst/>
          </a:prstGeom>
        </p:spPr>
      </p:pic>
      <p:sp>
        <p:nvSpPr>
          <p:cNvPr id="19" name="Oval 18"/>
          <p:cNvSpPr/>
          <p:nvPr/>
        </p:nvSpPr>
        <p:spPr>
          <a:xfrm>
            <a:off x="7498079" y="1783080"/>
            <a:ext cx="109728" cy="109728"/>
          </a:xfrm>
          <a:prstGeom prst="ellipse">
            <a:avLst/>
          </a:prstGeom>
          <a:solidFill>
            <a:srgbClr val="0A7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54111" y="1691640"/>
            <a:ext cx="4041648" cy="731519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142034"/>
                </a:solidFill>
                <a:latin typeface="Calibri"/>
              </a:rPr>
              <a:t>Orange: lock-on, low PRI, fills the window.</a:t>
            </a:r>
          </a:p>
        </p:txBody>
      </p:sp>
      <p:sp>
        <p:nvSpPr>
          <p:cNvPr id="21" name="Oval 20"/>
          <p:cNvSpPr/>
          <p:nvPr/>
        </p:nvSpPr>
        <p:spPr>
          <a:xfrm>
            <a:off x="7498079" y="2441448"/>
            <a:ext cx="109728" cy="109728"/>
          </a:xfrm>
          <a:prstGeom prst="ellipse">
            <a:avLst/>
          </a:prstGeom>
          <a:solidFill>
            <a:srgbClr val="0A7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54111" y="2350008"/>
            <a:ext cx="4041648" cy="731519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142034"/>
                </a:solidFill>
                <a:latin typeface="Calibri"/>
              </a:rPr>
              <a:t>Purple: scanning. Only seen when the beam sweeps the receiver.</a:t>
            </a:r>
          </a:p>
        </p:txBody>
      </p:sp>
      <p:sp>
        <p:nvSpPr>
          <p:cNvPr id="23" name="Oval 22"/>
          <p:cNvSpPr/>
          <p:nvPr/>
        </p:nvSpPr>
        <p:spPr>
          <a:xfrm>
            <a:off x="7498079" y="3099816"/>
            <a:ext cx="109728" cy="109728"/>
          </a:xfrm>
          <a:prstGeom prst="ellipse">
            <a:avLst/>
          </a:prstGeom>
          <a:solidFill>
            <a:srgbClr val="0A7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54111" y="3008376"/>
            <a:ext cx="4041648" cy="731519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142034"/>
                </a:solidFill>
                <a:latin typeface="Calibri"/>
              </a:rPr>
              <a:t>Amplitude is the giveaway: lobes, not a line. Scan period 2–5 s.</a:t>
            </a:r>
          </a:p>
        </p:txBody>
      </p:sp>
      <p:sp>
        <p:nvSpPr>
          <p:cNvPr id="25" name="Oval 24"/>
          <p:cNvSpPr/>
          <p:nvPr/>
        </p:nvSpPr>
        <p:spPr>
          <a:xfrm>
            <a:off x="7498079" y="3758184"/>
            <a:ext cx="109728" cy="109728"/>
          </a:xfrm>
          <a:prstGeom prst="ellipse">
            <a:avLst/>
          </a:prstGeom>
          <a:solidFill>
            <a:srgbClr val="0A7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54111" y="3666744"/>
            <a:ext cx="4041648" cy="731519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142034"/>
                </a:solidFill>
                <a:latin typeface="Calibri"/>
              </a:rPr>
              <a:t>A density clusterer on RF/PW ignores the sparse class.</a:t>
            </a:r>
          </a:p>
        </p:txBody>
      </p:sp>
      <p:sp>
        <p:nvSpPr>
          <p:cNvPr id="27" name="Oval 26"/>
          <p:cNvSpPr/>
          <p:nvPr/>
        </p:nvSpPr>
        <p:spPr>
          <a:xfrm>
            <a:off x="7498079" y="4416552"/>
            <a:ext cx="109728" cy="109728"/>
          </a:xfrm>
          <a:prstGeom prst="ellipse">
            <a:avLst/>
          </a:prstGeom>
          <a:solidFill>
            <a:srgbClr val="0A7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754111" y="4325112"/>
            <a:ext cx="4041648" cy="731519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142034"/>
                </a:solidFill>
                <a:latin typeface="Calibri"/>
              </a:rPr>
              <a:t>3 pulses vs 1997 in the same window is common.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5F7F9"/>
          </a:solidFill>
          <a:ln w="12700">
            <a:solidFill>
              <a:srgbClr val="D2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6528816"/>
            <a:ext cx="93268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100" b="0" i="0">
                <a:solidFill>
                  <a:srgbClr val="5A687A"/>
                </a:solidFill>
                <a:latin typeface="Calibri"/>
              </a:rPr>
              <a:t>Internal briefing  ·  Saab  ·  KTH master's thesis  ·  Markus Johnson Swegmark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911535" y="6528816"/>
            <a:ext cx="96012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100" b="0" i="0">
                <a:solidFill>
                  <a:srgbClr val="5A687A"/>
                </a:solidFill>
                <a:latin typeface="Calibri"/>
              </a:rPr>
              <a:t>3 / 11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0A7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82880"/>
            <a:ext cx="109728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 i="0">
                <a:solidFill>
                  <a:srgbClr val="142034"/>
                </a:solidFill>
                <a:latin typeface="Calibri"/>
              </a:rPr>
              <a:t>Floods, and RF/PW that are not unique IDs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92608" y="566928"/>
            <a:ext cx="5724144" cy="3846782"/>
          </a:xfrm>
          <a:prstGeom prst="roundRect">
            <a:avLst>
              <a:gd name="adj" fmla="val 4000"/>
            </a:avLst>
          </a:prstGeom>
          <a:solidFill>
            <a:srgbClr val="F3F6F8"/>
          </a:solidFill>
          <a:ln w="12700">
            <a:solidFill>
              <a:srgbClr val="D2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eat_imbal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640080"/>
            <a:ext cx="5577840" cy="370047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099048" y="566928"/>
            <a:ext cx="5724144" cy="3846782"/>
          </a:xfrm>
          <a:prstGeom prst="roundRect">
            <a:avLst>
              <a:gd name="adj" fmla="val 4000"/>
            </a:avLst>
          </a:prstGeom>
          <a:solidFill>
            <a:srgbClr val="F3F6F8"/>
          </a:solidFill>
          <a:ln w="12700">
            <a:solidFill>
              <a:srgbClr val="D2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feat_maxemitt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640080"/>
            <a:ext cx="5577840" cy="370047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5029200"/>
            <a:ext cx="5577840" cy="10972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142034"/>
                </a:solidFill>
                <a:latin typeface="Calibri"/>
              </a:rPr>
              <a:t>Left: 3 pulses vs 1997. One lock-on, one long PRI or mid-scan. A 3-pulse train is a poor later mode input.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63640" y="5029200"/>
            <a:ext cx="5486400" cy="10972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142034"/>
                </a:solidFill>
                <a:latin typeface="Calibri"/>
              </a:rPr>
              <a:t>Right: several platforms share RF and PW bands. Timing is the remaining cue. All-pairs attention is the bet.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5F7F9"/>
          </a:solidFill>
          <a:ln w="12700">
            <a:solidFill>
              <a:srgbClr val="D2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6528816"/>
            <a:ext cx="93268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100" b="0" i="0">
                <a:solidFill>
                  <a:srgbClr val="5A687A"/>
                </a:solidFill>
                <a:latin typeface="Calibri"/>
              </a:rPr>
              <a:t>Internal briefing  ·  Saab  ·  KTH master's thesis  ·  Markus Johnson Swegmark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11535" y="6528816"/>
            <a:ext cx="96012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100" b="0" i="0">
                <a:solidFill>
                  <a:srgbClr val="5A687A"/>
                </a:solidFill>
                <a:latin typeface="Calibri"/>
              </a:rPr>
              <a:t>4 / 11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0A7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01168"/>
            <a:ext cx="109728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 i="0">
                <a:solidFill>
                  <a:srgbClr val="142034"/>
                </a:solidFill>
                <a:latin typeface="Calibri"/>
              </a:rPr>
              <a:t>Shared trunk, two heads, two positive sets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92608" y="612648"/>
            <a:ext cx="7187184" cy="3834384"/>
          </a:xfrm>
          <a:prstGeom prst="roundRect">
            <a:avLst>
              <a:gd name="adj" fmla="val 4000"/>
            </a:avLst>
          </a:prstGeom>
          <a:solidFill>
            <a:srgbClr val="F3F6F8"/>
          </a:solidFill>
          <a:ln w="12700">
            <a:solidFill>
              <a:srgbClr val="D2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y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685800"/>
            <a:ext cx="7040880" cy="3688080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7589520" y="868680"/>
            <a:ext cx="109728" cy="109728"/>
          </a:xfrm>
          <a:prstGeom prst="ellipse">
            <a:avLst/>
          </a:prstGeom>
          <a:solidFill>
            <a:srgbClr val="0A7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45552" y="777240"/>
            <a:ext cx="3950208" cy="7863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142034"/>
                </a:solidFill>
                <a:latin typeface="Calibri"/>
              </a:rPr>
              <a:t>~16 M parameters. Width 256, 8 heads. L = 2000 in, L embeddings out.</a:t>
            </a:r>
          </a:p>
        </p:txBody>
      </p:sp>
      <p:sp>
        <p:nvSpPr>
          <p:cNvPr id="9" name="Oval 8"/>
          <p:cNvSpPr/>
          <p:nvPr/>
        </p:nvSpPr>
        <p:spPr>
          <a:xfrm>
            <a:off x="7589520" y="1581912"/>
            <a:ext cx="109728" cy="109728"/>
          </a:xfrm>
          <a:prstGeom prst="ellipse">
            <a:avLst/>
          </a:prstGeom>
          <a:solidFill>
            <a:srgbClr val="0A7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45552" y="1490472"/>
            <a:ext cx="3950208" cy="7863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142034"/>
                </a:solidFill>
                <a:latin typeface="Calibri"/>
              </a:rPr>
              <a:t>Self-attention is O(L²). That mix is deinterleaving.</a:t>
            </a:r>
          </a:p>
        </p:txBody>
      </p:sp>
      <p:sp>
        <p:nvSpPr>
          <p:cNvPr id="11" name="Oval 10"/>
          <p:cNvSpPr/>
          <p:nvPr/>
        </p:nvSpPr>
        <p:spPr>
          <a:xfrm>
            <a:off x="7589520" y="2295144"/>
            <a:ext cx="109728" cy="109728"/>
          </a:xfrm>
          <a:prstGeom prst="ellipse">
            <a:avLst/>
          </a:prstGeom>
          <a:solidFill>
            <a:srgbClr val="0A7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45552" y="2203704"/>
            <a:ext cx="3950208" cy="7863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142034"/>
                </a:solidFill>
                <a:latin typeface="Calibri"/>
              </a:rPr>
              <a:t>LSTM / Mamba are O(L), but pairwise “same train?” is a comparison, not a state. Not compared.</a:t>
            </a:r>
          </a:p>
        </p:txBody>
      </p:sp>
      <p:sp>
        <p:nvSpPr>
          <p:cNvPr id="13" name="Oval 12"/>
          <p:cNvSpPr/>
          <p:nvPr/>
        </p:nvSpPr>
        <p:spPr>
          <a:xfrm>
            <a:off x="7589520" y="3008376"/>
            <a:ext cx="109728" cy="109728"/>
          </a:xfrm>
          <a:prstGeom prst="ellipse">
            <a:avLst/>
          </a:prstGeom>
          <a:solidFill>
            <a:srgbClr val="0A7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45552" y="2916936"/>
            <a:ext cx="3950208" cy="7863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142034"/>
                </a:solidFill>
                <a:latin typeface="Calibri"/>
              </a:rPr>
              <a:t>Emitter loss: same recording-local ID. Mode loss: same global catalogue label.</a:t>
            </a:r>
          </a:p>
        </p:txBody>
      </p:sp>
      <p:sp>
        <p:nvSpPr>
          <p:cNvPr id="15" name="Oval 14"/>
          <p:cNvSpPr/>
          <p:nvPr/>
        </p:nvSpPr>
        <p:spPr>
          <a:xfrm>
            <a:off x="7589520" y="3721608"/>
            <a:ext cx="109728" cy="109728"/>
          </a:xfrm>
          <a:prstGeom prst="ellipse">
            <a:avLst/>
          </a:prstGeom>
          <a:solidFill>
            <a:srgbClr val="0A7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45552" y="3630168"/>
            <a:ext cx="3950208" cy="7863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142034"/>
                </a:solidFill>
                <a:latin typeface="Calibri"/>
              </a:rPr>
              <a:t>Joint training is the unweighted sum. DBSCAN at inference, not in the loss.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5F7F9"/>
          </a:solidFill>
          <a:ln w="12700">
            <a:solidFill>
              <a:srgbClr val="D2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6528816"/>
            <a:ext cx="93268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100" b="0" i="0">
                <a:solidFill>
                  <a:srgbClr val="5A687A"/>
                </a:solidFill>
                <a:latin typeface="Calibri"/>
              </a:rPr>
              <a:t>Internal briefing  ·  Saab  ·  KTH master's thesis  ·  Markus Johnson Swegmark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11535" y="6528816"/>
            <a:ext cx="96012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100" b="0" i="0">
                <a:solidFill>
                  <a:srgbClr val="5A687A"/>
                </a:solidFill>
                <a:latin typeface="Calibri"/>
              </a:rPr>
              <a:t>5 / 11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0A7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01168"/>
            <a:ext cx="109728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 i="0">
                <a:solidFill>
                  <a:srgbClr val="142034"/>
                </a:solidFill>
                <a:latin typeface="Calibri"/>
              </a:rPr>
              <a:t>Two ways to put physics into attention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822960"/>
            <a:ext cx="5486400" cy="5212080"/>
          </a:xfrm>
          <a:prstGeom prst="roundRect">
            <a:avLst>
              <a:gd name="adj" fmla="val 8000"/>
            </a:avLst>
          </a:prstGeom>
          <a:solidFill>
            <a:srgbClr val="F3F6F8"/>
          </a:solidFill>
          <a:ln w="12700">
            <a:solidFill>
              <a:srgbClr val="D2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005840"/>
            <a:ext cx="5029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 i="0">
                <a:solidFill>
                  <a:srgbClr val="0A7A96"/>
                </a:solidFill>
                <a:latin typeface="Calibri"/>
              </a:rPr>
              <a:t>RoPE-TOA</a:t>
            </a:r>
          </a:p>
        </p:txBody>
      </p:sp>
      <p:sp>
        <p:nvSpPr>
          <p:cNvPr id="7" name="Oval 6"/>
          <p:cNvSpPr/>
          <p:nvPr/>
        </p:nvSpPr>
        <p:spPr>
          <a:xfrm>
            <a:off x="731520" y="1600200"/>
            <a:ext cx="109728" cy="109728"/>
          </a:xfrm>
          <a:prstGeom prst="ellipse">
            <a:avLst/>
          </a:prstGeom>
          <a:solidFill>
            <a:srgbClr val="0A7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87552" y="1508760"/>
            <a:ext cx="4773168" cy="731519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142034"/>
                </a:solidFill>
                <a:latin typeface="Calibri"/>
              </a:rPr>
              <a:t>Rotate Q and K by window-local ToA.</a:t>
            </a:r>
          </a:p>
        </p:txBody>
      </p:sp>
      <p:sp>
        <p:nvSpPr>
          <p:cNvPr id="9" name="Oval 8"/>
          <p:cNvSpPr/>
          <p:nvPr/>
        </p:nvSpPr>
        <p:spPr>
          <a:xfrm>
            <a:off x="731520" y="2258568"/>
            <a:ext cx="109728" cy="109728"/>
          </a:xfrm>
          <a:prstGeom prst="ellipse">
            <a:avLst/>
          </a:prstGeom>
          <a:solidFill>
            <a:srgbClr val="0A7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2167128"/>
            <a:ext cx="4773168" cy="731519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142034"/>
                </a:solidFill>
                <a:latin typeface="Calibri"/>
              </a:rPr>
              <a:t>The score is a dot product, so the enclosed angle matters.</a:t>
            </a:r>
          </a:p>
        </p:txBody>
      </p:sp>
      <p:sp>
        <p:nvSpPr>
          <p:cNvPr id="11" name="Oval 10"/>
          <p:cNvSpPr/>
          <p:nvPr/>
        </p:nvSpPr>
        <p:spPr>
          <a:xfrm>
            <a:off x="731520" y="2916936"/>
            <a:ext cx="109728" cy="109728"/>
          </a:xfrm>
          <a:prstGeom prst="ellipse">
            <a:avLst/>
          </a:prstGeom>
          <a:solidFill>
            <a:srgbClr val="0A7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2825496"/>
            <a:ext cx="4773168" cy="731519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142034"/>
                </a:solidFill>
                <a:latin typeface="Calibri"/>
              </a:rPr>
              <a:t>Only the relative rotation R(Δt) enters the product.</a:t>
            </a:r>
          </a:p>
        </p:txBody>
      </p:sp>
      <p:sp>
        <p:nvSpPr>
          <p:cNvPr id="13" name="Oval 12"/>
          <p:cNvSpPr/>
          <p:nvPr/>
        </p:nvSpPr>
        <p:spPr>
          <a:xfrm>
            <a:off x="731520" y="3575304"/>
            <a:ext cx="109728" cy="109728"/>
          </a:xfrm>
          <a:prstGeom prst="ellipse">
            <a:avLst/>
          </a:prstGeom>
          <a:solidFill>
            <a:srgbClr val="0A7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3483864"/>
            <a:ext cx="4773168" cy="731519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142034"/>
                </a:solidFill>
                <a:latin typeface="Calibri"/>
              </a:rPr>
              <a:t>No extra weights. Encoder ~2.5 ms.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822960"/>
            <a:ext cx="5486400" cy="5212080"/>
          </a:xfrm>
          <a:prstGeom prst="roundRect">
            <a:avLst>
              <a:gd name="adj" fmla="val 8000"/>
            </a:avLst>
          </a:prstGeom>
          <a:solidFill>
            <a:srgbClr val="F3F6F8"/>
          </a:solidFill>
          <a:ln w="12700">
            <a:solidFill>
              <a:srgbClr val="D2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6520" y="1005840"/>
            <a:ext cx="5029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 i="0">
                <a:solidFill>
                  <a:srgbClr val="C45A20"/>
                </a:solidFill>
                <a:latin typeface="Calibri"/>
              </a:rPr>
              <a:t>Physical bias</a:t>
            </a:r>
          </a:p>
        </p:txBody>
      </p:sp>
      <p:sp>
        <p:nvSpPr>
          <p:cNvPr id="17" name="Oval 16"/>
          <p:cNvSpPr/>
          <p:nvPr/>
        </p:nvSpPr>
        <p:spPr>
          <a:xfrm>
            <a:off x="6446520" y="1600200"/>
            <a:ext cx="109728" cy="109728"/>
          </a:xfrm>
          <a:prstGeom prst="ellipse">
            <a:avLst/>
          </a:prstGeom>
          <a:solidFill>
            <a:srgbClr val="0A7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702552" y="1508760"/>
            <a:ext cx="4773168" cy="731519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142034"/>
                </a:solidFill>
                <a:latin typeface="Calibri"/>
              </a:rPr>
              <a:t>Build B_ij = |p_i − p_j| from ToA and incidence.</a:t>
            </a:r>
          </a:p>
        </p:txBody>
      </p:sp>
      <p:sp>
        <p:nvSpPr>
          <p:cNvPr id="19" name="Oval 18"/>
          <p:cNvSpPr/>
          <p:nvPr/>
        </p:nvSpPr>
        <p:spPr>
          <a:xfrm>
            <a:off x="6446520" y="2258568"/>
            <a:ext cx="109728" cy="109728"/>
          </a:xfrm>
          <a:prstGeom prst="ellipse">
            <a:avLst/>
          </a:prstGeom>
          <a:solidFill>
            <a:srgbClr val="0A7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02552" y="2167128"/>
            <a:ext cx="4773168" cy="731519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142034"/>
                </a:solidFill>
                <a:latin typeface="Calibri"/>
              </a:rPr>
              <a:t>Scale by learned λ, subtract from the attention matrix A.</a:t>
            </a:r>
          </a:p>
        </p:txBody>
      </p:sp>
      <p:sp>
        <p:nvSpPr>
          <p:cNvPr id="21" name="Oval 20"/>
          <p:cNvSpPr/>
          <p:nvPr/>
        </p:nvSpPr>
        <p:spPr>
          <a:xfrm>
            <a:off x="6446520" y="2916936"/>
            <a:ext cx="109728" cy="109728"/>
          </a:xfrm>
          <a:prstGeom prst="ellipse">
            <a:avLst/>
          </a:prstGeom>
          <a:solidFill>
            <a:srgbClr val="0A7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702552" y="2825496"/>
            <a:ext cx="4773168" cy="731519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142034"/>
                </a:solidFill>
                <a:latin typeface="Calibri"/>
              </a:rPr>
              <a:t>Same emitter scores as RoPE-TOA.</a:t>
            </a:r>
          </a:p>
        </p:txBody>
      </p:sp>
      <p:sp>
        <p:nvSpPr>
          <p:cNvPr id="23" name="Oval 22"/>
          <p:cNvSpPr/>
          <p:nvPr/>
        </p:nvSpPr>
        <p:spPr>
          <a:xfrm>
            <a:off x="6446520" y="3575304"/>
            <a:ext cx="109728" cy="109728"/>
          </a:xfrm>
          <a:prstGeom prst="ellipse">
            <a:avLst/>
          </a:prstGeom>
          <a:solidFill>
            <a:srgbClr val="0A7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02552" y="3483864"/>
            <a:ext cx="4773168" cy="731519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142034"/>
                </a:solidFill>
                <a:latin typeface="Calibri"/>
              </a:rPr>
              <a:t>Encoder ~32 ms. Extra L×L maps in every head.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5F7F9"/>
          </a:solidFill>
          <a:ln w="12700">
            <a:solidFill>
              <a:srgbClr val="D2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11480" y="6528816"/>
            <a:ext cx="93268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100" b="0" i="0">
                <a:solidFill>
                  <a:srgbClr val="5A687A"/>
                </a:solidFill>
                <a:latin typeface="Calibri"/>
              </a:rPr>
              <a:t>Internal briefing  ·  Saab  ·  KTH master's thesis  ·  Markus Johnson Swegmark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11535" y="6528816"/>
            <a:ext cx="96012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100" b="0" i="0">
                <a:solidFill>
                  <a:srgbClr val="5A687A"/>
                </a:solidFill>
                <a:latin typeface="Calibri"/>
              </a:rPr>
              <a:t>6 / 11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0A7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64592"/>
            <a:ext cx="109728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 i="0">
                <a:solidFill>
                  <a:srgbClr val="142034"/>
                </a:solidFill>
                <a:latin typeface="Calibri"/>
              </a:rPr>
              <a:t>RoPE-TOA  ·  the score is the rotated dot product</a:t>
            </a:r>
          </a:p>
        </p:txBody>
      </p:sp>
      <p:pic>
        <p:nvPicPr>
          <p:cNvPr id="5" name="RoPEToA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411480" y="530352"/>
            <a:ext cx="7955279" cy="4480560"/>
          </a:xfrm>
          <a:prstGeom prst="rect">
            <a:avLst/>
          </a:prstGeom>
        </p:spPr>
      </p:pic>
      <p:sp>
        <p:nvSpPr>
          <p:cNvPr id="6" name="Oval 5"/>
          <p:cNvSpPr/>
          <p:nvPr/>
        </p:nvSpPr>
        <p:spPr>
          <a:xfrm>
            <a:off x="8549640" y="777240"/>
            <a:ext cx="109728" cy="109728"/>
          </a:xfrm>
          <a:prstGeom prst="ellipse">
            <a:avLst/>
          </a:prstGeom>
          <a:solidFill>
            <a:srgbClr val="0A7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05672" y="685800"/>
            <a:ext cx="3035808" cy="6949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142034"/>
                </a:solidFill>
                <a:latin typeface="Calibri"/>
              </a:rPr>
              <a:t>q · k = cos φ.</a:t>
            </a:r>
          </a:p>
        </p:txBody>
      </p:sp>
      <p:sp>
        <p:nvSpPr>
          <p:cNvPr id="8" name="Oval 7"/>
          <p:cNvSpPr/>
          <p:nvPr/>
        </p:nvSpPr>
        <p:spPr>
          <a:xfrm>
            <a:off x="8549640" y="1399032"/>
            <a:ext cx="109728" cy="109728"/>
          </a:xfrm>
          <a:prstGeom prst="ellipse">
            <a:avLst/>
          </a:prstGeom>
          <a:solidFill>
            <a:srgbClr val="0A7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05672" y="1307592"/>
            <a:ext cx="3035808" cy="6949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142034"/>
                </a:solidFill>
                <a:latin typeface="Calibri"/>
              </a:rPr>
              <a:t>Rotate each by its own ToA.</a:t>
            </a:r>
          </a:p>
        </p:txBody>
      </p:sp>
      <p:sp>
        <p:nvSpPr>
          <p:cNvPr id="10" name="Oval 9"/>
          <p:cNvSpPr/>
          <p:nvPr/>
        </p:nvSpPr>
        <p:spPr>
          <a:xfrm>
            <a:off x="8549640" y="2020824"/>
            <a:ext cx="109728" cy="109728"/>
          </a:xfrm>
          <a:prstGeom prst="ellipse">
            <a:avLst/>
          </a:prstGeom>
          <a:solidFill>
            <a:srgbClr val="0A7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805672" y="1929384"/>
            <a:ext cx="3035808" cy="6949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142034"/>
                </a:solidFill>
                <a:latin typeface="Calibri"/>
              </a:rPr>
              <a:t>New angle: φ + Δt · ω.</a:t>
            </a:r>
          </a:p>
        </p:txBody>
      </p:sp>
      <p:sp>
        <p:nvSpPr>
          <p:cNvPr id="12" name="Oval 11"/>
          <p:cNvSpPr/>
          <p:nvPr/>
        </p:nvSpPr>
        <p:spPr>
          <a:xfrm>
            <a:off x="8549640" y="2642616"/>
            <a:ext cx="109728" cy="109728"/>
          </a:xfrm>
          <a:prstGeom prst="ellipse">
            <a:avLst/>
          </a:prstGeom>
          <a:solidFill>
            <a:srgbClr val="0A7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05672" y="2551176"/>
            <a:ext cx="3035808" cy="6949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142034"/>
                </a:solidFill>
                <a:latin typeface="Calibri"/>
              </a:rPr>
              <a:t>Close in time → small extra twist, high score.</a:t>
            </a:r>
          </a:p>
        </p:txBody>
      </p:sp>
      <p:sp>
        <p:nvSpPr>
          <p:cNvPr id="14" name="Oval 13"/>
          <p:cNvSpPr/>
          <p:nvPr/>
        </p:nvSpPr>
        <p:spPr>
          <a:xfrm>
            <a:off x="8549640" y="3264408"/>
            <a:ext cx="109728" cy="109728"/>
          </a:xfrm>
          <a:prstGeom prst="ellipse">
            <a:avLst/>
          </a:prstGeom>
          <a:solidFill>
            <a:srgbClr val="0A7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805672" y="3172968"/>
            <a:ext cx="3035808" cy="6949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142034"/>
                </a:solidFill>
                <a:latin typeface="Calibri"/>
              </a:rPr>
              <a:t>Far in time → larger twist, lower score.</a:t>
            </a:r>
          </a:p>
        </p:txBody>
      </p:sp>
      <p:sp>
        <p:nvSpPr>
          <p:cNvPr id="16" name="Oval 15"/>
          <p:cNvSpPr/>
          <p:nvPr/>
        </p:nvSpPr>
        <p:spPr>
          <a:xfrm>
            <a:off x="8549640" y="3886200"/>
            <a:ext cx="109728" cy="109728"/>
          </a:xfrm>
          <a:prstGeom prst="ellipse">
            <a:avLst/>
          </a:prstGeom>
          <a:solidFill>
            <a:srgbClr val="0A7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805672" y="3794760"/>
            <a:ext cx="3035808" cy="6949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142034"/>
                </a:solidFill>
                <a:latin typeface="Calibri"/>
              </a:rPr>
              <a:t>Plays once, then holds the last frame.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5F7F9"/>
          </a:solidFill>
          <a:ln w="12700">
            <a:solidFill>
              <a:srgbClr val="D2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80" y="6528816"/>
            <a:ext cx="93268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100" b="0" i="0">
                <a:solidFill>
                  <a:srgbClr val="5A687A"/>
                </a:solidFill>
                <a:latin typeface="Calibri"/>
              </a:rPr>
              <a:t>Internal briefing  ·  Saab  ·  KTH master's thesis  ·  Markus Johnson Swegmark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11535" y="6528816"/>
            <a:ext cx="96012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100" b="0" i="0">
                <a:solidFill>
                  <a:srgbClr val="5A687A"/>
                </a:solidFill>
                <a:latin typeface="Calibri"/>
              </a:rPr>
              <a:t>7 / 11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 showWhenStopped="1">
                <p:cTn id="2" fill="hold" display="0" restart="never">
                  <p:stCondLst>
                    <p:cond delay="0"/>
                  </p:stCondLst>
                </p:cTn>
                <p:tgtEl>
                  <p:spTgt spid="5"/>
                </p:tgtEl>
              </p:cMediaNode>
            </p:video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0A7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64592"/>
            <a:ext cx="109728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 i="0">
                <a:solidFill>
                  <a:srgbClr val="142034"/>
                </a:solidFill>
                <a:latin typeface="Calibri"/>
              </a:rPr>
              <a:t>Physical bias  ·  learned λ on delta maps, subtracted from A</a:t>
            </a:r>
          </a:p>
        </p:txBody>
      </p:sp>
      <p:pic>
        <p:nvPicPr>
          <p:cNvPr id="5" name="PhysicalBias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411480" y="530352"/>
            <a:ext cx="7955279" cy="4480560"/>
          </a:xfrm>
          <a:prstGeom prst="rect">
            <a:avLst/>
          </a:prstGeom>
        </p:spPr>
      </p:pic>
      <p:sp>
        <p:nvSpPr>
          <p:cNvPr id="6" name="Oval 5"/>
          <p:cNvSpPr/>
          <p:nvPr/>
        </p:nvSpPr>
        <p:spPr>
          <a:xfrm>
            <a:off x="8549640" y="777240"/>
            <a:ext cx="109728" cy="109728"/>
          </a:xfrm>
          <a:prstGeom prst="ellipse">
            <a:avLst/>
          </a:prstGeom>
          <a:solidFill>
            <a:srgbClr val="0A7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05672" y="685800"/>
            <a:ext cx="3035808" cy="731519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142034"/>
                </a:solidFill>
                <a:latin typeface="Calibri"/>
              </a:rPr>
              <a:t>|ΔToA| and |Δ incidence| from the inputs.</a:t>
            </a:r>
          </a:p>
        </p:txBody>
      </p:sp>
      <p:sp>
        <p:nvSpPr>
          <p:cNvPr id="8" name="Oval 7"/>
          <p:cNvSpPr/>
          <p:nvPr/>
        </p:nvSpPr>
        <p:spPr>
          <a:xfrm>
            <a:off x="8549640" y="1435608"/>
            <a:ext cx="109728" cy="109728"/>
          </a:xfrm>
          <a:prstGeom prst="ellipse">
            <a:avLst/>
          </a:prstGeom>
          <a:solidFill>
            <a:srgbClr val="0A7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05672" y="1344168"/>
            <a:ext cx="3035808" cy="731519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142034"/>
                </a:solidFill>
                <a:latin typeface="Calibri"/>
              </a:rPr>
              <a:t>λ_t, λ_u: learned scalars on ToA and incidence.</a:t>
            </a:r>
          </a:p>
        </p:txBody>
      </p:sp>
      <p:sp>
        <p:nvSpPr>
          <p:cNvPr id="10" name="Oval 9"/>
          <p:cNvSpPr/>
          <p:nvPr/>
        </p:nvSpPr>
        <p:spPr>
          <a:xfrm>
            <a:off x="8549640" y="2093976"/>
            <a:ext cx="109728" cy="109728"/>
          </a:xfrm>
          <a:prstGeom prst="ellipse">
            <a:avLst/>
          </a:prstGeom>
          <a:solidFill>
            <a:srgbClr val="0A7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805672" y="2002536"/>
            <a:ext cx="3035808" cy="731519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142034"/>
                </a:solidFill>
                <a:latin typeface="Calibri"/>
              </a:rPr>
              <a:t>Bias λB is subtracted from vanilla A.</a:t>
            </a:r>
          </a:p>
        </p:txBody>
      </p:sp>
      <p:sp>
        <p:nvSpPr>
          <p:cNvPr id="12" name="Oval 11"/>
          <p:cNvSpPr/>
          <p:nvPr/>
        </p:nvSpPr>
        <p:spPr>
          <a:xfrm>
            <a:off x="8549640" y="2752344"/>
            <a:ext cx="109728" cy="109728"/>
          </a:xfrm>
          <a:prstGeom prst="ellipse">
            <a:avLst/>
          </a:prstGeom>
          <a:solidFill>
            <a:srgbClr val="0A7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05672" y="2660904"/>
            <a:ext cx="3035808" cy="731519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142034"/>
                </a:solidFill>
                <a:latin typeface="Calibri"/>
              </a:rPr>
              <a:t>Same-direction, nearby pulses stay bright.</a:t>
            </a:r>
          </a:p>
        </p:txBody>
      </p:sp>
      <p:sp>
        <p:nvSpPr>
          <p:cNvPr id="14" name="Oval 13"/>
          <p:cNvSpPr/>
          <p:nvPr/>
        </p:nvSpPr>
        <p:spPr>
          <a:xfrm>
            <a:off x="8549640" y="3410712"/>
            <a:ext cx="109728" cy="109728"/>
          </a:xfrm>
          <a:prstGeom prst="ellipse">
            <a:avLst/>
          </a:prstGeom>
          <a:solidFill>
            <a:srgbClr val="0A7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805672" y="3319272"/>
            <a:ext cx="3035808" cy="731519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142034"/>
                </a:solidFill>
                <a:latin typeface="Calibri"/>
              </a:rPr>
              <a:t>Maps are L×L. That is the bill.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5F7F9"/>
          </a:solidFill>
          <a:ln w="12700">
            <a:solidFill>
              <a:srgbClr val="D2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1480" y="6528816"/>
            <a:ext cx="93268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100" b="0" i="0">
                <a:solidFill>
                  <a:srgbClr val="5A687A"/>
                </a:solidFill>
                <a:latin typeface="Calibri"/>
              </a:rPr>
              <a:t>Internal briefing  ·  Saab  ·  KTH master's thesis  ·  Markus Johnson Swegmark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11535" y="6528816"/>
            <a:ext cx="96012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100" b="0" i="0">
                <a:solidFill>
                  <a:srgbClr val="5A687A"/>
                </a:solidFill>
                <a:latin typeface="Calibri"/>
              </a:rPr>
              <a:t>8 / 11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 showWhenStopped="1">
                <p:cTn id="2" fill="hold" display="0" restart="never">
                  <p:stCondLst>
                    <p:cond delay="0"/>
                  </p:stCondLst>
                </p:cTn>
                <p:tgtEl>
                  <p:spTgt spid="5"/>
                </p:tgtEl>
              </p:cMediaNode>
            </p:video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0A7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82880"/>
            <a:ext cx="109728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 i="0">
                <a:solidFill>
                  <a:srgbClr val="142034"/>
                </a:solidFill>
                <a:latin typeface="Calibri"/>
              </a:rPr>
              <a:t>Vanilla already works on most windows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92608" y="566928"/>
            <a:ext cx="6867144" cy="3704706"/>
          </a:xfrm>
          <a:prstGeom prst="roundRect">
            <a:avLst>
              <a:gd name="adj" fmla="val 4000"/>
            </a:avLst>
          </a:prstGeom>
          <a:solidFill>
            <a:srgbClr val="F3F6F8"/>
          </a:solidFill>
          <a:ln w="12700">
            <a:solidFill>
              <a:srgbClr val="D2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hist_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640080"/>
            <a:ext cx="6720840" cy="3558402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7315200" y="868680"/>
            <a:ext cx="109728" cy="109728"/>
          </a:xfrm>
          <a:prstGeom prst="ellipse">
            <a:avLst/>
          </a:prstGeom>
          <a:solidFill>
            <a:srgbClr val="0A7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71232" y="777240"/>
            <a:ext cx="4224528" cy="822959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142034"/>
                </a:solidFill>
                <a:latin typeface="Calibri"/>
              </a:rPr>
              <a:t>Feature DBSCAN emitter ARI 0.58. Completeness 0.52.</a:t>
            </a:r>
          </a:p>
        </p:txBody>
      </p:sp>
      <p:sp>
        <p:nvSpPr>
          <p:cNvPr id="9" name="Oval 8"/>
          <p:cNvSpPr/>
          <p:nvPr/>
        </p:nvSpPr>
        <p:spPr>
          <a:xfrm>
            <a:off x="7315200" y="1618488"/>
            <a:ext cx="109728" cy="109728"/>
          </a:xfrm>
          <a:prstGeom prst="ellipse">
            <a:avLst/>
          </a:prstGeom>
          <a:solidFill>
            <a:srgbClr val="0A7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71232" y="1527048"/>
            <a:ext cx="4224528" cy="822959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142034"/>
                </a:solidFill>
                <a:latin typeface="Calibri"/>
              </a:rPr>
              <a:t>Vanilla joint: 0.95 emitter, 0.99 mode.</a:t>
            </a:r>
          </a:p>
        </p:txBody>
      </p:sp>
      <p:sp>
        <p:nvSpPr>
          <p:cNvPr id="11" name="Oval 10"/>
          <p:cNvSpPr/>
          <p:nvPr/>
        </p:nvSpPr>
        <p:spPr>
          <a:xfrm>
            <a:off x="7315200" y="2368296"/>
            <a:ext cx="109728" cy="109728"/>
          </a:xfrm>
          <a:prstGeom prst="ellipse">
            <a:avLst/>
          </a:prstGeom>
          <a:solidFill>
            <a:srgbClr val="0A7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71232" y="2276856"/>
            <a:ext cx="4224528" cy="822959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142034"/>
                </a:solidFill>
                <a:latin typeface="Calibri"/>
              </a:rPr>
              <a:t>88% of windows ≥ 0.99. About 1 in 10 below 0.90.</a:t>
            </a:r>
          </a:p>
        </p:txBody>
      </p:sp>
      <p:sp>
        <p:nvSpPr>
          <p:cNvPr id="13" name="Oval 12"/>
          <p:cNvSpPr/>
          <p:nvPr/>
        </p:nvSpPr>
        <p:spPr>
          <a:xfrm>
            <a:off x="7315200" y="3118104"/>
            <a:ext cx="109728" cy="109728"/>
          </a:xfrm>
          <a:prstGeom prst="ellipse">
            <a:avLst/>
          </a:prstGeom>
          <a:solidFill>
            <a:srgbClr val="0A7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571232" y="3026664"/>
            <a:ext cx="4224528" cy="822959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142034"/>
                </a:solidFill>
                <a:latin typeface="Calibri"/>
              </a:rPr>
              <a:t>RoPE-TOA and Bias stay just below 1. None below 0.90.</a:t>
            </a:r>
          </a:p>
        </p:txBody>
      </p:sp>
      <p:sp>
        <p:nvSpPr>
          <p:cNvPr id="15" name="Oval 14"/>
          <p:cNvSpPr/>
          <p:nvPr/>
        </p:nvSpPr>
        <p:spPr>
          <a:xfrm>
            <a:off x="7315200" y="3867912"/>
            <a:ext cx="109728" cy="109728"/>
          </a:xfrm>
          <a:prstGeom prst="ellipse">
            <a:avLst/>
          </a:prstGeom>
          <a:solidFill>
            <a:srgbClr val="0A7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571232" y="3776472"/>
            <a:ext cx="4224528" cy="822959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142034"/>
                </a:solidFill>
                <a:latin typeface="Calibri"/>
              </a:rPr>
              <a:t>Stacking them is worse than Vanilla.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5F7F9"/>
          </a:solidFill>
          <a:ln w="12700">
            <a:solidFill>
              <a:srgbClr val="D2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6528816"/>
            <a:ext cx="93268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100" b="0" i="0">
                <a:solidFill>
                  <a:srgbClr val="5A687A"/>
                </a:solidFill>
                <a:latin typeface="Calibri"/>
              </a:rPr>
              <a:t>Internal briefing  ·  Saab  ·  KTH master's thesis  ·  Markus Johnson Swegmark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11535" y="6528816"/>
            <a:ext cx="96012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100" b="0" i="0">
                <a:solidFill>
                  <a:srgbClr val="5A687A"/>
                </a:solidFill>
                <a:latin typeface="Calibri"/>
              </a:rPr>
              <a:t>9 / 11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0A7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64592"/>
            <a:ext cx="109728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 i="0">
                <a:solidFill>
                  <a:srgbClr val="142034"/>
                </a:solidFill>
                <a:latin typeface="Calibri"/>
              </a:rPr>
              <a:t>Joint is a tax on Vanilla. Time in attention removes it.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46888" y="457200"/>
            <a:ext cx="3986784" cy="2364045"/>
          </a:xfrm>
          <a:prstGeom prst="roundRect">
            <a:avLst>
              <a:gd name="adj" fmla="val 4000"/>
            </a:avLst>
          </a:prstGeom>
          <a:solidFill>
            <a:srgbClr val="F3F6F8"/>
          </a:solidFill>
          <a:ln w="12700">
            <a:solidFill>
              <a:srgbClr val="D2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joint_ta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530352"/>
            <a:ext cx="3840480" cy="2217741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4133088" y="457200"/>
            <a:ext cx="4078224" cy="2135392"/>
          </a:xfrm>
          <a:prstGeom prst="roundRect">
            <a:avLst>
              <a:gd name="adj" fmla="val 4000"/>
            </a:avLst>
          </a:prstGeom>
          <a:solidFill>
            <a:srgbClr val="F3F6F8"/>
          </a:solidFill>
          <a:ln w="12700">
            <a:solidFill>
              <a:srgbClr val="D2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emitter_ar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6240" y="530352"/>
            <a:ext cx="3931920" cy="1989088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156448" y="457200"/>
            <a:ext cx="3758184" cy="2172145"/>
          </a:xfrm>
          <a:prstGeom prst="roundRect">
            <a:avLst>
              <a:gd name="adj" fmla="val 4000"/>
            </a:avLst>
          </a:prstGeom>
          <a:solidFill>
            <a:srgbClr val="F3F6F8"/>
          </a:solidFill>
          <a:ln w="12700">
            <a:solidFill>
              <a:srgbClr val="D2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encoder_tim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0" y="530352"/>
            <a:ext cx="3611880" cy="2025841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7200" y="3657600"/>
            <a:ext cx="11247120" cy="777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142034"/>
                </a:solidFill>
                <a:latin typeface="Calibri"/>
              </a:rPr>
              <a:t>Emitter-only Vanilla hits 0.999; joint drops to 0.948. RoPE-TOA and Bias close the tail (ARI 1.000) without that tax. RoPE-az 0.973. Stacking the two time devices scores below Vanilla. RoPE-TOA is +0.9 ms; Bias is ~32 ms encoder.</a:t>
            </a:r>
          </a:p>
        </p:txBody>
      </p:sp>
      <p:sp>
        <p:nvSpPr>
          <p:cNvPr id="12" name="Oval 11"/>
          <p:cNvSpPr/>
          <p:nvPr/>
        </p:nvSpPr>
        <p:spPr>
          <a:xfrm>
            <a:off x="502920" y="4526280"/>
            <a:ext cx="109728" cy="109728"/>
          </a:xfrm>
          <a:prstGeom prst="ellipse">
            <a:avLst/>
          </a:prstGeom>
          <a:solidFill>
            <a:srgbClr val="0A7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8952" y="4434840"/>
            <a:ext cx="10899648" cy="51206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142034"/>
                </a:solidFill>
                <a:latin typeface="Calibri"/>
              </a:rPr>
              <a:t>Both partitions from the mixed window → joint RoPE-TOA. Do not stack the bias.</a:t>
            </a:r>
          </a:p>
        </p:txBody>
      </p:sp>
      <p:sp>
        <p:nvSpPr>
          <p:cNvPr id="14" name="Oval 13"/>
          <p:cNvSpPr/>
          <p:nvPr/>
        </p:nvSpPr>
        <p:spPr>
          <a:xfrm>
            <a:off x="502920" y="4965192"/>
            <a:ext cx="109728" cy="109728"/>
          </a:xfrm>
          <a:prstGeom prst="ellipse">
            <a:avLst/>
          </a:prstGeom>
          <a:solidFill>
            <a:srgbClr val="0A7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58952" y="4873752"/>
            <a:ext cx="10899648" cy="51206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142034"/>
                </a:solidFill>
                <a:latin typeface="Calibri"/>
              </a:rPr>
              <a:t>Deinterleaving only → emitter-only Vanilla is already at the ceiling. Cluster IDs die at the window edge.</a:t>
            </a:r>
          </a:p>
        </p:txBody>
      </p:sp>
      <p:sp>
        <p:nvSpPr>
          <p:cNvPr id="16" name="Oval 15"/>
          <p:cNvSpPr/>
          <p:nvPr/>
        </p:nvSpPr>
        <p:spPr>
          <a:xfrm>
            <a:off x="502920" y="5404104"/>
            <a:ext cx="109728" cy="109728"/>
          </a:xfrm>
          <a:prstGeom prst="ellipse">
            <a:avLst/>
          </a:prstGeom>
          <a:solidFill>
            <a:srgbClr val="0A7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8952" y="5312664"/>
            <a:ext cx="10899648" cy="51206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142034"/>
                </a:solidFill>
                <a:latin typeface="Calibri"/>
              </a:rPr>
              <a:t>Synthetic. Held-out modulations and operational data are not scored.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5F7F9"/>
          </a:solidFill>
          <a:ln w="12700">
            <a:solidFill>
              <a:srgbClr val="D2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80" y="6528816"/>
            <a:ext cx="93268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100" b="0" i="0">
                <a:solidFill>
                  <a:srgbClr val="5A687A"/>
                </a:solidFill>
                <a:latin typeface="Calibri"/>
              </a:rPr>
              <a:t>Internal briefing  ·  Saab  ·  KTH master's thesis  ·  Markus Johnson Swegmark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11535" y="6528816"/>
            <a:ext cx="96012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100" b="0" i="0">
                <a:solidFill>
                  <a:srgbClr val="5A687A"/>
                </a:solidFill>
                <a:latin typeface="Calibri"/>
              </a:rPr>
              <a:t>10 / 11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0A7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28600"/>
            <a:ext cx="1097280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 i="0">
                <a:solidFill>
                  <a:srgbClr val="142034"/>
                </a:solidFill>
                <a:latin typeface="Calibri"/>
              </a:rPr>
              <a:t>In one breath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914400"/>
            <a:ext cx="11155680" cy="1188720"/>
          </a:xfrm>
          <a:prstGeom prst="roundRect">
            <a:avLst>
              <a:gd name="adj" fmla="val 8000"/>
            </a:avLst>
          </a:prstGeom>
          <a:solidFill>
            <a:srgbClr val="F3F6F8"/>
          </a:solidFill>
          <a:ln w="12700">
            <a:solidFill>
              <a:srgbClr val="D2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280160"/>
            <a:ext cx="1097280" cy="438912"/>
          </a:xfrm>
          <a:prstGeom prst="roundRect">
            <a:avLst>
              <a:gd name="adj" fmla="val 20000"/>
            </a:avLst>
          </a:prstGeom>
          <a:solidFill>
            <a:srgbClr val="0A7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316736"/>
            <a:ext cx="109728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RQ1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57400" y="1207008"/>
            <a:ext cx="928116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>
                <a:solidFill>
                  <a:srgbClr val="142034"/>
                </a:solidFill>
                <a:latin typeface="Calibri"/>
              </a:rPr>
              <a:t>Yes. Vanilla recovers both partitions on most windows. Feature DBSCAN does not.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240280"/>
            <a:ext cx="11155680" cy="1188720"/>
          </a:xfrm>
          <a:prstGeom prst="roundRect">
            <a:avLst>
              <a:gd name="adj" fmla="val 8000"/>
            </a:avLst>
          </a:prstGeom>
          <a:solidFill>
            <a:srgbClr val="F3F6F8"/>
          </a:solidFill>
          <a:ln w="12700">
            <a:solidFill>
              <a:srgbClr val="D2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31520" y="2606040"/>
            <a:ext cx="1097280" cy="438912"/>
          </a:xfrm>
          <a:prstGeom prst="roundRect">
            <a:avLst>
              <a:gd name="adj" fmla="val 20000"/>
            </a:avLst>
          </a:prstGeom>
          <a:solidFill>
            <a:srgbClr val="0A7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2642616"/>
            <a:ext cx="109728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RQ2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2532888"/>
            <a:ext cx="928116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>
                <a:solidFill>
                  <a:srgbClr val="142034"/>
                </a:solidFill>
                <a:latin typeface="Calibri"/>
              </a:rPr>
              <a:t>No, if you only need deinterleaving. Joint taxes emitters on Vanilla. RoPE-TOA does not pay that tax.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3566160"/>
            <a:ext cx="11155680" cy="1188720"/>
          </a:xfrm>
          <a:prstGeom prst="roundRect">
            <a:avLst>
              <a:gd name="adj" fmla="val 8000"/>
            </a:avLst>
          </a:prstGeom>
          <a:solidFill>
            <a:srgbClr val="F3F6F8"/>
          </a:solidFill>
          <a:ln w="12700">
            <a:solidFill>
              <a:srgbClr val="D2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31520" y="3931920"/>
            <a:ext cx="1097280" cy="438912"/>
          </a:xfrm>
          <a:prstGeom prst="roundRect">
            <a:avLst>
              <a:gd name="adj" fmla="val 20000"/>
            </a:avLst>
          </a:prstGeom>
          <a:solidFill>
            <a:srgbClr val="0A7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3968496"/>
            <a:ext cx="109728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RQ3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57400" y="3858768"/>
            <a:ext cx="928116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>
                <a:solidFill>
                  <a:srgbClr val="142034"/>
                </a:solidFill>
                <a:latin typeface="Calibri"/>
              </a:rPr>
              <a:t>Yes for time. RoPE-TOA or the pairwise bias close the emitter tail. Stacking them does not. RoPE is the one you want.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029200"/>
            <a:ext cx="11064240" cy="10515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5A687A"/>
                </a:solidFill>
                <a:latin typeface="Calibri"/>
              </a:rPr>
              <a:t>The data is unbalanced because physics is: lock-on versus a 2–5 s scan, low PRI versus high PRI. Attention is expensive because associating non-adjacent pulses is an all-pairs question. Putting time into that product closed the last errors.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5F7F9"/>
          </a:solidFill>
          <a:ln w="12700">
            <a:solidFill>
              <a:srgbClr val="D2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80" y="6528816"/>
            <a:ext cx="93268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100" b="0" i="0">
                <a:solidFill>
                  <a:srgbClr val="5A687A"/>
                </a:solidFill>
                <a:latin typeface="Calibri"/>
              </a:rPr>
              <a:t>Internal briefing  ·  Saab  ·  KTH master's thesis  ·  Markus Johnson Swegmark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11535" y="6528816"/>
            <a:ext cx="96012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100" b="0" i="0">
                <a:solidFill>
                  <a:srgbClr val="5A687A"/>
                </a:solidFill>
                <a:latin typeface="Calibri"/>
              </a:rPr>
              <a:t>11 / 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