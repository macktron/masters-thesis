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6858000" cx="12191675"/>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25" roundtripDataSignature="AMtx7miofYsNCkLN+grpks6LkozJk1s1J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Internal walkthrough, not a defence. Data and the two attention tricks first.</a:t>
            </a:r>
            <a:endParaRPr/>
          </a:p>
        </p:txBody>
      </p:sp>
      <p:sp>
        <p:nvSpPr>
          <p:cNvPr id="83" name="Google Shape;83;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4" name="Google Shape;94;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9" name="Google Shape;119;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9" name="Google Shape;139;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Classical chain deinterleaves first. We want both partitions from the mixed list. Answers at the end.</a:t>
            </a:r>
            <a:endParaRPr/>
          </a:p>
        </p:txBody>
      </p:sp>
      <p:sp>
        <p:nvSpPr>
          <p:cNvPr id="140" name="Google Shape;140;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7" name="Google Shape;167;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4" name="Google Shape;184;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Walk the amplitude panel. Gaps between purple lobes are the rotation.</a:t>
            </a:r>
            <a:endParaRPr/>
          </a:p>
        </p:txBody>
      </p:sp>
      <p:sp>
        <p:nvSpPr>
          <p:cNvPr id="185" name="Google Shape;185;p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1" name="Google Shape;201;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0" name="Google Shape;230;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The two similarities can fight in the trunk. Do not claim a Mamba bake-off.</a:t>
            </a:r>
            <a:endParaRPr/>
          </a:p>
        </p:txBody>
      </p:sp>
      <p:sp>
        <p:nvSpPr>
          <p:cNvPr id="231" name="Google Shape;231;p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f9e926ad14_0_3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1" name="Google Shape;251;g3f9e926ad14_0_3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Next two slides are the animations. Let them play once.</a:t>
            </a:r>
            <a:endParaRPr/>
          </a:p>
        </p:txBody>
      </p:sp>
      <p:sp>
        <p:nvSpPr>
          <p:cNvPr id="252" name="Google Shape;252;g3f9e926ad14_0_3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5" name="Google Shape;265;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Next two slides are the animations. Let them play once.</a:t>
            </a:r>
            <a:endParaRPr/>
          </a:p>
        </p:txBody>
      </p:sp>
      <p:sp>
        <p:nvSpPr>
          <p:cNvPr id="266" name="Google Shape;266;p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8" name="Google Shape;298;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US" sz="1100"/>
              <a:t>Silent clip. Four 2D planes of one head, left is fastest. Both pulses move together first (co-rotation). Then the key peels away, so only the relative time gap remains, and it twists the fast planes more.</a:t>
            </a:r>
            <a:endParaRPr/>
          </a:p>
        </p:txBody>
      </p:sp>
      <p:sp>
        <p:nvSpPr>
          <p:cNvPr id="299" name="Google Shape;299;p1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7" name="Google Shape;317;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A cache skips rebuild, not the quadratic subtract. RoPE is the cheap twin.</a:t>
            </a:r>
            <a:endParaRPr/>
          </a:p>
        </p:txBody>
      </p:sp>
      <p:sp>
        <p:nvSpPr>
          <p:cNvPr id="318" name="Google Shape;318;p1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8" name="Google Shape;338;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2" name="Google Shape;352;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5" name="Google Shape;365;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9" name="Google Shape;379;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RQ1 is yes, with a leftover deinterleaving tail. Mode is already easier in the raw PDWs.</a:t>
            </a:r>
            <a:endParaRPr/>
          </a:p>
        </p:txBody>
      </p:sp>
      <p:sp>
        <p:nvSpPr>
          <p:cNvPr id="380" name="Google Shape;380;p1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95" name="Google Shape;395;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12" name="Google Shape;412;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31" name="Google Shape;431;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1"/>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1"/>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3"/>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3"/>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4"/>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4"/>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5"/>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5"/>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5"/>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5"/>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7"/>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7"/>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27"/>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8"/>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8"/>
          <p:cNvSpPr/>
          <p:nvPr>
            <p:ph idx="2" type="pic"/>
          </p:nvPr>
        </p:nvSpPr>
        <p:spPr>
          <a:xfrm>
            <a:off x="1792288" y="612775"/>
            <a:ext cx="5486400" cy="4114800"/>
          </a:xfrm>
          <a:prstGeom prst="rect">
            <a:avLst/>
          </a:prstGeom>
          <a:noFill/>
          <a:ln>
            <a:noFill/>
          </a:ln>
        </p:spPr>
      </p:sp>
      <p:sp>
        <p:nvSpPr>
          <p:cNvPr id="64" name="Google Shape;64;p28"/>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9"/>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0"/>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0"/>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6.png"/><Relationship Id="rId5"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0.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hyperlink" Target="http://drive.google.com/file/d/1-xpfRBrN038rJen1Im2aSOsPr11uWAHT/view" TargetMode="External"/><Relationship Id="rId4" Type="http://schemas.openxmlformats.org/officeDocument/2006/relationships/image" Target="../media/image15.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5.png"/><Relationship Id="rId4" Type="http://schemas.openxmlformats.org/officeDocument/2006/relationships/image" Target="../media/image9.png"/><Relationship Id="rId5"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6.png"/><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2.png"/><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
          <p:cNvSpPr/>
          <p:nvPr/>
        </p:nvSpPr>
        <p:spPr>
          <a:xfrm>
            <a:off x="0" y="0"/>
            <a:ext cx="12191695" cy="6858000"/>
          </a:xfrm>
          <a:prstGeom prst="rect">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6" name="Google Shape;86;p1"/>
          <p:cNvSpPr/>
          <p:nvPr/>
        </p:nvSpPr>
        <p:spPr>
          <a:xfrm>
            <a:off x="0" y="0"/>
            <a:ext cx="12191695" cy="64008"/>
          </a:xfrm>
          <a:prstGeom prst="rect">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7" name="Google Shape;87;p1"/>
          <p:cNvSpPr txBox="1"/>
          <p:nvPr/>
        </p:nvSpPr>
        <p:spPr>
          <a:xfrm>
            <a:off x="640080" y="1737360"/>
            <a:ext cx="10972800" cy="1371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142034"/>
                </a:solidFill>
                <a:latin typeface="Calibri"/>
                <a:ea typeface="Calibri"/>
                <a:cs typeface="Calibri"/>
                <a:sym typeface="Calibri"/>
              </a:rPr>
              <a:t>Joint emitter and mode clustering</a:t>
            </a:r>
            <a:br>
              <a:rPr b="1" i="0" lang="en-US" sz="3400" u="none" cap="none" strike="noStrike">
                <a:solidFill>
                  <a:srgbClr val="142034"/>
                </a:solidFill>
                <a:latin typeface="Calibri"/>
                <a:ea typeface="Calibri"/>
                <a:cs typeface="Calibri"/>
                <a:sym typeface="Calibri"/>
              </a:rPr>
            </a:br>
            <a:r>
              <a:rPr b="1" i="0" lang="en-US" sz="3400" u="none" cap="none" strike="noStrike">
                <a:solidFill>
                  <a:srgbClr val="142034"/>
                </a:solidFill>
                <a:latin typeface="Calibri"/>
                <a:ea typeface="Calibri"/>
                <a:cs typeface="Calibri"/>
                <a:sym typeface="Calibri"/>
              </a:rPr>
              <a:t>from mixed PDW streams</a:t>
            </a:r>
            <a:endParaRPr b="0" i="0" sz="1400" u="none" cap="none" strike="noStrike">
              <a:solidFill>
                <a:srgbClr val="000000"/>
              </a:solidFill>
              <a:latin typeface="Arial"/>
              <a:ea typeface="Arial"/>
              <a:cs typeface="Arial"/>
              <a:sym typeface="Arial"/>
            </a:endParaRPr>
          </a:p>
        </p:txBody>
      </p:sp>
      <p:sp>
        <p:nvSpPr>
          <p:cNvPr id="88" name="Google Shape;88;p1"/>
          <p:cNvSpPr txBox="1"/>
          <p:nvPr/>
        </p:nvSpPr>
        <p:spPr>
          <a:xfrm>
            <a:off x="640080" y="5029200"/>
            <a:ext cx="10058400" cy="6400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142034"/>
                </a:solidFill>
                <a:latin typeface="Calibri"/>
                <a:ea typeface="Calibri"/>
                <a:cs typeface="Calibri"/>
                <a:sym typeface="Calibri"/>
              </a:rPr>
              <a:t>Markus Johnson Swegmark</a:t>
            </a:r>
            <a:br>
              <a:rPr b="0" i="0" lang="en-US" sz="1400" u="none" cap="none" strike="noStrike">
                <a:solidFill>
                  <a:srgbClr val="142034"/>
                </a:solidFill>
                <a:latin typeface="Calibri"/>
                <a:ea typeface="Calibri"/>
                <a:cs typeface="Calibri"/>
                <a:sym typeface="Calibri"/>
              </a:rPr>
            </a:br>
            <a:r>
              <a:rPr b="0" i="0" lang="en-US" sz="1400" u="none" cap="none" strike="noStrike">
                <a:solidFill>
                  <a:srgbClr val="142034"/>
                </a:solidFill>
                <a:latin typeface="Calibri"/>
                <a:ea typeface="Calibri"/>
                <a:cs typeface="Calibri"/>
                <a:sym typeface="Calibri"/>
              </a:rPr>
              <a:t>Supervisors: Alexander Karlsson, Elin Ohlman (Saab)  ·  Saikat Chatterjee (KTH)</a:t>
            </a:r>
            <a:endParaRPr b="0" i="0" sz="1400" u="none" cap="none" strike="noStrike">
              <a:solidFill>
                <a:srgbClr val="000000"/>
              </a:solidFill>
              <a:latin typeface="Arial"/>
              <a:ea typeface="Arial"/>
              <a:cs typeface="Arial"/>
              <a:sym typeface="Arial"/>
            </a:endParaRPr>
          </a:p>
        </p:txBody>
      </p:sp>
      <p:sp>
        <p:nvSpPr>
          <p:cNvPr id="89" name="Google Shape;89;p1"/>
          <p:cNvSpPr/>
          <p:nvPr/>
        </p:nvSpPr>
        <p:spPr>
          <a:xfrm>
            <a:off x="0" y="6510528"/>
            <a:ext cx="12191695" cy="347472"/>
          </a:xfrm>
          <a:prstGeom prst="rect">
            <a:avLst/>
          </a:prstGeom>
          <a:solidFill>
            <a:srgbClr val="F5F7F9"/>
          </a:solidFill>
          <a:ln cap="flat" cmpd="sng" w="12700">
            <a:solidFill>
              <a:srgbClr val="D2DA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0" name="Google Shape;90;p1"/>
          <p:cNvSpPr txBox="1"/>
          <p:nvPr/>
        </p:nvSpPr>
        <p:spPr>
          <a:xfrm>
            <a:off x="411480" y="6528816"/>
            <a:ext cx="9326880" cy="29260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5A687A"/>
                </a:solidFill>
                <a:latin typeface="Calibri"/>
                <a:ea typeface="Calibri"/>
                <a:cs typeface="Calibri"/>
                <a:sym typeface="Calibri"/>
              </a:rPr>
              <a:t>Internal briefing  ·  Saab  ·  KTH master's thesis  ·  Markus Johnson Swegmark</a:t>
            </a:r>
            <a:endParaRPr b="0" i="0" sz="1400" u="none" cap="none" strike="noStrike">
              <a:solidFill>
                <a:srgbClr val="000000"/>
              </a:solidFill>
              <a:latin typeface="Arial"/>
              <a:ea typeface="Arial"/>
              <a:cs typeface="Arial"/>
              <a:sym typeface="Arial"/>
            </a:endParaRPr>
          </a:p>
        </p:txBody>
      </p:sp>
      <p:sp>
        <p:nvSpPr>
          <p:cNvPr id="91" name="Google Shape;91;p1"/>
          <p:cNvSpPr txBox="1"/>
          <p:nvPr/>
        </p:nvSpPr>
        <p:spPr>
          <a:xfrm>
            <a:off x="10911535" y="6528816"/>
            <a:ext cx="960120" cy="29260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5A687A"/>
                </a:solidFill>
                <a:latin typeface="Calibri"/>
                <a:ea typeface="Calibri"/>
                <a:cs typeface="Calibri"/>
                <a:sym typeface="Calibri"/>
              </a:rPr>
              <a:t>1 / 19</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
          <p:cNvSpPr/>
          <p:nvPr/>
        </p:nvSpPr>
        <p:spPr>
          <a:xfrm>
            <a:off x="0" y="0"/>
            <a:ext cx="12191695" cy="6858000"/>
          </a:xfrm>
          <a:prstGeom prst="rect">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7" name="Google Shape;97;p2"/>
          <p:cNvSpPr/>
          <p:nvPr/>
        </p:nvSpPr>
        <p:spPr>
          <a:xfrm>
            <a:off x="0" y="0"/>
            <a:ext cx="12191695" cy="64008"/>
          </a:xfrm>
          <a:prstGeom prst="rect">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8" name="Google Shape;98;p2"/>
          <p:cNvSpPr txBox="1"/>
          <p:nvPr/>
        </p:nvSpPr>
        <p:spPr>
          <a:xfrm>
            <a:off x="502920" y="201168"/>
            <a:ext cx="11155680" cy="38404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142034"/>
                </a:solidFill>
                <a:latin typeface="Calibri"/>
                <a:ea typeface="Calibri"/>
                <a:cs typeface="Calibri"/>
                <a:sym typeface="Calibri"/>
              </a:rPr>
              <a:t>Introduction and terminology</a:t>
            </a:r>
            <a:endParaRPr b="0" i="0" sz="1400" u="none" cap="none" strike="noStrike">
              <a:solidFill>
                <a:srgbClr val="000000"/>
              </a:solidFill>
              <a:latin typeface="Arial"/>
              <a:ea typeface="Arial"/>
              <a:cs typeface="Arial"/>
              <a:sym typeface="Arial"/>
            </a:endParaRPr>
          </a:p>
        </p:txBody>
      </p:sp>
      <p:sp>
        <p:nvSpPr>
          <p:cNvPr id="99" name="Google Shape;99;p2"/>
          <p:cNvSpPr txBox="1"/>
          <p:nvPr/>
        </p:nvSpPr>
        <p:spPr>
          <a:xfrm>
            <a:off x="502920" y="777240"/>
            <a:ext cx="11155680" cy="31089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0A7A96"/>
                </a:solidFill>
                <a:latin typeface="Calibri"/>
                <a:ea typeface="Calibri"/>
                <a:cs typeface="Calibri"/>
                <a:sym typeface="Calibri"/>
              </a:rPr>
              <a:t>Electronic Support Measures (ESM)</a:t>
            </a:r>
            <a:endParaRPr b="0" i="0" sz="1400" u="none" cap="none" strike="noStrike">
              <a:solidFill>
                <a:srgbClr val="000000"/>
              </a:solidFill>
              <a:latin typeface="Arial"/>
              <a:ea typeface="Arial"/>
              <a:cs typeface="Arial"/>
              <a:sym typeface="Arial"/>
            </a:endParaRPr>
          </a:p>
        </p:txBody>
      </p:sp>
      <p:sp>
        <p:nvSpPr>
          <p:cNvPr id="100" name="Google Shape;100;p2"/>
          <p:cNvSpPr txBox="1"/>
          <p:nvPr/>
        </p:nvSpPr>
        <p:spPr>
          <a:xfrm>
            <a:off x="502920" y="1115568"/>
            <a:ext cx="11155680" cy="5029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142034"/>
                </a:solidFill>
                <a:latin typeface="Calibri"/>
                <a:ea typeface="Calibri"/>
                <a:cs typeface="Calibri"/>
                <a:sym typeface="Calibri"/>
              </a:rPr>
              <a:t>Passively detect, intercept, and analyze electromagnetic signals.</a:t>
            </a:r>
            <a:endParaRPr b="0" i="0" sz="1400" u="none" cap="none" strike="noStrike">
              <a:solidFill>
                <a:srgbClr val="000000"/>
              </a:solidFill>
              <a:latin typeface="Arial"/>
              <a:ea typeface="Arial"/>
              <a:cs typeface="Arial"/>
              <a:sym typeface="Arial"/>
            </a:endParaRPr>
          </a:p>
        </p:txBody>
      </p:sp>
      <p:sp>
        <p:nvSpPr>
          <p:cNvPr id="101" name="Google Shape;101;p2"/>
          <p:cNvSpPr txBox="1"/>
          <p:nvPr/>
        </p:nvSpPr>
        <p:spPr>
          <a:xfrm>
            <a:off x="502920" y="1737360"/>
            <a:ext cx="11155680" cy="31089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0A7A96"/>
                </a:solidFill>
                <a:latin typeface="Calibri"/>
                <a:ea typeface="Calibri"/>
                <a:cs typeface="Calibri"/>
                <a:sym typeface="Calibri"/>
              </a:rPr>
              <a:t>Pulse Descriptor Word (PDW)</a:t>
            </a:r>
            <a:endParaRPr b="0" i="0" sz="1400" u="none" cap="none" strike="noStrike">
              <a:solidFill>
                <a:srgbClr val="000000"/>
              </a:solidFill>
              <a:latin typeface="Arial"/>
              <a:ea typeface="Arial"/>
              <a:cs typeface="Arial"/>
              <a:sym typeface="Arial"/>
            </a:endParaRPr>
          </a:p>
        </p:txBody>
      </p:sp>
      <p:sp>
        <p:nvSpPr>
          <p:cNvPr id="102" name="Google Shape;102;p2"/>
          <p:cNvSpPr txBox="1"/>
          <p:nvPr/>
        </p:nvSpPr>
        <p:spPr>
          <a:xfrm>
            <a:off x="502920" y="2075688"/>
            <a:ext cx="11155680" cy="5029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142034"/>
                </a:solidFill>
                <a:latin typeface="Calibri"/>
                <a:ea typeface="Calibri"/>
                <a:cs typeface="Calibri"/>
                <a:sym typeface="Calibri"/>
              </a:rPr>
              <a:t>A discrete record of a single pulse's measured parameters.</a:t>
            </a:r>
            <a:endParaRPr b="0" i="0" sz="1400" u="none" cap="none" strike="noStrike">
              <a:solidFill>
                <a:srgbClr val="000000"/>
              </a:solidFill>
              <a:latin typeface="Arial"/>
              <a:ea typeface="Arial"/>
              <a:cs typeface="Arial"/>
              <a:sym typeface="Arial"/>
            </a:endParaRPr>
          </a:p>
        </p:txBody>
      </p:sp>
      <p:sp>
        <p:nvSpPr>
          <p:cNvPr id="103" name="Google Shape;103;p2"/>
          <p:cNvSpPr/>
          <p:nvPr/>
        </p:nvSpPr>
        <p:spPr>
          <a:xfrm>
            <a:off x="502920" y="2880360"/>
            <a:ext cx="109728" cy="109728"/>
          </a:xfrm>
          <a:prstGeom prst="ellipse">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4" name="Google Shape;104;p2"/>
          <p:cNvSpPr txBox="1"/>
          <p:nvPr/>
        </p:nvSpPr>
        <p:spPr>
          <a:xfrm>
            <a:off x="758952" y="2788920"/>
            <a:ext cx="5047488" cy="51206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142034"/>
                </a:solidFill>
                <a:latin typeface="Calibri"/>
                <a:ea typeface="Calibri"/>
                <a:cs typeface="Calibri"/>
                <a:sym typeface="Calibri"/>
              </a:rPr>
              <a:t>Time of arrival (TOA)</a:t>
            </a:r>
            <a:endParaRPr b="0" i="0" sz="1400" u="none" cap="none" strike="noStrike">
              <a:solidFill>
                <a:srgbClr val="000000"/>
              </a:solidFill>
              <a:latin typeface="Arial"/>
              <a:ea typeface="Arial"/>
              <a:cs typeface="Arial"/>
              <a:sym typeface="Arial"/>
            </a:endParaRPr>
          </a:p>
        </p:txBody>
      </p:sp>
      <p:sp>
        <p:nvSpPr>
          <p:cNvPr id="105" name="Google Shape;105;p2"/>
          <p:cNvSpPr/>
          <p:nvPr/>
        </p:nvSpPr>
        <p:spPr>
          <a:xfrm>
            <a:off x="502920" y="3319272"/>
            <a:ext cx="109728" cy="109728"/>
          </a:xfrm>
          <a:prstGeom prst="ellipse">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6" name="Google Shape;106;p2"/>
          <p:cNvSpPr txBox="1"/>
          <p:nvPr/>
        </p:nvSpPr>
        <p:spPr>
          <a:xfrm>
            <a:off x="758952" y="3227832"/>
            <a:ext cx="5047488" cy="51206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142034"/>
                </a:solidFill>
                <a:latin typeface="Calibri"/>
                <a:ea typeface="Calibri"/>
                <a:cs typeface="Calibri"/>
                <a:sym typeface="Calibri"/>
              </a:rPr>
              <a:t>Carrier frequency (Frequency)</a:t>
            </a:r>
            <a:endParaRPr b="0" i="0" sz="1400" u="none" cap="none" strike="noStrike">
              <a:solidFill>
                <a:srgbClr val="000000"/>
              </a:solidFill>
              <a:latin typeface="Arial"/>
              <a:ea typeface="Arial"/>
              <a:cs typeface="Arial"/>
              <a:sym typeface="Arial"/>
            </a:endParaRPr>
          </a:p>
        </p:txBody>
      </p:sp>
      <p:sp>
        <p:nvSpPr>
          <p:cNvPr id="107" name="Google Shape;107;p2"/>
          <p:cNvSpPr/>
          <p:nvPr/>
        </p:nvSpPr>
        <p:spPr>
          <a:xfrm>
            <a:off x="502920" y="3758184"/>
            <a:ext cx="109728" cy="109728"/>
          </a:xfrm>
          <a:prstGeom prst="ellipse">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8" name="Google Shape;108;p2"/>
          <p:cNvSpPr txBox="1"/>
          <p:nvPr/>
        </p:nvSpPr>
        <p:spPr>
          <a:xfrm>
            <a:off x="758952" y="3666744"/>
            <a:ext cx="5047488" cy="51206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142034"/>
                </a:solidFill>
                <a:latin typeface="Calibri"/>
                <a:ea typeface="Calibri"/>
                <a:cs typeface="Calibri"/>
                <a:sym typeface="Calibri"/>
              </a:rPr>
              <a:t>Pulse width (PW)</a:t>
            </a:r>
            <a:endParaRPr b="0" i="0" sz="1400" u="none" cap="none" strike="noStrike">
              <a:solidFill>
                <a:srgbClr val="000000"/>
              </a:solidFill>
              <a:latin typeface="Arial"/>
              <a:ea typeface="Arial"/>
              <a:cs typeface="Arial"/>
              <a:sym typeface="Arial"/>
            </a:endParaRPr>
          </a:p>
        </p:txBody>
      </p:sp>
      <p:sp>
        <p:nvSpPr>
          <p:cNvPr id="109" name="Google Shape;109;p2"/>
          <p:cNvSpPr/>
          <p:nvPr/>
        </p:nvSpPr>
        <p:spPr>
          <a:xfrm>
            <a:off x="6309360" y="2880360"/>
            <a:ext cx="109728" cy="109728"/>
          </a:xfrm>
          <a:prstGeom prst="ellipse">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0" name="Google Shape;110;p2"/>
          <p:cNvSpPr txBox="1"/>
          <p:nvPr/>
        </p:nvSpPr>
        <p:spPr>
          <a:xfrm>
            <a:off x="6565392" y="2788920"/>
            <a:ext cx="5047488" cy="51206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142034"/>
                </a:solidFill>
                <a:latin typeface="Calibri"/>
                <a:ea typeface="Calibri"/>
                <a:cs typeface="Calibri"/>
                <a:sym typeface="Calibri"/>
              </a:rPr>
              <a:t>Amplitude (A)</a:t>
            </a:r>
            <a:endParaRPr b="0" i="0" sz="1400" u="none" cap="none" strike="noStrike">
              <a:solidFill>
                <a:srgbClr val="000000"/>
              </a:solidFill>
              <a:latin typeface="Arial"/>
              <a:ea typeface="Arial"/>
              <a:cs typeface="Arial"/>
              <a:sym typeface="Arial"/>
            </a:endParaRPr>
          </a:p>
        </p:txBody>
      </p:sp>
      <p:sp>
        <p:nvSpPr>
          <p:cNvPr id="111" name="Google Shape;111;p2"/>
          <p:cNvSpPr/>
          <p:nvPr/>
        </p:nvSpPr>
        <p:spPr>
          <a:xfrm>
            <a:off x="6309360" y="3319272"/>
            <a:ext cx="109728" cy="109728"/>
          </a:xfrm>
          <a:prstGeom prst="ellipse">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2" name="Google Shape;112;p2"/>
          <p:cNvSpPr txBox="1"/>
          <p:nvPr/>
        </p:nvSpPr>
        <p:spPr>
          <a:xfrm>
            <a:off x="6565392" y="3227832"/>
            <a:ext cx="5047488" cy="51206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142034"/>
                </a:solidFill>
                <a:latin typeface="Calibri"/>
                <a:ea typeface="Calibri"/>
                <a:cs typeface="Calibri"/>
                <a:sym typeface="Calibri"/>
              </a:rPr>
              <a:t>Angle of arrival (AOA)</a:t>
            </a:r>
            <a:endParaRPr b="0" i="0" sz="1400" u="none" cap="none" strike="noStrike">
              <a:solidFill>
                <a:srgbClr val="000000"/>
              </a:solidFill>
              <a:latin typeface="Arial"/>
              <a:ea typeface="Arial"/>
              <a:cs typeface="Arial"/>
              <a:sym typeface="Arial"/>
            </a:endParaRPr>
          </a:p>
        </p:txBody>
      </p:sp>
      <p:sp>
        <p:nvSpPr>
          <p:cNvPr id="113" name="Google Shape;113;p2"/>
          <p:cNvSpPr txBox="1"/>
          <p:nvPr/>
        </p:nvSpPr>
        <p:spPr>
          <a:xfrm>
            <a:off x="6565392" y="3703320"/>
            <a:ext cx="50292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5A687A"/>
                </a:solidFill>
                <a:latin typeface="Calibri"/>
                <a:ea typeface="Calibri"/>
                <a:cs typeface="Calibri"/>
                <a:sym typeface="Calibri"/>
              </a:rPr>
              <a:t>This can be Euclidean incidence as well.</a:t>
            </a:r>
            <a:endParaRPr b="0" i="0" sz="1400" u="none" cap="none" strike="noStrike">
              <a:solidFill>
                <a:srgbClr val="000000"/>
              </a:solidFill>
              <a:latin typeface="Arial"/>
              <a:ea typeface="Arial"/>
              <a:cs typeface="Arial"/>
              <a:sym typeface="Arial"/>
            </a:endParaRPr>
          </a:p>
        </p:txBody>
      </p:sp>
      <p:sp>
        <p:nvSpPr>
          <p:cNvPr id="114" name="Google Shape;114;p2"/>
          <p:cNvSpPr/>
          <p:nvPr/>
        </p:nvSpPr>
        <p:spPr>
          <a:xfrm>
            <a:off x="0" y="6510528"/>
            <a:ext cx="12191695" cy="347472"/>
          </a:xfrm>
          <a:prstGeom prst="rect">
            <a:avLst/>
          </a:prstGeom>
          <a:solidFill>
            <a:srgbClr val="F5F7F9"/>
          </a:solidFill>
          <a:ln cap="flat" cmpd="sng" w="12700">
            <a:solidFill>
              <a:srgbClr val="D2DA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5" name="Google Shape;115;p2"/>
          <p:cNvSpPr txBox="1"/>
          <p:nvPr/>
        </p:nvSpPr>
        <p:spPr>
          <a:xfrm>
            <a:off x="411480" y="6528816"/>
            <a:ext cx="9326880" cy="29260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5A687A"/>
                </a:solidFill>
                <a:latin typeface="Calibri"/>
                <a:ea typeface="Calibri"/>
                <a:cs typeface="Calibri"/>
                <a:sym typeface="Calibri"/>
              </a:rPr>
              <a:t>Internal briefing  ·  Saab  ·  KTH master's thesis  ·  Markus Johnson Swegmark</a:t>
            </a:r>
            <a:endParaRPr b="0" i="0" sz="1400" u="none" cap="none" strike="noStrike">
              <a:solidFill>
                <a:srgbClr val="000000"/>
              </a:solidFill>
              <a:latin typeface="Arial"/>
              <a:ea typeface="Arial"/>
              <a:cs typeface="Arial"/>
              <a:sym typeface="Arial"/>
            </a:endParaRPr>
          </a:p>
        </p:txBody>
      </p:sp>
      <p:sp>
        <p:nvSpPr>
          <p:cNvPr id="116" name="Google Shape;116;p2"/>
          <p:cNvSpPr txBox="1"/>
          <p:nvPr/>
        </p:nvSpPr>
        <p:spPr>
          <a:xfrm>
            <a:off x="10911535" y="6528816"/>
            <a:ext cx="960120" cy="29260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5A687A"/>
                </a:solidFill>
                <a:latin typeface="Calibri"/>
                <a:ea typeface="Calibri"/>
                <a:cs typeface="Calibri"/>
                <a:sym typeface="Calibri"/>
              </a:rPr>
              <a:t>2 / 19</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3"/>
          <p:cNvSpPr/>
          <p:nvPr/>
        </p:nvSpPr>
        <p:spPr>
          <a:xfrm>
            <a:off x="0" y="0"/>
            <a:ext cx="12191695" cy="6858000"/>
          </a:xfrm>
          <a:prstGeom prst="rect">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2" name="Google Shape;122;p3"/>
          <p:cNvSpPr/>
          <p:nvPr/>
        </p:nvSpPr>
        <p:spPr>
          <a:xfrm>
            <a:off x="0" y="0"/>
            <a:ext cx="12191695" cy="64008"/>
          </a:xfrm>
          <a:prstGeom prst="rect">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3" name="Google Shape;123;p3"/>
          <p:cNvSpPr txBox="1"/>
          <p:nvPr/>
        </p:nvSpPr>
        <p:spPr>
          <a:xfrm>
            <a:off x="502920" y="201168"/>
            <a:ext cx="11155680" cy="38404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142034"/>
                </a:solidFill>
                <a:latin typeface="Calibri"/>
                <a:ea typeface="Calibri"/>
                <a:cs typeface="Calibri"/>
                <a:sym typeface="Calibri"/>
              </a:rPr>
              <a:t>Problem</a:t>
            </a:r>
            <a:endParaRPr b="0" i="0" sz="1400" u="none" cap="none" strike="noStrike">
              <a:solidFill>
                <a:srgbClr val="000000"/>
              </a:solidFill>
              <a:latin typeface="Arial"/>
              <a:ea typeface="Arial"/>
              <a:cs typeface="Arial"/>
              <a:sym typeface="Arial"/>
            </a:endParaRPr>
          </a:p>
        </p:txBody>
      </p:sp>
      <p:sp>
        <p:nvSpPr>
          <p:cNvPr id="124" name="Google Shape;124;p3"/>
          <p:cNvSpPr txBox="1"/>
          <p:nvPr/>
        </p:nvSpPr>
        <p:spPr>
          <a:xfrm>
            <a:off x="502920" y="731520"/>
            <a:ext cx="11155680" cy="3200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5A687A"/>
                </a:solidFill>
                <a:latin typeface="Calibri"/>
                <a:ea typeface="Calibri"/>
                <a:cs typeface="Calibri"/>
                <a:sym typeface="Calibri"/>
              </a:rPr>
              <a:t>A typical ESM processing chain looks roughly like:</a:t>
            </a:r>
            <a:endParaRPr b="0" i="0" sz="1400" u="none" cap="none" strike="noStrike">
              <a:solidFill>
                <a:srgbClr val="000000"/>
              </a:solidFill>
              <a:latin typeface="Arial"/>
              <a:ea typeface="Arial"/>
              <a:cs typeface="Arial"/>
              <a:sym typeface="Arial"/>
            </a:endParaRPr>
          </a:p>
        </p:txBody>
      </p:sp>
      <p:sp>
        <p:nvSpPr>
          <p:cNvPr id="125" name="Google Shape;125;p3"/>
          <p:cNvSpPr/>
          <p:nvPr/>
        </p:nvSpPr>
        <p:spPr>
          <a:xfrm>
            <a:off x="502920" y="1078992"/>
            <a:ext cx="11155680" cy="1097280"/>
          </a:xfrm>
          <a:prstGeom prst="roundRect">
            <a:avLst>
              <a:gd fmla="val 8000" name="adj"/>
            </a:avLst>
          </a:prstGeom>
          <a:solidFill>
            <a:srgbClr val="F3F6F8"/>
          </a:solidFill>
          <a:ln cap="flat" cmpd="sng" w="12700">
            <a:solidFill>
              <a:srgbClr val="D2DA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6" name="Google Shape;126;p3"/>
          <p:cNvSpPr txBox="1"/>
          <p:nvPr/>
        </p:nvSpPr>
        <p:spPr>
          <a:xfrm>
            <a:off x="685800" y="1207008"/>
            <a:ext cx="10789920" cy="8686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142034"/>
                </a:solidFill>
                <a:latin typeface="Calibri"/>
                <a:ea typeface="Calibri"/>
                <a:cs typeface="Calibri"/>
                <a:sym typeface="Calibri"/>
              </a:rPr>
              <a:t>RF environment  →  detection  →  PDW generation  →  preprocessing  →  deinterleaving  →  emitter identification  →  mode classification  →  tracking / threat assessment</a:t>
            </a:r>
            <a:endParaRPr b="0" i="0" sz="1400" u="none" cap="none" strike="noStrike">
              <a:solidFill>
                <a:srgbClr val="000000"/>
              </a:solidFill>
              <a:latin typeface="Arial"/>
              <a:ea typeface="Arial"/>
              <a:cs typeface="Arial"/>
              <a:sym typeface="Arial"/>
            </a:endParaRPr>
          </a:p>
        </p:txBody>
      </p:sp>
      <p:sp>
        <p:nvSpPr>
          <p:cNvPr id="127" name="Google Shape;127;p3"/>
          <p:cNvSpPr/>
          <p:nvPr/>
        </p:nvSpPr>
        <p:spPr>
          <a:xfrm>
            <a:off x="502920" y="2468880"/>
            <a:ext cx="109728" cy="109728"/>
          </a:xfrm>
          <a:prstGeom prst="ellipse">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8" name="Google Shape;128;p3"/>
          <p:cNvSpPr txBox="1"/>
          <p:nvPr/>
        </p:nvSpPr>
        <p:spPr>
          <a:xfrm>
            <a:off x="758952" y="2377440"/>
            <a:ext cx="10899648" cy="85039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142034"/>
                </a:solidFill>
                <a:latin typeface="Calibri"/>
                <a:ea typeface="Calibri"/>
                <a:cs typeface="Calibri"/>
                <a:sym typeface="Calibri"/>
              </a:rPr>
              <a:t>Mode classification is done on deinterleaved streams, so it sees less information: interleaving discards other PDWs that could be relevant, especially if deinterleaving is poor.</a:t>
            </a:r>
            <a:endParaRPr b="0" i="0" sz="1400" u="none" cap="none" strike="noStrike">
              <a:solidFill>
                <a:srgbClr val="000000"/>
              </a:solidFill>
              <a:latin typeface="Arial"/>
              <a:ea typeface="Arial"/>
              <a:cs typeface="Arial"/>
              <a:sym typeface="Arial"/>
            </a:endParaRPr>
          </a:p>
        </p:txBody>
      </p:sp>
      <p:sp>
        <p:nvSpPr>
          <p:cNvPr id="129" name="Google Shape;129;p3"/>
          <p:cNvSpPr/>
          <p:nvPr/>
        </p:nvSpPr>
        <p:spPr>
          <a:xfrm>
            <a:off x="502920" y="3246120"/>
            <a:ext cx="109728" cy="109728"/>
          </a:xfrm>
          <a:prstGeom prst="ellipse">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0" name="Google Shape;130;p3"/>
          <p:cNvSpPr txBox="1"/>
          <p:nvPr/>
        </p:nvSpPr>
        <p:spPr>
          <a:xfrm>
            <a:off x="758952" y="3154680"/>
            <a:ext cx="10899648" cy="85039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142034"/>
                </a:solidFill>
                <a:latin typeface="Calibri"/>
                <a:ea typeface="Calibri"/>
                <a:cs typeface="Calibri"/>
                <a:sym typeface="Calibri"/>
              </a:rPr>
              <a:t>Mode classification cannot handle new emitters naturally. A broader alternative is clustering rather than classification.</a:t>
            </a:r>
            <a:endParaRPr b="0" i="0" sz="1400" u="none" cap="none" strike="noStrike">
              <a:solidFill>
                <a:srgbClr val="000000"/>
              </a:solidFill>
              <a:latin typeface="Arial"/>
              <a:ea typeface="Arial"/>
              <a:cs typeface="Arial"/>
              <a:sym typeface="Arial"/>
            </a:endParaRPr>
          </a:p>
        </p:txBody>
      </p:sp>
      <p:sp>
        <p:nvSpPr>
          <p:cNvPr id="131" name="Google Shape;131;p3"/>
          <p:cNvSpPr txBox="1"/>
          <p:nvPr/>
        </p:nvSpPr>
        <p:spPr>
          <a:xfrm>
            <a:off x="502920" y="4114800"/>
            <a:ext cx="11155680" cy="31089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0A7A96"/>
                </a:solidFill>
                <a:latin typeface="Calibri"/>
                <a:ea typeface="Calibri"/>
                <a:cs typeface="Calibri"/>
                <a:sym typeface="Calibri"/>
              </a:rPr>
              <a:t>Hypothesis</a:t>
            </a:r>
            <a:endParaRPr b="0" i="0" sz="1400" u="none" cap="none" strike="noStrike">
              <a:solidFill>
                <a:srgbClr val="000000"/>
              </a:solidFill>
              <a:latin typeface="Arial"/>
              <a:ea typeface="Arial"/>
              <a:cs typeface="Arial"/>
              <a:sym typeface="Arial"/>
            </a:endParaRPr>
          </a:p>
        </p:txBody>
      </p:sp>
      <p:sp>
        <p:nvSpPr>
          <p:cNvPr id="132" name="Google Shape;132;p3"/>
          <p:cNvSpPr/>
          <p:nvPr/>
        </p:nvSpPr>
        <p:spPr>
          <a:xfrm>
            <a:off x="502920" y="4617720"/>
            <a:ext cx="109728" cy="109728"/>
          </a:xfrm>
          <a:prstGeom prst="ellipse">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3" name="Google Shape;133;p3"/>
          <p:cNvSpPr txBox="1"/>
          <p:nvPr/>
        </p:nvSpPr>
        <p:spPr>
          <a:xfrm>
            <a:off x="758952" y="4526280"/>
            <a:ext cx="10899648" cy="71323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142034"/>
                </a:solidFill>
                <a:latin typeface="Calibri"/>
                <a:ea typeface="Calibri"/>
                <a:cs typeface="Calibri"/>
                <a:sym typeface="Calibri"/>
              </a:rPr>
              <a:t>Joint deinterleaving and mode clustering could be better. One model that does both.</a:t>
            </a:r>
            <a:endParaRPr b="0" i="0" sz="1400" u="none" cap="none" strike="noStrike">
              <a:solidFill>
                <a:srgbClr val="000000"/>
              </a:solidFill>
              <a:latin typeface="Arial"/>
              <a:ea typeface="Arial"/>
              <a:cs typeface="Arial"/>
              <a:sym typeface="Arial"/>
            </a:endParaRPr>
          </a:p>
        </p:txBody>
      </p:sp>
      <p:sp>
        <p:nvSpPr>
          <p:cNvPr id="134" name="Google Shape;134;p3"/>
          <p:cNvSpPr/>
          <p:nvPr/>
        </p:nvSpPr>
        <p:spPr>
          <a:xfrm>
            <a:off x="0" y="6510528"/>
            <a:ext cx="12191695" cy="347472"/>
          </a:xfrm>
          <a:prstGeom prst="rect">
            <a:avLst/>
          </a:prstGeom>
          <a:solidFill>
            <a:srgbClr val="F5F7F9"/>
          </a:solidFill>
          <a:ln cap="flat" cmpd="sng" w="12700">
            <a:solidFill>
              <a:srgbClr val="D2DA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5" name="Google Shape;135;p3"/>
          <p:cNvSpPr txBox="1"/>
          <p:nvPr/>
        </p:nvSpPr>
        <p:spPr>
          <a:xfrm>
            <a:off x="411480" y="6528816"/>
            <a:ext cx="9326880" cy="29260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5A687A"/>
                </a:solidFill>
                <a:latin typeface="Calibri"/>
                <a:ea typeface="Calibri"/>
                <a:cs typeface="Calibri"/>
                <a:sym typeface="Calibri"/>
              </a:rPr>
              <a:t>Internal briefing  ·  Saab  ·  KTH master's thesis  ·  Markus Johnson Swegmark</a:t>
            </a:r>
            <a:endParaRPr b="0" i="0" sz="1400" u="none" cap="none" strike="noStrike">
              <a:solidFill>
                <a:srgbClr val="000000"/>
              </a:solidFill>
              <a:latin typeface="Arial"/>
              <a:ea typeface="Arial"/>
              <a:cs typeface="Arial"/>
              <a:sym typeface="Arial"/>
            </a:endParaRPr>
          </a:p>
        </p:txBody>
      </p:sp>
      <p:sp>
        <p:nvSpPr>
          <p:cNvPr id="136" name="Google Shape;136;p3"/>
          <p:cNvSpPr txBox="1"/>
          <p:nvPr/>
        </p:nvSpPr>
        <p:spPr>
          <a:xfrm>
            <a:off x="10911535" y="6528816"/>
            <a:ext cx="960120" cy="29260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5A687A"/>
                </a:solidFill>
                <a:latin typeface="Calibri"/>
                <a:ea typeface="Calibri"/>
                <a:cs typeface="Calibri"/>
                <a:sym typeface="Calibri"/>
              </a:rPr>
              <a:t>3 / 19</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4"/>
          <p:cNvSpPr/>
          <p:nvPr/>
        </p:nvSpPr>
        <p:spPr>
          <a:xfrm>
            <a:off x="0" y="0"/>
            <a:ext cx="12191695" cy="6858000"/>
          </a:xfrm>
          <a:prstGeom prst="rect">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3" name="Google Shape;143;p4"/>
          <p:cNvSpPr/>
          <p:nvPr/>
        </p:nvSpPr>
        <p:spPr>
          <a:xfrm>
            <a:off x="0" y="0"/>
            <a:ext cx="12191695" cy="64008"/>
          </a:xfrm>
          <a:prstGeom prst="rect">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4" name="Google Shape;144;p4"/>
          <p:cNvSpPr txBox="1"/>
          <p:nvPr/>
        </p:nvSpPr>
        <p:spPr>
          <a:xfrm>
            <a:off x="502920" y="201168"/>
            <a:ext cx="11155680" cy="38404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142034"/>
                </a:solidFill>
                <a:latin typeface="Calibri"/>
                <a:ea typeface="Calibri"/>
                <a:cs typeface="Calibri"/>
                <a:sym typeface="Calibri"/>
              </a:rPr>
              <a:t>One mixed stream, two partitions</a:t>
            </a:r>
            <a:endParaRPr b="0" i="0" sz="1400" u="none" cap="none" strike="noStrike">
              <a:solidFill>
                <a:srgbClr val="000000"/>
              </a:solidFill>
              <a:latin typeface="Arial"/>
              <a:ea typeface="Arial"/>
              <a:cs typeface="Arial"/>
              <a:sym typeface="Arial"/>
            </a:endParaRPr>
          </a:p>
        </p:txBody>
      </p:sp>
      <p:pic>
        <p:nvPicPr>
          <p:cNvPr descr="image8.png" id="145" name="Google Shape;145;p4"/>
          <p:cNvPicPr preferRelativeResize="0"/>
          <p:nvPr/>
        </p:nvPicPr>
        <p:blipFill rotWithShape="1">
          <a:blip r:embed="rId3">
            <a:alphaModFix/>
          </a:blip>
          <a:srcRect b="0" l="0" r="0" t="0"/>
          <a:stretch/>
        </p:blipFill>
        <p:spPr>
          <a:xfrm>
            <a:off x="2121408" y="777240"/>
            <a:ext cx="6925056" cy="2926080"/>
          </a:xfrm>
          <a:prstGeom prst="rect">
            <a:avLst/>
          </a:prstGeom>
          <a:noFill/>
          <a:ln>
            <a:noFill/>
          </a:ln>
        </p:spPr>
      </p:pic>
      <p:sp>
        <p:nvSpPr>
          <p:cNvPr id="146" name="Google Shape;146;p4"/>
          <p:cNvSpPr/>
          <p:nvPr/>
        </p:nvSpPr>
        <p:spPr>
          <a:xfrm>
            <a:off x="502920" y="3858768"/>
            <a:ext cx="5486400" cy="2240280"/>
          </a:xfrm>
          <a:prstGeom prst="roundRect">
            <a:avLst>
              <a:gd fmla="val 8000" name="adj"/>
            </a:avLst>
          </a:prstGeom>
          <a:solidFill>
            <a:srgbClr val="F3F6F8"/>
          </a:solidFill>
          <a:ln cap="flat" cmpd="sng" w="12700">
            <a:solidFill>
              <a:srgbClr val="D2DA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7" name="Google Shape;147;p4"/>
          <p:cNvSpPr txBox="1"/>
          <p:nvPr/>
        </p:nvSpPr>
        <p:spPr>
          <a:xfrm>
            <a:off x="685800" y="3995928"/>
            <a:ext cx="5120640" cy="29260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C45A20"/>
                </a:solidFill>
                <a:latin typeface="Calibri"/>
                <a:ea typeface="Calibri"/>
                <a:cs typeface="Calibri"/>
                <a:sym typeface="Calibri"/>
              </a:rPr>
              <a:t>Emitter  ·  deinterleaving</a:t>
            </a:r>
            <a:endParaRPr b="0" i="0" sz="1400" u="none" cap="none" strike="noStrike">
              <a:solidFill>
                <a:srgbClr val="000000"/>
              </a:solidFill>
              <a:latin typeface="Arial"/>
              <a:ea typeface="Arial"/>
              <a:cs typeface="Arial"/>
              <a:sym typeface="Arial"/>
            </a:endParaRPr>
          </a:p>
        </p:txBody>
      </p:sp>
      <p:sp>
        <p:nvSpPr>
          <p:cNvPr id="148" name="Google Shape;148;p4"/>
          <p:cNvSpPr/>
          <p:nvPr/>
        </p:nvSpPr>
        <p:spPr>
          <a:xfrm>
            <a:off x="685800" y="4480560"/>
            <a:ext cx="109728" cy="109728"/>
          </a:xfrm>
          <a:prstGeom prst="ellipse">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9" name="Google Shape;149;p4"/>
          <p:cNvSpPr txBox="1"/>
          <p:nvPr/>
        </p:nvSpPr>
        <p:spPr>
          <a:xfrm>
            <a:off x="941832" y="4389120"/>
            <a:ext cx="4818888" cy="53035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142034"/>
                </a:solidFill>
                <a:latin typeface="Calibri"/>
                <a:ea typeface="Calibri"/>
                <a:cs typeface="Calibri"/>
                <a:sym typeface="Calibri"/>
              </a:rPr>
              <a:t>Physical emitter source</a:t>
            </a:r>
            <a:endParaRPr b="0" i="0" sz="1400" u="none" cap="none" strike="noStrike">
              <a:solidFill>
                <a:srgbClr val="000000"/>
              </a:solidFill>
              <a:latin typeface="Arial"/>
              <a:ea typeface="Arial"/>
              <a:cs typeface="Arial"/>
              <a:sym typeface="Arial"/>
            </a:endParaRPr>
          </a:p>
        </p:txBody>
      </p:sp>
      <p:sp>
        <p:nvSpPr>
          <p:cNvPr id="150" name="Google Shape;150;p4"/>
          <p:cNvSpPr/>
          <p:nvPr/>
        </p:nvSpPr>
        <p:spPr>
          <a:xfrm>
            <a:off x="685800" y="4937760"/>
            <a:ext cx="109728" cy="109728"/>
          </a:xfrm>
          <a:prstGeom prst="ellipse">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1" name="Google Shape;151;p4"/>
          <p:cNvSpPr txBox="1"/>
          <p:nvPr/>
        </p:nvSpPr>
        <p:spPr>
          <a:xfrm>
            <a:off x="941832" y="4846320"/>
            <a:ext cx="4818888" cy="53035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142034"/>
                </a:solidFill>
                <a:latin typeface="Calibri"/>
                <a:ea typeface="Calibri"/>
                <a:cs typeface="Calibri"/>
                <a:sym typeface="Calibri"/>
              </a:rPr>
              <a:t>Cluster emitters</a:t>
            </a:r>
            <a:endParaRPr b="0" i="0" sz="1400" u="none" cap="none" strike="noStrike">
              <a:solidFill>
                <a:srgbClr val="000000"/>
              </a:solidFill>
              <a:latin typeface="Arial"/>
              <a:ea typeface="Arial"/>
              <a:cs typeface="Arial"/>
              <a:sym typeface="Arial"/>
            </a:endParaRPr>
          </a:p>
        </p:txBody>
      </p:sp>
      <p:sp>
        <p:nvSpPr>
          <p:cNvPr id="152" name="Google Shape;152;p4"/>
          <p:cNvSpPr/>
          <p:nvPr/>
        </p:nvSpPr>
        <p:spPr>
          <a:xfrm>
            <a:off x="685800" y="5394960"/>
            <a:ext cx="109728" cy="109728"/>
          </a:xfrm>
          <a:prstGeom prst="ellipse">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3" name="Google Shape;153;p4"/>
          <p:cNvSpPr txBox="1"/>
          <p:nvPr/>
        </p:nvSpPr>
        <p:spPr>
          <a:xfrm>
            <a:off x="941832" y="5303520"/>
            <a:ext cx="4818888" cy="53035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142034"/>
                </a:solidFill>
                <a:latin typeface="Calibri"/>
                <a:ea typeface="Calibri"/>
                <a:cs typeface="Calibri"/>
                <a:sym typeface="Calibri"/>
              </a:rPr>
              <a:t>Traditional deinterleaving</a:t>
            </a:r>
            <a:endParaRPr b="0" i="0" sz="1400" u="none" cap="none" strike="noStrike">
              <a:solidFill>
                <a:srgbClr val="000000"/>
              </a:solidFill>
              <a:latin typeface="Arial"/>
              <a:ea typeface="Arial"/>
              <a:cs typeface="Arial"/>
              <a:sym typeface="Arial"/>
            </a:endParaRPr>
          </a:p>
        </p:txBody>
      </p:sp>
      <p:sp>
        <p:nvSpPr>
          <p:cNvPr id="154" name="Google Shape;154;p4"/>
          <p:cNvSpPr/>
          <p:nvPr/>
        </p:nvSpPr>
        <p:spPr>
          <a:xfrm>
            <a:off x="6172200" y="3858768"/>
            <a:ext cx="5486400" cy="2240280"/>
          </a:xfrm>
          <a:prstGeom prst="roundRect">
            <a:avLst>
              <a:gd fmla="val 8000" name="adj"/>
            </a:avLst>
          </a:prstGeom>
          <a:solidFill>
            <a:srgbClr val="F3F6F8"/>
          </a:solidFill>
          <a:ln cap="flat" cmpd="sng" w="12700">
            <a:solidFill>
              <a:srgbClr val="D2DA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5" name="Google Shape;155;p4"/>
          <p:cNvSpPr txBox="1"/>
          <p:nvPr/>
        </p:nvSpPr>
        <p:spPr>
          <a:xfrm>
            <a:off x="6355080" y="3995928"/>
            <a:ext cx="5120640" cy="29260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0A7A96"/>
                </a:solidFill>
                <a:latin typeface="Calibri"/>
                <a:ea typeface="Calibri"/>
                <a:cs typeface="Calibri"/>
                <a:sym typeface="Calibri"/>
              </a:rPr>
              <a:t>Mode  ·  operating schedule</a:t>
            </a:r>
            <a:endParaRPr b="0" i="0" sz="1400" u="none" cap="none" strike="noStrike">
              <a:solidFill>
                <a:srgbClr val="000000"/>
              </a:solidFill>
              <a:latin typeface="Arial"/>
              <a:ea typeface="Arial"/>
              <a:cs typeface="Arial"/>
              <a:sym typeface="Arial"/>
            </a:endParaRPr>
          </a:p>
        </p:txBody>
      </p:sp>
      <p:sp>
        <p:nvSpPr>
          <p:cNvPr id="156" name="Google Shape;156;p4"/>
          <p:cNvSpPr/>
          <p:nvPr/>
        </p:nvSpPr>
        <p:spPr>
          <a:xfrm>
            <a:off x="6355080" y="4480560"/>
            <a:ext cx="109728" cy="109728"/>
          </a:xfrm>
          <a:prstGeom prst="ellipse">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7" name="Google Shape;157;p4"/>
          <p:cNvSpPr txBox="1"/>
          <p:nvPr/>
        </p:nvSpPr>
        <p:spPr>
          <a:xfrm>
            <a:off x="6611112" y="4389120"/>
            <a:ext cx="4818888" cy="53035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142034"/>
                </a:solidFill>
                <a:latin typeface="Calibri"/>
                <a:ea typeface="Calibri"/>
                <a:cs typeface="Calibri"/>
                <a:sym typeface="Calibri"/>
              </a:rPr>
              <a:t>Operating mode</a:t>
            </a:r>
            <a:endParaRPr b="0" i="0" sz="1400" u="none" cap="none" strike="noStrike">
              <a:solidFill>
                <a:srgbClr val="000000"/>
              </a:solidFill>
              <a:latin typeface="Arial"/>
              <a:ea typeface="Arial"/>
              <a:cs typeface="Arial"/>
              <a:sym typeface="Arial"/>
            </a:endParaRPr>
          </a:p>
        </p:txBody>
      </p:sp>
      <p:sp>
        <p:nvSpPr>
          <p:cNvPr id="158" name="Google Shape;158;p4"/>
          <p:cNvSpPr/>
          <p:nvPr/>
        </p:nvSpPr>
        <p:spPr>
          <a:xfrm>
            <a:off x="6355080" y="4937760"/>
            <a:ext cx="109728" cy="109728"/>
          </a:xfrm>
          <a:prstGeom prst="ellipse">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9" name="Google Shape;159;p4"/>
          <p:cNvSpPr txBox="1"/>
          <p:nvPr/>
        </p:nvSpPr>
        <p:spPr>
          <a:xfrm>
            <a:off x="6611112" y="4846320"/>
            <a:ext cx="4818888" cy="53035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142034"/>
                </a:solidFill>
                <a:latin typeface="Calibri"/>
                <a:ea typeface="Calibri"/>
                <a:cs typeface="Calibri"/>
                <a:sym typeface="Calibri"/>
              </a:rPr>
              <a:t>Same mode can sit on several emitters. An emitter can switch modes.</a:t>
            </a:r>
            <a:endParaRPr b="0" i="0" sz="1400" u="none" cap="none" strike="noStrike">
              <a:solidFill>
                <a:srgbClr val="000000"/>
              </a:solidFill>
              <a:latin typeface="Arial"/>
              <a:ea typeface="Arial"/>
              <a:cs typeface="Arial"/>
              <a:sym typeface="Arial"/>
            </a:endParaRPr>
          </a:p>
        </p:txBody>
      </p:sp>
      <p:sp>
        <p:nvSpPr>
          <p:cNvPr id="160" name="Google Shape;160;p4"/>
          <p:cNvSpPr/>
          <p:nvPr/>
        </p:nvSpPr>
        <p:spPr>
          <a:xfrm>
            <a:off x="6355080" y="5394960"/>
            <a:ext cx="109728" cy="109728"/>
          </a:xfrm>
          <a:prstGeom prst="ellipse">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1" name="Google Shape;161;p4"/>
          <p:cNvSpPr txBox="1"/>
          <p:nvPr/>
        </p:nvSpPr>
        <p:spPr>
          <a:xfrm>
            <a:off x="6611112" y="5303520"/>
            <a:ext cx="4818888" cy="53035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142034"/>
                </a:solidFill>
                <a:latin typeface="Calibri"/>
                <a:ea typeface="Calibri"/>
                <a:cs typeface="Calibri"/>
                <a:sym typeface="Calibri"/>
              </a:rPr>
              <a:t>Inference clusters — no catalogue needed for inference (but needed for training).</a:t>
            </a:r>
            <a:endParaRPr b="0" i="0" sz="1400" u="none" cap="none" strike="noStrike">
              <a:solidFill>
                <a:srgbClr val="000000"/>
              </a:solidFill>
              <a:latin typeface="Arial"/>
              <a:ea typeface="Arial"/>
              <a:cs typeface="Arial"/>
              <a:sym typeface="Arial"/>
            </a:endParaRPr>
          </a:p>
        </p:txBody>
      </p:sp>
      <p:sp>
        <p:nvSpPr>
          <p:cNvPr id="162" name="Google Shape;162;p4"/>
          <p:cNvSpPr/>
          <p:nvPr/>
        </p:nvSpPr>
        <p:spPr>
          <a:xfrm>
            <a:off x="0" y="6510528"/>
            <a:ext cx="12191695" cy="347472"/>
          </a:xfrm>
          <a:prstGeom prst="rect">
            <a:avLst/>
          </a:prstGeom>
          <a:solidFill>
            <a:srgbClr val="F5F7F9"/>
          </a:solidFill>
          <a:ln cap="flat" cmpd="sng" w="12700">
            <a:solidFill>
              <a:srgbClr val="D2DA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3" name="Google Shape;163;p4"/>
          <p:cNvSpPr txBox="1"/>
          <p:nvPr/>
        </p:nvSpPr>
        <p:spPr>
          <a:xfrm>
            <a:off x="411480" y="6528816"/>
            <a:ext cx="9326880" cy="29260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5A687A"/>
                </a:solidFill>
                <a:latin typeface="Calibri"/>
                <a:ea typeface="Calibri"/>
                <a:cs typeface="Calibri"/>
                <a:sym typeface="Calibri"/>
              </a:rPr>
              <a:t>Internal briefing  ·  Saab  ·  KTH master's thesis  ·  Markus Johnson Swegmark</a:t>
            </a:r>
            <a:endParaRPr b="0" i="0" sz="1400" u="none" cap="none" strike="noStrike">
              <a:solidFill>
                <a:srgbClr val="000000"/>
              </a:solidFill>
              <a:latin typeface="Arial"/>
              <a:ea typeface="Arial"/>
              <a:cs typeface="Arial"/>
              <a:sym typeface="Arial"/>
            </a:endParaRPr>
          </a:p>
        </p:txBody>
      </p:sp>
      <p:sp>
        <p:nvSpPr>
          <p:cNvPr id="164" name="Google Shape;164;p4"/>
          <p:cNvSpPr txBox="1"/>
          <p:nvPr/>
        </p:nvSpPr>
        <p:spPr>
          <a:xfrm>
            <a:off x="10911535" y="6528816"/>
            <a:ext cx="960120" cy="29260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5A687A"/>
                </a:solidFill>
                <a:latin typeface="Calibri"/>
                <a:ea typeface="Calibri"/>
                <a:cs typeface="Calibri"/>
                <a:sym typeface="Calibri"/>
              </a:rPr>
              <a:t>4 / 19</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5"/>
          <p:cNvSpPr/>
          <p:nvPr/>
        </p:nvSpPr>
        <p:spPr>
          <a:xfrm>
            <a:off x="0" y="0"/>
            <a:ext cx="12191695" cy="6858000"/>
          </a:xfrm>
          <a:prstGeom prst="rect">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0" name="Google Shape;170;p5"/>
          <p:cNvSpPr/>
          <p:nvPr/>
        </p:nvSpPr>
        <p:spPr>
          <a:xfrm>
            <a:off x="0" y="0"/>
            <a:ext cx="12191695" cy="64008"/>
          </a:xfrm>
          <a:prstGeom prst="rect">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1" name="Google Shape;171;p5"/>
          <p:cNvSpPr txBox="1"/>
          <p:nvPr/>
        </p:nvSpPr>
        <p:spPr>
          <a:xfrm>
            <a:off x="502920" y="201168"/>
            <a:ext cx="11155680" cy="38404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142034"/>
                </a:solidFill>
                <a:latin typeface="Calibri"/>
                <a:ea typeface="Calibri"/>
                <a:cs typeface="Calibri"/>
                <a:sym typeface="Calibri"/>
              </a:rPr>
              <a:t>Data</a:t>
            </a:r>
            <a:endParaRPr b="0" i="0" sz="1400" u="none" cap="none" strike="noStrike">
              <a:solidFill>
                <a:srgbClr val="000000"/>
              </a:solidFill>
              <a:latin typeface="Arial"/>
              <a:ea typeface="Arial"/>
              <a:cs typeface="Arial"/>
              <a:sym typeface="Arial"/>
            </a:endParaRPr>
          </a:p>
        </p:txBody>
      </p:sp>
      <p:sp>
        <p:nvSpPr>
          <p:cNvPr id="172" name="Google Shape;172;p5"/>
          <p:cNvSpPr/>
          <p:nvPr/>
        </p:nvSpPr>
        <p:spPr>
          <a:xfrm>
            <a:off x="502920" y="1143000"/>
            <a:ext cx="109728" cy="109728"/>
          </a:xfrm>
          <a:prstGeom prst="ellipse">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3" name="Google Shape;173;p5"/>
          <p:cNvSpPr txBox="1"/>
          <p:nvPr/>
        </p:nvSpPr>
        <p:spPr>
          <a:xfrm>
            <a:off x="758952" y="1051560"/>
            <a:ext cx="10899648" cy="85039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142034"/>
                </a:solidFill>
                <a:latin typeface="Calibri"/>
                <a:ea typeface="Calibri"/>
                <a:cs typeface="Calibri"/>
                <a:sym typeface="Calibri"/>
              </a:rPr>
              <a:t>Generate data with the Modesty simulator.</a:t>
            </a:r>
            <a:endParaRPr b="0" i="0" sz="1400" u="none" cap="none" strike="noStrike">
              <a:solidFill>
                <a:srgbClr val="000000"/>
              </a:solidFill>
              <a:latin typeface="Arial"/>
              <a:ea typeface="Arial"/>
              <a:cs typeface="Arial"/>
              <a:sym typeface="Arial"/>
            </a:endParaRPr>
          </a:p>
        </p:txBody>
      </p:sp>
      <p:sp>
        <p:nvSpPr>
          <p:cNvPr id="174" name="Google Shape;174;p5"/>
          <p:cNvSpPr/>
          <p:nvPr/>
        </p:nvSpPr>
        <p:spPr>
          <a:xfrm>
            <a:off x="502920" y="1920240"/>
            <a:ext cx="109728" cy="109728"/>
          </a:xfrm>
          <a:prstGeom prst="ellipse">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5" name="Google Shape;175;p5"/>
          <p:cNvSpPr txBox="1"/>
          <p:nvPr/>
        </p:nvSpPr>
        <p:spPr>
          <a:xfrm>
            <a:off x="758952" y="1828800"/>
            <a:ext cx="10899648" cy="85039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142034"/>
                </a:solidFill>
                <a:latin typeface="Calibri"/>
                <a:ea typeface="Calibri"/>
                <a:cs typeface="Calibri"/>
                <a:sym typeface="Calibri"/>
              </a:rPr>
              <a:t>Generate 2000 scenarios, with at most 10 emitters and a mode catalogue of 19 selected modes.</a:t>
            </a:r>
            <a:endParaRPr b="0" i="0" sz="1400" u="none" cap="none" strike="noStrike">
              <a:solidFill>
                <a:srgbClr val="000000"/>
              </a:solidFill>
              <a:latin typeface="Arial"/>
              <a:ea typeface="Arial"/>
              <a:cs typeface="Arial"/>
              <a:sym typeface="Arial"/>
            </a:endParaRPr>
          </a:p>
        </p:txBody>
      </p:sp>
      <p:sp>
        <p:nvSpPr>
          <p:cNvPr id="176" name="Google Shape;176;p5"/>
          <p:cNvSpPr/>
          <p:nvPr/>
        </p:nvSpPr>
        <p:spPr>
          <a:xfrm>
            <a:off x="502920" y="2697480"/>
            <a:ext cx="109728" cy="109728"/>
          </a:xfrm>
          <a:prstGeom prst="ellipse">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7" name="Google Shape;177;p5"/>
          <p:cNvSpPr txBox="1"/>
          <p:nvPr/>
        </p:nvSpPr>
        <p:spPr>
          <a:xfrm>
            <a:off x="758952" y="2606040"/>
            <a:ext cx="10899648" cy="85039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142034"/>
                </a:solidFill>
                <a:latin typeface="Calibri"/>
                <a:ea typeface="Calibri"/>
                <a:cs typeface="Calibri"/>
                <a:sym typeface="Calibri"/>
              </a:rPr>
              <a:t>Scenarios are cut into windows of length 2000 to fit the transformer.</a:t>
            </a:r>
            <a:endParaRPr b="0" i="0" sz="1400" u="none" cap="none" strike="noStrike">
              <a:solidFill>
                <a:srgbClr val="000000"/>
              </a:solidFill>
              <a:latin typeface="Arial"/>
              <a:ea typeface="Arial"/>
              <a:cs typeface="Arial"/>
              <a:sym typeface="Arial"/>
            </a:endParaRPr>
          </a:p>
        </p:txBody>
      </p:sp>
      <p:sp>
        <p:nvSpPr>
          <p:cNvPr id="178" name="Google Shape;178;p5"/>
          <p:cNvSpPr/>
          <p:nvPr/>
        </p:nvSpPr>
        <p:spPr>
          <a:xfrm>
            <a:off x="0" y="6510528"/>
            <a:ext cx="12191695" cy="347472"/>
          </a:xfrm>
          <a:prstGeom prst="rect">
            <a:avLst/>
          </a:prstGeom>
          <a:solidFill>
            <a:srgbClr val="F5F7F9"/>
          </a:solidFill>
          <a:ln cap="flat" cmpd="sng" w="12700">
            <a:solidFill>
              <a:srgbClr val="D2DA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9" name="Google Shape;179;p5"/>
          <p:cNvSpPr txBox="1"/>
          <p:nvPr/>
        </p:nvSpPr>
        <p:spPr>
          <a:xfrm>
            <a:off x="411480" y="6528816"/>
            <a:ext cx="9326880" cy="29260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5A687A"/>
                </a:solidFill>
                <a:latin typeface="Calibri"/>
                <a:ea typeface="Calibri"/>
                <a:cs typeface="Calibri"/>
                <a:sym typeface="Calibri"/>
              </a:rPr>
              <a:t>Internal briefing  ·  Saab  ·  KTH master's thesis  ·  Markus Johnson Swegmark</a:t>
            </a:r>
            <a:endParaRPr b="0" i="0" sz="1400" u="none" cap="none" strike="noStrike">
              <a:solidFill>
                <a:srgbClr val="000000"/>
              </a:solidFill>
              <a:latin typeface="Arial"/>
              <a:ea typeface="Arial"/>
              <a:cs typeface="Arial"/>
              <a:sym typeface="Arial"/>
            </a:endParaRPr>
          </a:p>
        </p:txBody>
      </p:sp>
      <p:sp>
        <p:nvSpPr>
          <p:cNvPr id="180" name="Google Shape;180;p5"/>
          <p:cNvSpPr txBox="1"/>
          <p:nvPr/>
        </p:nvSpPr>
        <p:spPr>
          <a:xfrm>
            <a:off x="10911535" y="6528816"/>
            <a:ext cx="960120" cy="29260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5A687A"/>
                </a:solidFill>
                <a:latin typeface="Calibri"/>
                <a:ea typeface="Calibri"/>
                <a:cs typeface="Calibri"/>
                <a:sym typeface="Calibri"/>
              </a:rPr>
              <a:t>5 / 19</a:t>
            </a:r>
            <a:endParaRPr b="0" i="0" sz="1400" u="none" cap="none" strike="noStrike">
              <a:solidFill>
                <a:srgbClr val="000000"/>
              </a:solidFill>
              <a:latin typeface="Arial"/>
              <a:ea typeface="Arial"/>
              <a:cs typeface="Arial"/>
              <a:sym typeface="Arial"/>
            </a:endParaRPr>
          </a:p>
        </p:txBody>
      </p:sp>
      <p:pic>
        <p:nvPicPr>
          <p:cNvPr id="181" name="Google Shape;181;p5"/>
          <p:cNvPicPr preferRelativeResize="0"/>
          <p:nvPr/>
        </p:nvPicPr>
        <p:blipFill rotWithShape="1">
          <a:blip r:embed="rId3">
            <a:alphaModFix/>
          </a:blip>
          <a:srcRect b="0" l="0" r="0" t="0"/>
          <a:stretch/>
        </p:blipFill>
        <p:spPr>
          <a:xfrm>
            <a:off x="502913" y="3594738"/>
            <a:ext cx="9486900" cy="2000250"/>
          </a:xfrm>
          <a:prstGeom prst="rect">
            <a:avLst/>
          </a:prstGeom>
          <a:solidFill>
            <a:srgbClr val="FFFFFF"/>
          </a:solidFill>
          <a:ln>
            <a:noFill/>
          </a:ln>
          <a:effectLst>
            <a:outerShdw blurRad="40000" rotWithShape="0" dir="5400000" dist="23000">
              <a:srgbClr val="000000">
                <a:alpha val="34902"/>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6"/>
          <p:cNvSpPr/>
          <p:nvPr/>
        </p:nvSpPr>
        <p:spPr>
          <a:xfrm>
            <a:off x="0" y="0"/>
            <a:ext cx="12191695" cy="6858000"/>
          </a:xfrm>
          <a:prstGeom prst="rect">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8" name="Google Shape;188;p6"/>
          <p:cNvSpPr/>
          <p:nvPr/>
        </p:nvSpPr>
        <p:spPr>
          <a:xfrm>
            <a:off x="0" y="0"/>
            <a:ext cx="12191695" cy="64008"/>
          </a:xfrm>
          <a:prstGeom prst="rect">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9" name="Google Shape;189;p6"/>
          <p:cNvSpPr txBox="1"/>
          <p:nvPr/>
        </p:nvSpPr>
        <p:spPr>
          <a:xfrm>
            <a:off x="502920" y="201168"/>
            <a:ext cx="11155680" cy="38404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142034"/>
                </a:solidFill>
                <a:latin typeface="Calibri"/>
                <a:ea typeface="Calibri"/>
                <a:cs typeface="Calibri"/>
                <a:sym typeface="Calibri"/>
              </a:rPr>
              <a:t>Examples of scenarios</a:t>
            </a:r>
            <a:endParaRPr b="0" i="0" sz="1400" u="none" cap="none" strike="noStrike">
              <a:solidFill>
                <a:srgbClr val="000000"/>
              </a:solidFill>
              <a:latin typeface="Arial"/>
              <a:ea typeface="Arial"/>
              <a:cs typeface="Arial"/>
              <a:sym typeface="Arial"/>
            </a:endParaRPr>
          </a:p>
        </p:txBody>
      </p:sp>
      <p:sp>
        <p:nvSpPr>
          <p:cNvPr id="190" name="Google Shape;190;p6"/>
          <p:cNvSpPr txBox="1"/>
          <p:nvPr/>
        </p:nvSpPr>
        <p:spPr>
          <a:xfrm>
            <a:off x="365760" y="713232"/>
            <a:ext cx="3657600" cy="3657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0A7A96"/>
                </a:solidFill>
                <a:latin typeface="Calibri"/>
                <a:ea typeface="Calibri"/>
                <a:cs typeface="Calibri"/>
                <a:sym typeface="Calibri"/>
              </a:rPr>
              <a:t>Crowded</a:t>
            </a:r>
            <a:endParaRPr b="0" i="0" sz="1400" u="none" cap="none" strike="noStrike">
              <a:solidFill>
                <a:srgbClr val="000000"/>
              </a:solidFill>
              <a:latin typeface="Arial"/>
              <a:ea typeface="Arial"/>
              <a:cs typeface="Arial"/>
              <a:sym typeface="Arial"/>
            </a:endParaRPr>
          </a:p>
        </p:txBody>
      </p:sp>
      <p:pic>
        <p:nvPicPr>
          <p:cNvPr descr="image14.png" id="191" name="Google Shape;191;p6"/>
          <p:cNvPicPr preferRelativeResize="0"/>
          <p:nvPr/>
        </p:nvPicPr>
        <p:blipFill rotWithShape="1">
          <a:blip r:embed="rId3">
            <a:alphaModFix/>
          </a:blip>
          <a:srcRect b="0" l="0" r="0" t="0"/>
          <a:stretch/>
        </p:blipFill>
        <p:spPr>
          <a:xfrm>
            <a:off x="365760" y="1143000"/>
            <a:ext cx="3657600" cy="4099606"/>
          </a:xfrm>
          <a:prstGeom prst="rect">
            <a:avLst/>
          </a:prstGeom>
          <a:noFill/>
          <a:ln>
            <a:noFill/>
          </a:ln>
        </p:spPr>
      </p:pic>
      <p:sp>
        <p:nvSpPr>
          <p:cNvPr id="192" name="Google Shape;192;p6"/>
          <p:cNvSpPr txBox="1"/>
          <p:nvPr/>
        </p:nvSpPr>
        <p:spPr>
          <a:xfrm>
            <a:off x="4160520" y="713232"/>
            <a:ext cx="3657600" cy="3657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0A7A96"/>
                </a:solidFill>
                <a:latin typeface="Calibri"/>
                <a:ea typeface="Calibri"/>
                <a:cs typeface="Calibri"/>
                <a:sym typeface="Calibri"/>
              </a:rPr>
              <a:t>Imbalance</a:t>
            </a:r>
            <a:endParaRPr b="0" i="0" sz="1400" u="none" cap="none" strike="noStrike">
              <a:solidFill>
                <a:srgbClr val="000000"/>
              </a:solidFill>
              <a:latin typeface="Arial"/>
              <a:ea typeface="Arial"/>
              <a:cs typeface="Arial"/>
              <a:sym typeface="Arial"/>
            </a:endParaRPr>
          </a:p>
        </p:txBody>
      </p:sp>
      <p:pic>
        <p:nvPicPr>
          <p:cNvPr descr="image9.png" id="193" name="Google Shape;193;p6"/>
          <p:cNvPicPr preferRelativeResize="0"/>
          <p:nvPr/>
        </p:nvPicPr>
        <p:blipFill rotWithShape="1">
          <a:blip r:embed="rId4">
            <a:alphaModFix/>
          </a:blip>
          <a:srcRect b="0" l="0" r="0" t="0"/>
          <a:stretch/>
        </p:blipFill>
        <p:spPr>
          <a:xfrm>
            <a:off x="4160520" y="1143000"/>
            <a:ext cx="3657600" cy="4251960"/>
          </a:xfrm>
          <a:prstGeom prst="rect">
            <a:avLst/>
          </a:prstGeom>
          <a:noFill/>
          <a:ln>
            <a:noFill/>
          </a:ln>
        </p:spPr>
      </p:pic>
      <p:sp>
        <p:nvSpPr>
          <p:cNvPr id="194" name="Google Shape;194;p6"/>
          <p:cNvSpPr txBox="1"/>
          <p:nvPr/>
        </p:nvSpPr>
        <p:spPr>
          <a:xfrm>
            <a:off x="7955279" y="713232"/>
            <a:ext cx="3657600" cy="3657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0A7A96"/>
                </a:solidFill>
                <a:latin typeface="Calibri"/>
                <a:ea typeface="Calibri"/>
                <a:cs typeface="Calibri"/>
                <a:sym typeface="Calibri"/>
              </a:rPr>
              <a:t>Sparse</a:t>
            </a:r>
            <a:endParaRPr b="0" i="0" sz="1400" u="none" cap="none" strike="noStrike">
              <a:solidFill>
                <a:srgbClr val="000000"/>
              </a:solidFill>
              <a:latin typeface="Arial"/>
              <a:ea typeface="Arial"/>
              <a:cs typeface="Arial"/>
              <a:sym typeface="Arial"/>
            </a:endParaRPr>
          </a:p>
        </p:txBody>
      </p:sp>
      <p:pic>
        <p:nvPicPr>
          <p:cNvPr descr="image11.png" id="195" name="Google Shape;195;p6"/>
          <p:cNvPicPr preferRelativeResize="0"/>
          <p:nvPr/>
        </p:nvPicPr>
        <p:blipFill rotWithShape="1">
          <a:blip r:embed="rId5">
            <a:alphaModFix/>
          </a:blip>
          <a:srcRect b="0" l="0" r="0" t="0"/>
          <a:stretch/>
        </p:blipFill>
        <p:spPr>
          <a:xfrm>
            <a:off x="7955279" y="1143000"/>
            <a:ext cx="3657600" cy="4384354"/>
          </a:xfrm>
          <a:prstGeom prst="rect">
            <a:avLst/>
          </a:prstGeom>
          <a:noFill/>
          <a:ln>
            <a:noFill/>
          </a:ln>
        </p:spPr>
      </p:pic>
      <p:sp>
        <p:nvSpPr>
          <p:cNvPr id="196" name="Google Shape;196;p6"/>
          <p:cNvSpPr/>
          <p:nvPr/>
        </p:nvSpPr>
        <p:spPr>
          <a:xfrm>
            <a:off x="0" y="6510528"/>
            <a:ext cx="12191695" cy="347472"/>
          </a:xfrm>
          <a:prstGeom prst="rect">
            <a:avLst/>
          </a:prstGeom>
          <a:solidFill>
            <a:srgbClr val="F5F7F9"/>
          </a:solidFill>
          <a:ln cap="flat" cmpd="sng" w="12700">
            <a:solidFill>
              <a:srgbClr val="D2DA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7" name="Google Shape;197;p6"/>
          <p:cNvSpPr txBox="1"/>
          <p:nvPr/>
        </p:nvSpPr>
        <p:spPr>
          <a:xfrm>
            <a:off x="411480" y="6528816"/>
            <a:ext cx="9326880" cy="29260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5A687A"/>
                </a:solidFill>
                <a:latin typeface="Calibri"/>
                <a:ea typeface="Calibri"/>
                <a:cs typeface="Calibri"/>
                <a:sym typeface="Calibri"/>
              </a:rPr>
              <a:t>Internal briefing  ·  Saab  ·  KTH master's thesis  ·  Markus Johnson Swegmark</a:t>
            </a:r>
            <a:endParaRPr b="0" i="0" sz="1400" u="none" cap="none" strike="noStrike">
              <a:solidFill>
                <a:srgbClr val="000000"/>
              </a:solidFill>
              <a:latin typeface="Arial"/>
              <a:ea typeface="Arial"/>
              <a:cs typeface="Arial"/>
              <a:sym typeface="Arial"/>
            </a:endParaRPr>
          </a:p>
        </p:txBody>
      </p:sp>
      <p:sp>
        <p:nvSpPr>
          <p:cNvPr id="198" name="Google Shape;198;p6"/>
          <p:cNvSpPr txBox="1"/>
          <p:nvPr/>
        </p:nvSpPr>
        <p:spPr>
          <a:xfrm>
            <a:off x="10911535" y="6528816"/>
            <a:ext cx="960120" cy="29260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5A687A"/>
                </a:solidFill>
                <a:latin typeface="Calibri"/>
                <a:ea typeface="Calibri"/>
                <a:cs typeface="Calibri"/>
                <a:sym typeface="Calibri"/>
              </a:rPr>
              <a:t>6 / 19</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7"/>
          <p:cNvSpPr/>
          <p:nvPr/>
        </p:nvSpPr>
        <p:spPr>
          <a:xfrm>
            <a:off x="0" y="0"/>
            <a:ext cx="12191695" cy="64008"/>
          </a:xfrm>
          <a:prstGeom prst="rect">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4" name="Google Shape;204;p7"/>
          <p:cNvSpPr txBox="1"/>
          <p:nvPr/>
        </p:nvSpPr>
        <p:spPr>
          <a:xfrm>
            <a:off x="502920" y="201168"/>
            <a:ext cx="11155680" cy="38404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142034"/>
                </a:solidFill>
                <a:latin typeface="Calibri"/>
                <a:ea typeface="Calibri"/>
                <a:cs typeface="Calibri"/>
                <a:sym typeface="Calibri"/>
              </a:rPr>
              <a:t>Model architecture</a:t>
            </a:r>
            <a:endParaRPr b="0" i="0" sz="1400" u="none" cap="none" strike="noStrike">
              <a:solidFill>
                <a:srgbClr val="000000"/>
              </a:solidFill>
              <a:latin typeface="Arial"/>
              <a:ea typeface="Arial"/>
              <a:cs typeface="Arial"/>
              <a:sym typeface="Arial"/>
            </a:endParaRPr>
          </a:p>
        </p:txBody>
      </p:sp>
      <p:sp>
        <p:nvSpPr>
          <p:cNvPr id="205" name="Google Shape;205;p7"/>
          <p:cNvSpPr txBox="1"/>
          <p:nvPr/>
        </p:nvSpPr>
        <p:spPr>
          <a:xfrm>
            <a:off x="502920" y="822960"/>
            <a:ext cx="6858000" cy="31089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0A7A96"/>
                </a:solidFill>
                <a:latin typeface="Calibri"/>
                <a:ea typeface="Calibri"/>
                <a:cs typeface="Calibri"/>
                <a:sym typeface="Calibri"/>
              </a:rPr>
              <a:t>Transformer encoder</a:t>
            </a:r>
            <a:endParaRPr b="0" i="0" sz="1400" u="none" cap="none" strike="noStrike">
              <a:solidFill>
                <a:srgbClr val="000000"/>
              </a:solidFill>
              <a:latin typeface="Arial"/>
              <a:ea typeface="Arial"/>
              <a:cs typeface="Arial"/>
              <a:sym typeface="Arial"/>
            </a:endParaRPr>
          </a:p>
        </p:txBody>
      </p:sp>
      <p:sp>
        <p:nvSpPr>
          <p:cNvPr id="206" name="Google Shape;206;p7"/>
          <p:cNvSpPr/>
          <p:nvPr/>
        </p:nvSpPr>
        <p:spPr>
          <a:xfrm>
            <a:off x="502920" y="1463040"/>
            <a:ext cx="109728" cy="109728"/>
          </a:xfrm>
          <a:prstGeom prst="ellipse">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7" name="Google Shape;207;p7"/>
          <p:cNvSpPr txBox="1"/>
          <p:nvPr/>
        </p:nvSpPr>
        <p:spPr>
          <a:xfrm>
            <a:off x="758952" y="1371600"/>
            <a:ext cx="6693408" cy="75895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142034"/>
                </a:solidFill>
                <a:latin typeface="Calibri"/>
                <a:ea typeface="Calibri"/>
                <a:cs typeface="Calibri"/>
                <a:sym typeface="Calibri"/>
              </a:rPr>
              <a:t>Input: L (sequence length) × F (feature dimension)</a:t>
            </a:r>
            <a:endParaRPr b="0" i="0" sz="1400" u="none" cap="none" strike="noStrike">
              <a:solidFill>
                <a:srgbClr val="000000"/>
              </a:solidFill>
              <a:latin typeface="Arial"/>
              <a:ea typeface="Arial"/>
              <a:cs typeface="Arial"/>
              <a:sym typeface="Arial"/>
            </a:endParaRPr>
          </a:p>
        </p:txBody>
      </p:sp>
      <p:sp>
        <p:nvSpPr>
          <p:cNvPr id="208" name="Google Shape;208;p7"/>
          <p:cNvSpPr/>
          <p:nvPr/>
        </p:nvSpPr>
        <p:spPr>
          <a:xfrm>
            <a:off x="502920" y="2148840"/>
            <a:ext cx="109728" cy="109728"/>
          </a:xfrm>
          <a:prstGeom prst="ellipse">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9" name="Google Shape;209;p7"/>
          <p:cNvSpPr txBox="1"/>
          <p:nvPr/>
        </p:nvSpPr>
        <p:spPr>
          <a:xfrm>
            <a:off x="758952" y="2057400"/>
            <a:ext cx="6693408" cy="75895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142034"/>
                </a:solidFill>
                <a:latin typeface="Calibri"/>
                <a:ea typeface="Calibri"/>
                <a:cs typeface="Calibri"/>
                <a:sym typeface="Calibri"/>
              </a:rPr>
              <a:t>Output (embeddings): L × D (model dimension, typically 256)</a:t>
            </a:r>
            <a:endParaRPr b="0" i="0" sz="1400" u="none" cap="none" strike="noStrike">
              <a:solidFill>
                <a:srgbClr val="000000"/>
              </a:solidFill>
              <a:latin typeface="Arial"/>
              <a:ea typeface="Arial"/>
              <a:cs typeface="Arial"/>
              <a:sym typeface="Arial"/>
            </a:endParaRPr>
          </a:p>
        </p:txBody>
      </p:sp>
      <p:pic>
        <p:nvPicPr>
          <p:cNvPr descr="image5.png" id="210" name="Google Shape;210;p7"/>
          <p:cNvPicPr preferRelativeResize="0"/>
          <p:nvPr/>
        </p:nvPicPr>
        <p:blipFill rotWithShape="1">
          <a:blip r:embed="rId3">
            <a:alphaModFix/>
          </a:blip>
          <a:srcRect b="0" l="0" r="0" t="0"/>
          <a:stretch/>
        </p:blipFill>
        <p:spPr>
          <a:xfrm>
            <a:off x="7818120" y="502920"/>
            <a:ext cx="3705756" cy="5852160"/>
          </a:xfrm>
          <a:prstGeom prst="rect">
            <a:avLst/>
          </a:prstGeom>
          <a:noFill/>
          <a:ln>
            <a:noFill/>
          </a:ln>
        </p:spPr>
      </p:pic>
      <p:sp>
        <p:nvSpPr>
          <p:cNvPr id="211" name="Google Shape;211;p7"/>
          <p:cNvSpPr/>
          <p:nvPr/>
        </p:nvSpPr>
        <p:spPr>
          <a:xfrm>
            <a:off x="0" y="6510528"/>
            <a:ext cx="12191695" cy="347472"/>
          </a:xfrm>
          <a:prstGeom prst="rect">
            <a:avLst/>
          </a:prstGeom>
          <a:solidFill>
            <a:srgbClr val="F5F7F9"/>
          </a:solidFill>
          <a:ln cap="flat" cmpd="sng" w="12700">
            <a:solidFill>
              <a:srgbClr val="D2DA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2" name="Google Shape;212;p7"/>
          <p:cNvSpPr txBox="1"/>
          <p:nvPr/>
        </p:nvSpPr>
        <p:spPr>
          <a:xfrm>
            <a:off x="411480" y="6528816"/>
            <a:ext cx="9326880" cy="29260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5A687A"/>
                </a:solidFill>
                <a:latin typeface="Calibri"/>
                <a:ea typeface="Calibri"/>
                <a:cs typeface="Calibri"/>
                <a:sym typeface="Calibri"/>
              </a:rPr>
              <a:t>Internal briefing  ·  Saab  ·  KTH master's thesis  ·  Markus Johnson Swegmark</a:t>
            </a:r>
            <a:endParaRPr b="0" i="0" sz="1400" u="none" cap="none" strike="noStrike">
              <a:solidFill>
                <a:srgbClr val="000000"/>
              </a:solidFill>
              <a:latin typeface="Arial"/>
              <a:ea typeface="Arial"/>
              <a:cs typeface="Arial"/>
              <a:sym typeface="Arial"/>
            </a:endParaRPr>
          </a:p>
        </p:txBody>
      </p:sp>
      <p:sp>
        <p:nvSpPr>
          <p:cNvPr id="213" name="Google Shape;213;p7"/>
          <p:cNvSpPr txBox="1"/>
          <p:nvPr/>
        </p:nvSpPr>
        <p:spPr>
          <a:xfrm>
            <a:off x="10911535" y="6528816"/>
            <a:ext cx="960120" cy="29260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5A687A"/>
                </a:solidFill>
                <a:latin typeface="Calibri"/>
                <a:ea typeface="Calibri"/>
                <a:cs typeface="Calibri"/>
                <a:sym typeface="Calibri"/>
              </a:rPr>
              <a:t>7 / 19</a:t>
            </a:r>
            <a:endParaRPr b="0" i="0" sz="1400" u="none" cap="none" strike="noStrike">
              <a:solidFill>
                <a:srgbClr val="000000"/>
              </a:solidFill>
              <a:latin typeface="Arial"/>
              <a:ea typeface="Arial"/>
              <a:cs typeface="Arial"/>
              <a:sym typeface="Arial"/>
            </a:endParaRPr>
          </a:p>
        </p:txBody>
      </p:sp>
      <p:sp>
        <p:nvSpPr>
          <p:cNvPr id="214" name="Google Shape;214;p7"/>
          <p:cNvSpPr txBox="1"/>
          <p:nvPr/>
        </p:nvSpPr>
        <p:spPr>
          <a:xfrm>
            <a:off x="612730" y="3285163"/>
            <a:ext cx="2612700" cy="310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93C47D"/>
                </a:solidFill>
                <a:latin typeface="Calibri"/>
                <a:ea typeface="Calibri"/>
                <a:cs typeface="Calibri"/>
                <a:sym typeface="Calibri"/>
              </a:rPr>
              <a:t>Strengths</a:t>
            </a:r>
            <a:endParaRPr b="0" i="0" sz="1400" u="none" cap="none" strike="noStrike">
              <a:solidFill>
                <a:srgbClr val="93C47D"/>
              </a:solidFill>
              <a:latin typeface="Arial"/>
              <a:ea typeface="Arial"/>
              <a:cs typeface="Arial"/>
              <a:sym typeface="Arial"/>
            </a:endParaRPr>
          </a:p>
        </p:txBody>
      </p:sp>
      <p:sp>
        <p:nvSpPr>
          <p:cNvPr id="215" name="Google Shape;215;p7"/>
          <p:cNvSpPr/>
          <p:nvPr/>
        </p:nvSpPr>
        <p:spPr>
          <a:xfrm>
            <a:off x="502933" y="4156215"/>
            <a:ext cx="109800" cy="109800"/>
          </a:xfrm>
          <a:prstGeom prst="ellipse">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6" name="Google Shape;216;p7"/>
          <p:cNvSpPr txBox="1"/>
          <p:nvPr/>
        </p:nvSpPr>
        <p:spPr>
          <a:xfrm>
            <a:off x="758975" y="4064775"/>
            <a:ext cx="3434400" cy="759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142034"/>
                </a:solidFill>
                <a:latin typeface="Calibri"/>
                <a:ea typeface="Calibri"/>
                <a:cs typeface="Calibri"/>
                <a:sym typeface="Calibri"/>
              </a:rPr>
              <a:t>Generally a strong state of the art model. </a:t>
            </a:r>
            <a:endParaRPr b="0" i="0" sz="1400" u="none" cap="none" strike="noStrike">
              <a:solidFill>
                <a:srgbClr val="000000"/>
              </a:solidFill>
              <a:latin typeface="Arial"/>
              <a:ea typeface="Arial"/>
              <a:cs typeface="Arial"/>
              <a:sym typeface="Arial"/>
            </a:endParaRPr>
          </a:p>
        </p:txBody>
      </p:sp>
      <p:sp>
        <p:nvSpPr>
          <p:cNvPr id="217" name="Google Shape;217;p7"/>
          <p:cNvSpPr/>
          <p:nvPr/>
        </p:nvSpPr>
        <p:spPr>
          <a:xfrm>
            <a:off x="502933" y="4842015"/>
            <a:ext cx="109800" cy="109800"/>
          </a:xfrm>
          <a:prstGeom prst="ellipse">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8" name="Google Shape;218;p7"/>
          <p:cNvSpPr txBox="1"/>
          <p:nvPr/>
        </p:nvSpPr>
        <p:spPr>
          <a:xfrm>
            <a:off x="758969" y="4750575"/>
            <a:ext cx="3153600" cy="759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142034"/>
                </a:solidFill>
                <a:latin typeface="Calibri"/>
                <a:ea typeface="Calibri"/>
                <a:cs typeface="Calibri"/>
                <a:sym typeface="Calibri"/>
              </a:rPr>
              <a:t>Produces output embeddings</a:t>
            </a:r>
            <a:endParaRPr b="0" i="0" sz="1400" u="none" cap="none" strike="noStrike">
              <a:solidFill>
                <a:srgbClr val="000000"/>
              </a:solidFill>
              <a:latin typeface="Arial"/>
              <a:ea typeface="Arial"/>
              <a:cs typeface="Arial"/>
              <a:sym typeface="Arial"/>
            </a:endParaRPr>
          </a:p>
        </p:txBody>
      </p:sp>
      <p:sp>
        <p:nvSpPr>
          <p:cNvPr id="219" name="Google Shape;219;p7"/>
          <p:cNvSpPr txBox="1"/>
          <p:nvPr/>
        </p:nvSpPr>
        <p:spPr>
          <a:xfrm>
            <a:off x="4345342" y="3332063"/>
            <a:ext cx="2612700" cy="310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E06666"/>
                </a:solidFill>
                <a:latin typeface="Calibri"/>
                <a:ea typeface="Calibri"/>
                <a:cs typeface="Calibri"/>
                <a:sym typeface="Calibri"/>
              </a:rPr>
              <a:t>Weakness</a:t>
            </a:r>
            <a:endParaRPr b="0" i="0" sz="1400" u="none" cap="none" strike="noStrike">
              <a:solidFill>
                <a:srgbClr val="E06666"/>
              </a:solidFill>
              <a:latin typeface="Arial"/>
              <a:ea typeface="Arial"/>
              <a:cs typeface="Arial"/>
              <a:sym typeface="Arial"/>
            </a:endParaRPr>
          </a:p>
        </p:txBody>
      </p:sp>
      <p:sp>
        <p:nvSpPr>
          <p:cNvPr id="220" name="Google Shape;220;p7"/>
          <p:cNvSpPr/>
          <p:nvPr/>
        </p:nvSpPr>
        <p:spPr>
          <a:xfrm>
            <a:off x="4235545" y="4203115"/>
            <a:ext cx="109800" cy="109800"/>
          </a:xfrm>
          <a:prstGeom prst="ellipse">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1" name="Google Shape;221;p7"/>
          <p:cNvSpPr txBox="1"/>
          <p:nvPr/>
        </p:nvSpPr>
        <p:spPr>
          <a:xfrm>
            <a:off x="4491587" y="4111675"/>
            <a:ext cx="3434400" cy="759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142034"/>
                </a:solidFill>
                <a:latin typeface="Calibri"/>
                <a:ea typeface="Calibri"/>
                <a:cs typeface="Calibri"/>
                <a:sym typeface="Calibri"/>
              </a:rPr>
              <a:t>O(L^2) in memory and compute</a:t>
            </a:r>
            <a:endParaRPr b="0" i="0" sz="1400" u="none" cap="none" strike="noStrike">
              <a:solidFill>
                <a:srgbClr val="000000"/>
              </a:solidFill>
              <a:latin typeface="Arial"/>
              <a:ea typeface="Arial"/>
              <a:cs typeface="Arial"/>
              <a:sym typeface="Arial"/>
            </a:endParaRPr>
          </a:p>
        </p:txBody>
      </p:sp>
      <p:sp>
        <p:nvSpPr>
          <p:cNvPr id="222" name="Google Shape;222;p7"/>
          <p:cNvSpPr/>
          <p:nvPr/>
        </p:nvSpPr>
        <p:spPr>
          <a:xfrm>
            <a:off x="4235545" y="4888915"/>
            <a:ext cx="109800" cy="109800"/>
          </a:xfrm>
          <a:prstGeom prst="ellipse">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3" name="Google Shape;223;p7"/>
          <p:cNvSpPr txBox="1"/>
          <p:nvPr/>
        </p:nvSpPr>
        <p:spPr>
          <a:xfrm>
            <a:off x="4504944" y="4706350"/>
            <a:ext cx="3153600" cy="759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142034"/>
                </a:solidFill>
                <a:latin typeface="Calibri"/>
                <a:ea typeface="Calibri"/>
                <a:cs typeface="Calibri"/>
                <a:sym typeface="Calibri"/>
              </a:rPr>
              <a:t>Can’t have to long sequences due to this, need to split up.</a:t>
            </a:r>
            <a:endParaRPr b="0" i="0" sz="1800" u="none" cap="none" strike="noStrike">
              <a:solidFill>
                <a:srgbClr val="142034"/>
              </a:solidFill>
              <a:latin typeface="Calibri"/>
              <a:ea typeface="Calibri"/>
              <a:cs typeface="Calibri"/>
              <a:sym typeface="Calibri"/>
            </a:endParaRPr>
          </a:p>
        </p:txBody>
      </p:sp>
      <p:sp>
        <p:nvSpPr>
          <p:cNvPr id="224" name="Google Shape;224;p7"/>
          <p:cNvSpPr/>
          <p:nvPr/>
        </p:nvSpPr>
        <p:spPr>
          <a:xfrm>
            <a:off x="4208829" y="5509574"/>
            <a:ext cx="109800" cy="109800"/>
          </a:xfrm>
          <a:prstGeom prst="ellipse">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5" name="Google Shape;225;p7"/>
          <p:cNvSpPr txBox="1"/>
          <p:nvPr/>
        </p:nvSpPr>
        <p:spPr>
          <a:xfrm>
            <a:off x="4491582" y="5443725"/>
            <a:ext cx="3153600" cy="759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142034"/>
                </a:solidFill>
                <a:latin typeface="Calibri"/>
                <a:ea typeface="Calibri"/>
                <a:cs typeface="Calibri"/>
                <a:sym typeface="Calibri"/>
              </a:rPr>
              <a:t>Doesn’t inherently account for the order of the input.</a:t>
            </a:r>
            <a:endParaRPr b="0" i="0" sz="1400" u="none" cap="none" strike="noStrike">
              <a:solidFill>
                <a:srgbClr val="000000"/>
              </a:solidFill>
              <a:latin typeface="Arial"/>
              <a:ea typeface="Arial"/>
              <a:cs typeface="Arial"/>
              <a:sym typeface="Arial"/>
            </a:endParaRPr>
          </a:p>
        </p:txBody>
      </p:sp>
      <p:sp>
        <p:nvSpPr>
          <p:cNvPr id="226" name="Google Shape;226;p7"/>
          <p:cNvSpPr/>
          <p:nvPr/>
        </p:nvSpPr>
        <p:spPr>
          <a:xfrm>
            <a:off x="502933" y="5443115"/>
            <a:ext cx="109800" cy="109800"/>
          </a:xfrm>
          <a:prstGeom prst="ellipse">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7" name="Google Shape;227;p7"/>
          <p:cNvSpPr txBox="1"/>
          <p:nvPr/>
        </p:nvSpPr>
        <p:spPr>
          <a:xfrm>
            <a:off x="758975" y="5351675"/>
            <a:ext cx="3153600" cy="911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142034"/>
                </a:solidFill>
                <a:latin typeface="Calibri"/>
                <a:ea typeface="Calibri"/>
                <a:cs typeface="Calibri"/>
                <a:sym typeface="Calibri"/>
              </a:rPr>
              <a:t>Popular: Lot’s of research, proved to be very effective.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8"/>
          <p:cNvSpPr/>
          <p:nvPr/>
        </p:nvSpPr>
        <p:spPr>
          <a:xfrm>
            <a:off x="0" y="0"/>
            <a:ext cx="12191695" cy="64008"/>
          </a:xfrm>
          <a:prstGeom prst="rect">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4" name="Google Shape;234;p8"/>
          <p:cNvSpPr txBox="1"/>
          <p:nvPr/>
        </p:nvSpPr>
        <p:spPr>
          <a:xfrm>
            <a:off x="502920" y="201168"/>
            <a:ext cx="11155680" cy="38404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142034"/>
                </a:solidFill>
                <a:latin typeface="Calibri"/>
                <a:ea typeface="Calibri"/>
                <a:cs typeface="Calibri"/>
                <a:sym typeface="Calibri"/>
              </a:rPr>
              <a:t>Shared trunk, two heads, two positive sets</a:t>
            </a:r>
            <a:endParaRPr b="0" i="0" sz="1400" u="none" cap="none" strike="noStrike">
              <a:solidFill>
                <a:srgbClr val="000000"/>
              </a:solidFill>
              <a:latin typeface="Arial"/>
              <a:ea typeface="Arial"/>
              <a:cs typeface="Arial"/>
              <a:sym typeface="Arial"/>
            </a:endParaRPr>
          </a:p>
        </p:txBody>
      </p:sp>
      <p:sp>
        <p:nvSpPr>
          <p:cNvPr id="235" name="Google Shape;235;p8"/>
          <p:cNvSpPr/>
          <p:nvPr/>
        </p:nvSpPr>
        <p:spPr>
          <a:xfrm>
            <a:off x="6705295" y="1700780"/>
            <a:ext cx="109800" cy="109800"/>
          </a:xfrm>
          <a:prstGeom prst="ellipse">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6" name="Google Shape;236;p8"/>
          <p:cNvSpPr txBox="1"/>
          <p:nvPr/>
        </p:nvSpPr>
        <p:spPr>
          <a:xfrm>
            <a:off x="6961325" y="1609350"/>
            <a:ext cx="4363800" cy="786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none" strike="noStrike">
                <a:solidFill>
                  <a:srgbClr val="142034"/>
                </a:solidFill>
                <a:latin typeface="Calibri"/>
                <a:ea typeface="Calibri"/>
                <a:cs typeface="Calibri"/>
                <a:sym typeface="Calibri"/>
              </a:rPr>
              <a:t>Trunk and emitter/mode branch is transformer encoder stacks</a:t>
            </a:r>
            <a:endParaRPr b="0" i="0" sz="1400" u="none" cap="none" strike="noStrike">
              <a:solidFill>
                <a:srgbClr val="000000"/>
              </a:solidFill>
              <a:latin typeface="Arial"/>
              <a:ea typeface="Arial"/>
              <a:cs typeface="Arial"/>
              <a:sym typeface="Arial"/>
            </a:endParaRPr>
          </a:p>
        </p:txBody>
      </p:sp>
      <p:sp>
        <p:nvSpPr>
          <p:cNvPr id="237" name="Google Shape;237;p8"/>
          <p:cNvSpPr/>
          <p:nvPr/>
        </p:nvSpPr>
        <p:spPr>
          <a:xfrm>
            <a:off x="6705295" y="2414012"/>
            <a:ext cx="109800" cy="109800"/>
          </a:xfrm>
          <a:prstGeom prst="ellipse">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8" name="Google Shape;238;p8"/>
          <p:cNvSpPr txBox="1"/>
          <p:nvPr/>
        </p:nvSpPr>
        <p:spPr>
          <a:xfrm>
            <a:off x="6961327" y="2322572"/>
            <a:ext cx="3950100" cy="786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300"/>
              <a:buFont typeface="Arial"/>
              <a:buNone/>
            </a:pPr>
            <a:r>
              <a:rPr b="0" i="0" lang="en-US" sz="1300" u="none" cap="none" strike="noStrike">
                <a:solidFill>
                  <a:srgbClr val="142034"/>
                </a:solidFill>
                <a:latin typeface="Calibri"/>
                <a:ea typeface="Calibri"/>
                <a:cs typeface="Calibri"/>
                <a:sym typeface="Calibri"/>
              </a:rPr>
              <a:t>Final projection before normalization to decrease dimension, standard practice.</a:t>
            </a:r>
            <a:endParaRPr b="0" i="0" sz="1400" u="none" cap="none" strike="noStrike">
              <a:solidFill>
                <a:schemeClr val="dk1"/>
              </a:solidFill>
              <a:latin typeface="Arial"/>
              <a:ea typeface="Arial"/>
              <a:cs typeface="Arial"/>
              <a:sym typeface="Arial"/>
            </a:endParaRPr>
          </a:p>
        </p:txBody>
      </p:sp>
      <p:sp>
        <p:nvSpPr>
          <p:cNvPr id="239" name="Google Shape;239;p8"/>
          <p:cNvSpPr/>
          <p:nvPr/>
        </p:nvSpPr>
        <p:spPr>
          <a:xfrm>
            <a:off x="6705295" y="3127244"/>
            <a:ext cx="109800" cy="109800"/>
          </a:xfrm>
          <a:prstGeom prst="ellipse">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0" name="Google Shape;240;p8"/>
          <p:cNvSpPr txBox="1"/>
          <p:nvPr/>
        </p:nvSpPr>
        <p:spPr>
          <a:xfrm>
            <a:off x="6961327" y="3035804"/>
            <a:ext cx="3950100" cy="786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300"/>
              <a:buFont typeface="Arial"/>
              <a:buNone/>
            </a:pPr>
            <a:r>
              <a:rPr b="0" i="0" lang="en-US" sz="1300" u="none" cap="none" strike="noStrike">
                <a:solidFill>
                  <a:srgbClr val="142034"/>
                </a:solidFill>
                <a:latin typeface="Calibri"/>
                <a:ea typeface="Calibri"/>
                <a:cs typeface="Calibri"/>
                <a:sym typeface="Calibri"/>
              </a:rPr>
              <a:t>~16 M parameters.</a:t>
            </a:r>
            <a:endParaRPr b="0" i="0" sz="1400" u="none" cap="none" strike="noStrike">
              <a:solidFill>
                <a:schemeClr val="dk1"/>
              </a:solidFill>
              <a:latin typeface="Arial"/>
              <a:ea typeface="Arial"/>
              <a:cs typeface="Arial"/>
              <a:sym typeface="Arial"/>
            </a:endParaRPr>
          </a:p>
        </p:txBody>
      </p:sp>
      <p:sp>
        <p:nvSpPr>
          <p:cNvPr id="241" name="Google Shape;241;p8"/>
          <p:cNvSpPr/>
          <p:nvPr/>
        </p:nvSpPr>
        <p:spPr>
          <a:xfrm>
            <a:off x="6705295" y="3840476"/>
            <a:ext cx="109800" cy="109800"/>
          </a:xfrm>
          <a:prstGeom prst="ellipse">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2" name="Google Shape;242;p8"/>
          <p:cNvSpPr txBox="1"/>
          <p:nvPr/>
        </p:nvSpPr>
        <p:spPr>
          <a:xfrm>
            <a:off x="6961327" y="3749036"/>
            <a:ext cx="3950100" cy="786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none" strike="noStrike">
                <a:solidFill>
                  <a:srgbClr val="142034"/>
                </a:solidFill>
                <a:latin typeface="Calibri"/>
                <a:ea typeface="Calibri"/>
                <a:cs typeface="Calibri"/>
                <a:sym typeface="Calibri"/>
              </a:rPr>
              <a:t>DBScan on the embeddings at inference.</a:t>
            </a:r>
            <a:endParaRPr b="0" i="0" sz="1400" u="none" cap="none" strike="noStrike">
              <a:solidFill>
                <a:srgbClr val="000000"/>
              </a:solidFill>
              <a:latin typeface="Arial"/>
              <a:ea typeface="Arial"/>
              <a:cs typeface="Arial"/>
              <a:sym typeface="Arial"/>
            </a:endParaRPr>
          </a:p>
        </p:txBody>
      </p:sp>
      <p:sp>
        <p:nvSpPr>
          <p:cNvPr id="243" name="Google Shape;243;p8"/>
          <p:cNvSpPr/>
          <p:nvPr/>
        </p:nvSpPr>
        <p:spPr>
          <a:xfrm>
            <a:off x="6705295" y="4553708"/>
            <a:ext cx="109800" cy="109800"/>
          </a:xfrm>
          <a:prstGeom prst="ellipse">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4" name="Google Shape;244;p8"/>
          <p:cNvSpPr txBox="1"/>
          <p:nvPr/>
        </p:nvSpPr>
        <p:spPr>
          <a:xfrm>
            <a:off x="6961327" y="4462268"/>
            <a:ext cx="3950100" cy="786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none" strike="noStrike">
                <a:solidFill>
                  <a:srgbClr val="142034"/>
                </a:solidFill>
                <a:latin typeface="Calibri"/>
                <a:ea typeface="Calibri"/>
                <a:cs typeface="Calibri"/>
                <a:sym typeface="Calibri"/>
              </a:rPr>
              <a:t>Training doesn't compute DBScan, loss function use embeddings directly.</a:t>
            </a:r>
            <a:endParaRPr b="0" i="0" sz="1400" u="none" cap="none" strike="noStrike">
              <a:solidFill>
                <a:srgbClr val="000000"/>
              </a:solidFill>
              <a:latin typeface="Arial"/>
              <a:ea typeface="Arial"/>
              <a:cs typeface="Arial"/>
              <a:sym typeface="Arial"/>
            </a:endParaRPr>
          </a:p>
        </p:txBody>
      </p:sp>
      <p:sp>
        <p:nvSpPr>
          <p:cNvPr id="245" name="Google Shape;245;p8"/>
          <p:cNvSpPr/>
          <p:nvPr/>
        </p:nvSpPr>
        <p:spPr>
          <a:xfrm>
            <a:off x="0" y="6510528"/>
            <a:ext cx="12191695" cy="347472"/>
          </a:xfrm>
          <a:prstGeom prst="rect">
            <a:avLst/>
          </a:prstGeom>
          <a:solidFill>
            <a:srgbClr val="F5F7F9"/>
          </a:solidFill>
          <a:ln cap="flat" cmpd="sng" w="12700">
            <a:solidFill>
              <a:srgbClr val="D2DA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6" name="Google Shape;246;p8"/>
          <p:cNvSpPr txBox="1"/>
          <p:nvPr/>
        </p:nvSpPr>
        <p:spPr>
          <a:xfrm>
            <a:off x="411480" y="6528816"/>
            <a:ext cx="9326880" cy="29260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5A687A"/>
                </a:solidFill>
                <a:latin typeface="Calibri"/>
                <a:ea typeface="Calibri"/>
                <a:cs typeface="Calibri"/>
                <a:sym typeface="Calibri"/>
              </a:rPr>
              <a:t>Internal briefing  ·  Saab  ·  KTH master's thesis  ·  Markus Johnson Swegmark</a:t>
            </a:r>
            <a:endParaRPr b="0" i="0" sz="1400" u="none" cap="none" strike="noStrike">
              <a:solidFill>
                <a:srgbClr val="000000"/>
              </a:solidFill>
              <a:latin typeface="Arial"/>
              <a:ea typeface="Arial"/>
              <a:cs typeface="Arial"/>
              <a:sym typeface="Arial"/>
            </a:endParaRPr>
          </a:p>
        </p:txBody>
      </p:sp>
      <p:sp>
        <p:nvSpPr>
          <p:cNvPr id="247" name="Google Shape;247;p8"/>
          <p:cNvSpPr txBox="1"/>
          <p:nvPr/>
        </p:nvSpPr>
        <p:spPr>
          <a:xfrm>
            <a:off x="10911535" y="6528816"/>
            <a:ext cx="960120" cy="29260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5A687A"/>
                </a:solidFill>
                <a:latin typeface="Calibri"/>
                <a:ea typeface="Calibri"/>
                <a:cs typeface="Calibri"/>
                <a:sym typeface="Calibri"/>
              </a:rPr>
              <a:t>8 / 19</a:t>
            </a:r>
            <a:endParaRPr b="0" i="0" sz="1400" u="none" cap="none" strike="noStrike">
              <a:solidFill>
                <a:srgbClr val="000000"/>
              </a:solidFill>
              <a:latin typeface="Arial"/>
              <a:ea typeface="Arial"/>
              <a:cs typeface="Arial"/>
              <a:sym typeface="Arial"/>
            </a:endParaRPr>
          </a:p>
        </p:txBody>
      </p:sp>
      <p:pic>
        <p:nvPicPr>
          <p:cNvPr id="248" name="Google Shape;248;p8"/>
          <p:cNvPicPr preferRelativeResize="0"/>
          <p:nvPr/>
        </p:nvPicPr>
        <p:blipFill rotWithShape="1">
          <a:blip r:embed="rId3">
            <a:alphaModFix/>
          </a:blip>
          <a:srcRect b="0" l="0" r="0" t="0"/>
          <a:stretch/>
        </p:blipFill>
        <p:spPr>
          <a:xfrm>
            <a:off x="789375" y="978400"/>
            <a:ext cx="4304074" cy="516112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g3f9e926ad14_0_32"/>
          <p:cNvSpPr/>
          <p:nvPr/>
        </p:nvSpPr>
        <p:spPr>
          <a:xfrm>
            <a:off x="0" y="0"/>
            <a:ext cx="12191700" cy="63900"/>
          </a:xfrm>
          <a:prstGeom prst="rect">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5" name="Google Shape;255;g3f9e926ad14_0_32"/>
          <p:cNvSpPr txBox="1"/>
          <p:nvPr/>
        </p:nvSpPr>
        <p:spPr>
          <a:xfrm>
            <a:off x="502920" y="201168"/>
            <a:ext cx="11155800" cy="384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142034"/>
                </a:solidFill>
                <a:latin typeface="Calibri"/>
                <a:ea typeface="Calibri"/>
                <a:cs typeface="Calibri"/>
                <a:sym typeface="Calibri"/>
              </a:rPr>
              <a:t>Attention mechanism</a:t>
            </a:r>
            <a:endParaRPr b="0" i="0" sz="1400" u="none" cap="none" strike="noStrike">
              <a:solidFill>
                <a:srgbClr val="000000"/>
              </a:solidFill>
              <a:latin typeface="Arial"/>
              <a:ea typeface="Arial"/>
              <a:cs typeface="Arial"/>
              <a:sym typeface="Arial"/>
            </a:endParaRPr>
          </a:p>
        </p:txBody>
      </p:sp>
      <p:sp>
        <p:nvSpPr>
          <p:cNvPr id="256" name="Google Shape;256;g3f9e926ad14_0_32"/>
          <p:cNvSpPr/>
          <p:nvPr/>
        </p:nvSpPr>
        <p:spPr>
          <a:xfrm>
            <a:off x="0" y="6510528"/>
            <a:ext cx="12191700" cy="347400"/>
          </a:xfrm>
          <a:prstGeom prst="rect">
            <a:avLst/>
          </a:prstGeom>
          <a:solidFill>
            <a:srgbClr val="F5F7F9"/>
          </a:solidFill>
          <a:ln cap="flat" cmpd="sng" w="12700">
            <a:solidFill>
              <a:srgbClr val="D2DA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7" name="Google Shape;257;g3f9e926ad14_0_32"/>
          <p:cNvSpPr txBox="1"/>
          <p:nvPr/>
        </p:nvSpPr>
        <p:spPr>
          <a:xfrm>
            <a:off x="411480" y="6528816"/>
            <a:ext cx="93270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5A687A"/>
                </a:solidFill>
                <a:latin typeface="Calibri"/>
                <a:ea typeface="Calibri"/>
                <a:cs typeface="Calibri"/>
                <a:sym typeface="Calibri"/>
              </a:rPr>
              <a:t>Internal briefing  ·  Saab  ·  KTH master's thesis  ·  Markus Johnson Swegmark</a:t>
            </a:r>
            <a:endParaRPr b="0" i="0" sz="1400" u="none" cap="none" strike="noStrike">
              <a:solidFill>
                <a:srgbClr val="000000"/>
              </a:solidFill>
              <a:latin typeface="Arial"/>
              <a:ea typeface="Arial"/>
              <a:cs typeface="Arial"/>
              <a:sym typeface="Arial"/>
            </a:endParaRPr>
          </a:p>
        </p:txBody>
      </p:sp>
      <p:sp>
        <p:nvSpPr>
          <p:cNvPr id="258" name="Google Shape;258;g3f9e926ad14_0_32"/>
          <p:cNvSpPr txBox="1"/>
          <p:nvPr/>
        </p:nvSpPr>
        <p:spPr>
          <a:xfrm>
            <a:off x="10911535" y="6528816"/>
            <a:ext cx="960000" cy="2925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5A687A"/>
                </a:solidFill>
                <a:latin typeface="Calibri"/>
                <a:ea typeface="Calibri"/>
                <a:cs typeface="Calibri"/>
                <a:sym typeface="Calibri"/>
              </a:rPr>
              <a:t>9 / 19</a:t>
            </a:r>
            <a:endParaRPr b="0" i="0" sz="1400" u="none" cap="none" strike="noStrike">
              <a:solidFill>
                <a:srgbClr val="000000"/>
              </a:solidFill>
              <a:latin typeface="Arial"/>
              <a:ea typeface="Arial"/>
              <a:cs typeface="Arial"/>
              <a:sym typeface="Arial"/>
            </a:endParaRPr>
          </a:p>
        </p:txBody>
      </p:sp>
      <p:pic>
        <p:nvPicPr>
          <p:cNvPr id="259" name="Google Shape;259;g3f9e926ad14_0_32"/>
          <p:cNvPicPr preferRelativeResize="0"/>
          <p:nvPr/>
        </p:nvPicPr>
        <p:blipFill rotWithShape="1">
          <a:blip r:embed="rId3">
            <a:alphaModFix/>
          </a:blip>
          <a:srcRect b="0" l="0" r="0" t="0"/>
          <a:stretch/>
        </p:blipFill>
        <p:spPr>
          <a:xfrm>
            <a:off x="502925" y="942875"/>
            <a:ext cx="4547974" cy="3409326"/>
          </a:xfrm>
          <a:prstGeom prst="rect">
            <a:avLst/>
          </a:prstGeom>
          <a:noFill/>
          <a:ln>
            <a:noFill/>
          </a:ln>
        </p:spPr>
      </p:pic>
      <p:sp>
        <p:nvSpPr>
          <p:cNvPr id="260" name="Google Shape;260;g3f9e926ad14_0_32"/>
          <p:cNvSpPr txBox="1"/>
          <p:nvPr/>
        </p:nvSpPr>
        <p:spPr>
          <a:xfrm>
            <a:off x="6992700" y="1290775"/>
            <a:ext cx="3737700" cy="673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t/>
            </a:r>
            <a:endParaRPr b="0" i="0" sz="3200" u="none" cap="none" strike="noStrike">
              <a:solidFill>
                <a:schemeClr val="dk1"/>
              </a:solidFill>
              <a:latin typeface="Calibri"/>
              <a:ea typeface="Calibri"/>
              <a:cs typeface="Calibri"/>
              <a:sym typeface="Calibri"/>
            </a:endParaRPr>
          </a:p>
        </p:txBody>
      </p:sp>
      <p:pic>
        <p:nvPicPr>
          <p:cNvPr id="261" name="Google Shape;261;g3f9e926ad14_0_32"/>
          <p:cNvPicPr preferRelativeResize="0"/>
          <p:nvPr/>
        </p:nvPicPr>
        <p:blipFill rotWithShape="1">
          <a:blip r:embed="rId4">
            <a:alphaModFix/>
          </a:blip>
          <a:srcRect b="0" l="0" r="0" t="0"/>
          <a:stretch/>
        </p:blipFill>
        <p:spPr>
          <a:xfrm>
            <a:off x="5989000" y="942875"/>
            <a:ext cx="4473976" cy="3810226"/>
          </a:xfrm>
          <a:prstGeom prst="rect">
            <a:avLst/>
          </a:prstGeom>
          <a:noFill/>
          <a:ln>
            <a:noFill/>
          </a:ln>
        </p:spPr>
      </p:pic>
      <p:sp>
        <p:nvSpPr>
          <p:cNvPr id="262" name="Google Shape;262;g3f9e926ad14_0_32"/>
          <p:cNvSpPr txBox="1"/>
          <p:nvPr/>
        </p:nvSpPr>
        <p:spPr>
          <a:xfrm>
            <a:off x="772025" y="4798000"/>
            <a:ext cx="3605400" cy="858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none" strike="noStrike">
                <a:solidFill>
                  <a:srgbClr val="142034"/>
                </a:solidFill>
                <a:latin typeface="Calibri"/>
                <a:ea typeface="Calibri"/>
                <a:cs typeface="Calibri"/>
                <a:sym typeface="Calibri"/>
              </a:rPr>
              <a:t>Essentially we create a similarity matrix or a fully connected weighted graph</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9"/>
          <p:cNvSpPr/>
          <p:nvPr/>
        </p:nvSpPr>
        <p:spPr>
          <a:xfrm>
            <a:off x="0" y="0"/>
            <a:ext cx="12191695" cy="6858000"/>
          </a:xfrm>
          <a:prstGeom prst="rect">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9" name="Google Shape;269;p9"/>
          <p:cNvSpPr/>
          <p:nvPr/>
        </p:nvSpPr>
        <p:spPr>
          <a:xfrm>
            <a:off x="0" y="0"/>
            <a:ext cx="12191695" cy="64008"/>
          </a:xfrm>
          <a:prstGeom prst="rect">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0" name="Google Shape;270;p9"/>
          <p:cNvSpPr txBox="1"/>
          <p:nvPr/>
        </p:nvSpPr>
        <p:spPr>
          <a:xfrm>
            <a:off x="502920" y="201168"/>
            <a:ext cx="11155680" cy="38404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142034"/>
                </a:solidFill>
                <a:latin typeface="Calibri"/>
                <a:ea typeface="Calibri"/>
                <a:cs typeface="Calibri"/>
                <a:sym typeface="Calibri"/>
              </a:rPr>
              <a:t>Two ways to put positional encodings into attention</a:t>
            </a:r>
            <a:endParaRPr b="0" i="0" sz="1400" u="none" cap="none" strike="noStrike">
              <a:solidFill>
                <a:srgbClr val="000000"/>
              </a:solidFill>
              <a:latin typeface="Arial"/>
              <a:ea typeface="Arial"/>
              <a:cs typeface="Arial"/>
              <a:sym typeface="Arial"/>
            </a:endParaRPr>
          </a:p>
        </p:txBody>
      </p:sp>
      <p:sp>
        <p:nvSpPr>
          <p:cNvPr id="271" name="Google Shape;271;p9"/>
          <p:cNvSpPr/>
          <p:nvPr/>
        </p:nvSpPr>
        <p:spPr>
          <a:xfrm>
            <a:off x="502920" y="822960"/>
            <a:ext cx="5486400" cy="5212080"/>
          </a:xfrm>
          <a:prstGeom prst="roundRect">
            <a:avLst>
              <a:gd fmla="val 8000" name="adj"/>
            </a:avLst>
          </a:prstGeom>
          <a:solidFill>
            <a:srgbClr val="F3F6F8"/>
          </a:solidFill>
          <a:ln cap="flat" cmpd="sng" w="12700">
            <a:solidFill>
              <a:srgbClr val="D2DA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2" name="Google Shape;272;p9"/>
          <p:cNvSpPr txBox="1"/>
          <p:nvPr/>
        </p:nvSpPr>
        <p:spPr>
          <a:xfrm>
            <a:off x="731520" y="1005840"/>
            <a:ext cx="5029200" cy="36576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A7A96"/>
                </a:solidFill>
                <a:latin typeface="Calibri"/>
                <a:ea typeface="Calibri"/>
                <a:cs typeface="Calibri"/>
                <a:sym typeface="Calibri"/>
              </a:rPr>
              <a:t>Rotary positional encodings</a:t>
            </a:r>
            <a:endParaRPr b="0" i="0" sz="1400" u="none" cap="none" strike="noStrike">
              <a:solidFill>
                <a:srgbClr val="000000"/>
              </a:solidFill>
              <a:latin typeface="Arial"/>
              <a:ea typeface="Arial"/>
              <a:cs typeface="Arial"/>
              <a:sym typeface="Arial"/>
            </a:endParaRPr>
          </a:p>
        </p:txBody>
      </p:sp>
      <p:sp>
        <p:nvSpPr>
          <p:cNvPr id="273" name="Google Shape;273;p9"/>
          <p:cNvSpPr/>
          <p:nvPr/>
        </p:nvSpPr>
        <p:spPr>
          <a:xfrm>
            <a:off x="731520" y="1600200"/>
            <a:ext cx="109728" cy="109728"/>
          </a:xfrm>
          <a:prstGeom prst="ellipse">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4" name="Google Shape;274;p9"/>
          <p:cNvSpPr txBox="1"/>
          <p:nvPr/>
        </p:nvSpPr>
        <p:spPr>
          <a:xfrm>
            <a:off x="987552" y="1508760"/>
            <a:ext cx="4773168" cy="73151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142034"/>
                </a:solidFill>
                <a:latin typeface="Calibri"/>
                <a:ea typeface="Calibri"/>
                <a:cs typeface="Calibri"/>
                <a:sym typeface="Calibri"/>
              </a:rPr>
              <a:t>Rotate Q and K in the Attention by window-local ToA.</a:t>
            </a:r>
            <a:endParaRPr b="0" i="0" sz="1400" u="none" cap="none" strike="noStrike">
              <a:solidFill>
                <a:srgbClr val="000000"/>
              </a:solidFill>
              <a:latin typeface="Arial"/>
              <a:ea typeface="Arial"/>
              <a:cs typeface="Arial"/>
              <a:sym typeface="Arial"/>
            </a:endParaRPr>
          </a:p>
        </p:txBody>
      </p:sp>
      <p:sp>
        <p:nvSpPr>
          <p:cNvPr id="275" name="Google Shape;275;p9"/>
          <p:cNvSpPr/>
          <p:nvPr/>
        </p:nvSpPr>
        <p:spPr>
          <a:xfrm>
            <a:off x="731520" y="2258568"/>
            <a:ext cx="109728" cy="109728"/>
          </a:xfrm>
          <a:prstGeom prst="ellipse">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6" name="Google Shape;276;p9"/>
          <p:cNvSpPr txBox="1"/>
          <p:nvPr/>
        </p:nvSpPr>
        <p:spPr>
          <a:xfrm>
            <a:off x="987552" y="2167128"/>
            <a:ext cx="4773168" cy="73151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142034"/>
                </a:solidFill>
                <a:latin typeface="Calibri"/>
                <a:ea typeface="Calibri"/>
                <a:cs typeface="Calibri"/>
                <a:sym typeface="Calibri"/>
              </a:rPr>
              <a:t>The score is a dot product, so the enclosed angle matters.</a:t>
            </a:r>
            <a:endParaRPr b="0" i="0" sz="1400" u="none" cap="none" strike="noStrike">
              <a:solidFill>
                <a:srgbClr val="000000"/>
              </a:solidFill>
              <a:latin typeface="Arial"/>
              <a:ea typeface="Arial"/>
              <a:cs typeface="Arial"/>
              <a:sym typeface="Arial"/>
            </a:endParaRPr>
          </a:p>
        </p:txBody>
      </p:sp>
      <p:sp>
        <p:nvSpPr>
          <p:cNvPr id="277" name="Google Shape;277;p9"/>
          <p:cNvSpPr/>
          <p:nvPr/>
        </p:nvSpPr>
        <p:spPr>
          <a:xfrm>
            <a:off x="731520" y="2916936"/>
            <a:ext cx="109728" cy="109728"/>
          </a:xfrm>
          <a:prstGeom prst="ellipse">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8" name="Google Shape;278;p9"/>
          <p:cNvSpPr txBox="1"/>
          <p:nvPr/>
        </p:nvSpPr>
        <p:spPr>
          <a:xfrm>
            <a:off x="987552" y="2825496"/>
            <a:ext cx="4773168" cy="73151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142034"/>
                </a:solidFill>
                <a:latin typeface="Calibri"/>
                <a:ea typeface="Calibri"/>
                <a:cs typeface="Calibri"/>
                <a:sym typeface="Calibri"/>
              </a:rPr>
              <a:t>Only the relative rotation R(Δt) enters the product.</a:t>
            </a:r>
            <a:endParaRPr b="0" i="0" sz="1400" u="none" cap="none" strike="noStrike">
              <a:solidFill>
                <a:srgbClr val="000000"/>
              </a:solidFill>
              <a:latin typeface="Arial"/>
              <a:ea typeface="Arial"/>
              <a:cs typeface="Arial"/>
              <a:sym typeface="Arial"/>
            </a:endParaRPr>
          </a:p>
        </p:txBody>
      </p:sp>
      <p:sp>
        <p:nvSpPr>
          <p:cNvPr id="279" name="Google Shape;279;p9"/>
          <p:cNvSpPr txBox="1"/>
          <p:nvPr/>
        </p:nvSpPr>
        <p:spPr>
          <a:xfrm>
            <a:off x="731525" y="4233675"/>
            <a:ext cx="4869300" cy="885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5A687A"/>
                </a:solidFill>
                <a:latin typeface="Calibri"/>
                <a:ea typeface="Calibri"/>
                <a:cs typeface="Calibri"/>
                <a:sym typeface="Calibri"/>
              </a:rPr>
              <a:t>Usually used in LLMs on the absolute position of the input. Here ToA is used instead, since PDWs are not equally spaced.</a:t>
            </a:r>
            <a:endParaRPr b="0" i="0" sz="1400" u="none" cap="none" strike="noStrike">
              <a:solidFill>
                <a:srgbClr val="000000"/>
              </a:solidFill>
              <a:latin typeface="Arial"/>
              <a:ea typeface="Arial"/>
              <a:cs typeface="Arial"/>
              <a:sym typeface="Arial"/>
            </a:endParaRPr>
          </a:p>
        </p:txBody>
      </p:sp>
      <p:sp>
        <p:nvSpPr>
          <p:cNvPr id="280" name="Google Shape;280;p9"/>
          <p:cNvSpPr/>
          <p:nvPr/>
        </p:nvSpPr>
        <p:spPr>
          <a:xfrm>
            <a:off x="6217920" y="822960"/>
            <a:ext cx="5486400" cy="5212200"/>
          </a:xfrm>
          <a:prstGeom prst="roundRect">
            <a:avLst>
              <a:gd fmla="val 8000" name="adj"/>
            </a:avLst>
          </a:prstGeom>
          <a:solidFill>
            <a:srgbClr val="F3F6F8"/>
          </a:solidFill>
          <a:ln cap="flat" cmpd="sng" w="12700">
            <a:solidFill>
              <a:srgbClr val="D2DA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1" name="Google Shape;281;p9"/>
          <p:cNvSpPr txBox="1"/>
          <p:nvPr/>
        </p:nvSpPr>
        <p:spPr>
          <a:xfrm>
            <a:off x="6446520" y="1005840"/>
            <a:ext cx="5029200" cy="36576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C45A20"/>
                </a:solidFill>
                <a:latin typeface="Calibri"/>
                <a:ea typeface="Calibri"/>
                <a:cs typeface="Calibri"/>
                <a:sym typeface="Calibri"/>
              </a:rPr>
              <a:t>Physical bias</a:t>
            </a:r>
            <a:endParaRPr b="0" i="0" sz="1400" u="none" cap="none" strike="noStrike">
              <a:solidFill>
                <a:srgbClr val="000000"/>
              </a:solidFill>
              <a:latin typeface="Arial"/>
              <a:ea typeface="Arial"/>
              <a:cs typeface="Arial"/>
              <a:sym typeface="Arial"/>
            </a:endParaRPr>
          </a:p>
        </p:txBody>
      </p:sp>
      <p:sp>
        <p:nvSpPr>
          <p:cNvPr id="282" name="Google Shape;282;p9"/>
          <p:cNvSpPr/>
          <p:nvPr/>
        </p:nvSpPr>
        <p:spPr>
          <a:xfrm>
            <a:off x="6446520" y="1600200"/>
            <a:ext cx="109728" cy="109728"/>
          </a:xfrm>
          <a:prstGeom prst="ellipse">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3" name="Google Shape;283;p9"/>
          <p:cNvSpPr txBox="1"/>
          <p:nvPr/>
        </p:nvSpPr>
        <p:spPr>
          <a:xfrm>
            <a:off x="6702552" y="1508760"/>
            <a:ext cx="4773168" cy="78638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142034"/>
                </a:solidFill>
                <a:latin typeface="Calibri"/>
                <a:ea typeface="Calibri"/>
                <a:cs typeface="Calibri"/>
                <a:sym typeface="Calibri"/>
              </a:rPr>
              <a:t>Build B_ij = |p_i − p_j| from ToA and incidence.</a:t>
            </a:r>
            <a:endParaRPr b="0" i="0" sz="1400" u="none" cap="none" strike="noStrike">
              <a:solidFill>
                <a:srgbClr val="000000"/>
              </a:solidFill>
              <a:latin typeface="Arial"/>
              <a:ea typeface="Arial"/>
              <a:cs typeface="Arial"/>
              <a:sym typeface="Arial"/>
            </a:endParaRPr>
          </a:p>
        </p:txBody>
      </p:sp>
      <p:sp>
        <p:nvSpPr>
          <p:cNvPr id="284" name="Google Shape;284;p9"/>
          <p:cNvSpPr/>
          <p:nvPr/>
        </p:nvSpPr>
        <p:spPr>
          <a:xfrm>
            <a:off x="6446520" y="2313432"/>
            <a:ext cx="109728" cy="109728"/>
          </a:xfrm>
          <a:prstGeom prst="ellipse">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5" name="Google Shape;285;p9"/>
          <p:cNvSpPr txBox="1"/>
          <p:nvPr/>
        </p:nvSpPr>
        <p:spPr>
          <a:xfrm>
            <a:off x="6702552" y="2221992"/>
            <a:ext cx="4773168" cy="78638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142034"/>
                </a:solidFill>
                <a:latin typeface="Calibri"/>
                <a:ea typeface="Calibri"/>
                <a:cs typeface="Calibri"/>
                <a:sym typeface="Calibri"/>
              </a:rPr>
              <a:t>Scale by learned λ, subtract from the attention matrix A.</a:t>
            </a:r>
            <a:endParaRPr b="0" i="0" sz="1400" u="none" cap="none" strike="noStrike">
              <a:solidFill>
                <a:srgbClr val="000000"/>
              </a:solidFill>
              <a:latin typeface="Arial"/>
              <a:ea typeface="Arial"/>
              <a:cs typeface="Arial"/>
              <a:sym typeface="Arial"/>
            </a:endParaRPr>
          </a:p>
        </p:txBody>
      </p:sp>
      <p:sp>
        <p:nvSpPr>
          <p:cNvPr id="286" name="Google Shape;286;p9"/>
          <p:cNvSpPr/>
          <p:nvPr/>
        </p:nvSpPr>
        <p:spPr>
          <a:xfrm>
            <a:off x="6446520" y="3026664"/>
            <a:ext cx="109728" cy="109728"/>
          </a:xfrm>
          <a:prstGeom prst="ellipse">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7" name="Google Shape;287;p9"/>
          <p:cNvSpPr txBox="1"/>
          <p:nvPr/>
        </p:nvSpPr>
        <p:spPr>
          <a:xfrm>
            <a:off x="6702552" y="2935224"/>
            <a:ext cx="4773168" cy="78638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142034"/>
                </a:solidFill>
                <a:latin typeface="Calibri"/>
                <a:ea typeface="Calibri"/>
                <a:cs typeface="Calibri"/>
                <a:sym typeface="Calibri"/>
              </a:rPr>
              <a:t>One λ per head and per stack. So different heads can penalize or reward deltas in different features.</a:t>
            </a:r>
            <a:endParaRPr b="0" i="0" sz="1400" u="none" cap="none" strike="noStrike">
              <a:solidFill>
                <a:srgbClr val="000000"/>
              </a:solidFill>
              <a:latin typeface="Arial"/>
              <a:ea typeface="Arial"/>
              <a:cs typeface="Arial"/>
              <a:sym typeface="Arial"/>
            </a:endParaRPr>
          </a:p>
        </p:txBody>
      </p:sp>
      <p:sp>
        <p:nvSpPr>
          <p:cNvPr id="288" name="Google Shape;288;p9"/>
          <p:cNvSpPr/>
          <p:nvPr/>
        </p:nvSpPr>
        <p:spPr>
          <a:xfrm>
            <a:off x="6446520" y="3739896"/>
            <a:ext cx="109728" cy="109728"/>
          </a:xfrm>
          <a:prstGeom prst="ellipse">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9" name="Google Shape;289;p9"/>
          <p:cNvSpPr txBox="1"/>
          <p:nvPr/>
        </p:nvSpPr>
        <p:spPr>
          <a:xfrm>
            <a:off x="6702552" y="3648456"/>
            <a:ext cx="4773300" cy="786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500"/>
              <a:buFont typeface="Arial"/>
              <a:buNone/>
            </a:pPr>
            <a:r>
              <a:rPr b="0" i="0" lang="en-US" sz="1500" u="none" cap="none" strike="noStrike">
                <a:solidFill>
                  <a:srgbClr val="142034"/>
                </a:solidFill>
                <a:latin typeface="Calibri"/>
                <a:ea typeface="Calibri"/>
                <a:cs typeface="Calibri"/>
                <a:sym typeface="Calibri"/>
              </a:rPr>
              <a:t>O(L^2) compute and memory, but same as attention stil.</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142034"/>
              </a:solidFill>
              <a:latin typeface="Calibri"/>
              <a:ea typeface="Calibri"/>
              <a:cs typeface="Calibri"/>
              <a:sym typeface="Calibri"/>
            </a:endParaRPr>
          </a:p>
        </p:txBody>
      </p:sp>
      <p:sp>
        <p:nvSpPr>
          <p:cNvPr id="290" name="Google Shape;290;p9"/>
          <p:cNvSpPr/>
          <p:nvPr/>
        </p:nvSpPr>
        <p:spPr>
          <a:xfrm>
            <a:off x="0" y="6510528"/>
            <a:ext cx="12191695" cy="347472"/>
          </a:xfrm>
          <a:prstGeom prst="rect">
            <a:avLst/>
          </a:prstGeom>
          <a:solidFill>
            <a:srgbClr val="F5F7F9"/>
          </a:solidFill>
          <a:ln cap="flat" cmpd="sng" w="12700">
            <a:solidFill>
              <a:srgbClr val="D2DA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91" name="Google Shape;291;p9"/>
          <p:cNvSpPr txBox="1"/>
          <p:nvPr/>
        </p:nvSpPr>
        <p:spPr>
          <a:xfrm>
            <a:off x="411480" y="6528816"/>
            <a:ext cx="9326880" cy="29260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5A687A"/>
                </a:solidFill>
                <a:latin typeface="Calibri"/>
                <a:ea typeface="Calibri"/>
                <a:cs typeface="Calibri"/>
                <a:sym typeface="Calibri"/>
              </a:rPr>
              <a:t>Internal briefing  ·  Saab  ·  KTH master's thesis  ·  Markus Johnson Swegmark</a:t>
            </a:r>
            <a:endParaRPr b="0" i="0" sz="1400" u="none" cap="none" strike="noStrike">
              <a:solidFill>
                <a:srgbClr val="000000"/>
              </a:solidFill>
              <a:latin typeface="Arial"/>
              <a:ea typeface="Arial"/>
              <a:cs typeface="Arial"/>
              <a:sym typeface="Arial"/>
            </a:endParaRPr>
          </a:p>
        </p:txBody>
      </p:sp>
      <p:sp>
        <p:nvSpPr>
          <p:cNvPr id="292" name="Google Shape;292;p9"/>
          <p:cNvSpPr txBox="1"/>
          <p:nvPr/>
        </p:nvSpPr>
        <p:spPr>
          <a:xfrm>
            <a:off x="10911535" y="6528816"/>
            <a:ext cx="960120" cy="29260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5A687A"/>
                </a:solidFill>
                <a:latin typeface="Calibri"/>
                <a:ea typeface="Calibri"/>
                <a:cs typeface="Calibri"/>
                <a:sym typeface="Calibri"/>
              </a:rPr>
              <a:t>10 / 19</a:t>
            </a:r>
            <a:endParaRPr b="0" i="0" sz="1400" u="none" cap="none" strike="noStrike">
              <a:solidFill>
                <a:srgbClr val="000000"/>
              </a:solidFill>
              <a:latin typeface="Arial"/>
              <a:ea typeface="Arial"/>
              <a:cs typeface="Arial"/>
              <a:sym typeface="Arial"/>
            </a:endParaRPr>
          </a:p>
        </p:txBody>
      </p:sp>
      <p:sp>
        <p:nvSpPr>
          <p:cNvPr id="293" name="Google Shape;293;p9"/>
          <p:cNvSpPr txBox="1"/>
          <p:nvPr/>
        </p:nvSpPr>
        <p:spPr>
          <a:xfrm>
            <a:off x="6446525" y="4316650"/>
            <a:ext cx="4869300" cy="885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5A687A"/>
                </a:solidFill>
                <a:latin typeface="Calibri"/>
                <a:ea typeface="Calibri"/>
                <a:cs typeface="Calibri"/>
                <a:sym typeface="Calibri"/>
              </a:rPr>
              <a:t>Not a traditional way to encode time in LLMs due to the L^2 compute and time scaling</a:t>
            </a:r>
            <a:endParaRPr b="0" i="0" sz="1400" u="none" cap="none" strike="noStrike">
              <a:solidFill>
                <a:srgbClr val="000000"/>
              </a:solidFill>
              <a:latin typeface="Arial"/>
              <a:ea typeface="Arial"/>
              <a:cs typeface="Arial"/>
              <a:sym typeface="Arial"/>
            </a:endParaRPr>
          </a:p>
        </p:txBody>
      </p:sp>
      <p:sp>
        <p:nvSpPr>
          <p:cNvPr id="294" name="Google Shape;294;p9"/>
          <p:cNvSpPr/>
          <p:nvPr/>
        </p:nvSpPr>
        <p:spPr>
          <a:xfrm>
            <a:off x="731457" y="3493059"/>
            <a:ext cx="109800" cy="109800"/>
          </a:xfrm>
          <a:prstGeom prst="ellipse">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95" name="Google Shape;295;p9"/>
          <p:cNvSpPr txBox="1"/>
          <p:nvPr/>
        </p:nvSpPr>
        <p:spPr>
          <a:xfrm>
            <a:off x="987490" y="3401618"/>
            <a:ext cx="4773300" cy="786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142034"/>
                </a:solidFill>
                <a:latin typeface="Calibri"/>
                <a:ea typeface="Calibri"/>
                <a:cs typeface="Calibri"/>
                <a:sym typeface="Calibri"/>
              </a:rPr>
              <a:t>No extra memory required, only approx O(L) compute.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10"/>
          <p:cNvSpPr/>
          <p:nvPr/>
        </p:nvSpPr>
        <p:spPr>
          <a:xfrm>
            <a:off x="0" y="0"/>
            <a:ext cx="12191695" cy="64008"/>
          </a:xfrm>
          <a:prstGeom prst="rect">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2" name="Google Shape;302;p10"/>
          <p:cNvSpPr txBox="1"/>
          <p:nvPr/>
        </p:nvSpPr>
        <p:spPr>
          <a:xfrm>
            <a:off x="502920" y="201168"/>
            <a:ext cx="11155680" cy="38404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200"/>
              <a:buFont typeface="Arial"/>
              <a:buNone/>
            </a:pPr>
            <a:r>
              <a:rPr b="1" i="0" lang="en-US" sz="2200" u="none" cap="none" strike="noStrike">
                <a:solidFill>
                  <a:srgbClr val="142034"/>
                </a:solidFill>
                <a:latin typeface="Calibri"/>
                <a:ea typeface="Calibri"/>
                <a:cs typeface="Calibri"/>
                <a:sym typeface="Calibri"/>
              </a:rPr>
              <a:t>RoPE-TOA  ·  each plane rotates at its own frequency</a:t>
            </a:r>
            <a:endParaRPr b="0" i="0" sz="1400" u="none" cap="none" strike="noStrike">
              <a:solidFill>
                <a:srgbClr val="000000"/>
              </a:solidFill>
              <a:latin typeface="Arial"/>
              <a:ea typeface="Arial"/>
              <a:cs typeface="Arial"/>
              <a:sym typeface="Arial"/>
            </a:endParaRPr>
          </a:p>
        </p:txBody>
      </p:sp>
      <p:sp>
        <p:nvSpPr>
          <p:cNvPr id="303" name="Google Shape;303;p10"/>
          <p:cNvSpPr/>
          <p:nvPr/>
        </p:nvSpPr>
        <p:spPr>
          <a:xfrm>
            <a:off x="8549640" y="777240"/>
            <a:ext cx="109728" cy="109728"/>
          </a:xfrm>
          <a:prstGeom prst="ellipse">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4" name="Google Shape;304;p10"/>
          <p:cNvSpPr txBox="1"/>
          <p:nvPr/>
        </p:nvSpPr>
        <p:spPr>
          <a:xfrm>
            <a:off x="8805672" y="685800"/>
            <a:ext cx="3035808" cy="69494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none" strike="noStrike">
                <a:solidFill>
                  <a:srgbClr val="142034"/>
                </a:solidFill>
                <a:latin typeface="Calibri"/>
                <a:ea typeface="Calibri"/>
                <a:cs typeface="Calibri"/>
                <a:sym typeface="Calibri"/>
              </a:rPr>
              <a:t>One head is split into 2D planes.</a:t>
            </a:r>
            <a:endParaRPr b="0" i="0" sz="1400" u="none" cap="none" strike="noStrike">
              <a:solidFill>
                <a:srgbClr val="000000"/>
              </a:solidFill>
              <a:latin typeface="Arial"/>
              <a:ea typeface="Arial"/>
              <a:cs typeface="Arial"/>
              <a:sym typeface="Arial"/>
            </a:endParaRPr>
          </a:p>
        </p:txBody>
      </p:sp>
      <p:sp>
        <p:nvSpPr>
          <p:cNvPr id="305" name="Google Shape;305;p10"/>
          <p:cNvSpPr/>
          <p:nvPr/>
        </p:nvSpPr>
        <p:spPr>
          <a:xfrm>
            <a:off x="8549640" y="1399032"/>
            <a:ext cx="109728" cy="109728"/>
          </a:xfrm>
          <a:prstGeom prst="ellipse">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6" name="Google Shape;306;p10"/>
          <p:cNvSpPr txBox="1"/>
          <p:nvPr/>
        </p:nvSpPr>
        <p:spPr>
          <a:xfrm>
            <a:off x="8805672" y="1307592"/>
            <a:ext cx="3035808" cy="69494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none" strike="noStrike">
                <a:solidFill>
                  <a:srgbClr val="142034"/>
                </a:solidFill>
                <a:latin typeface="Calibri"/>
                <a:ea typeface="Calibri"/>
                <a:cs typeface="Calibri"/>
                <a:sym typeface="Calibri"/>
              </a:rPr>
              <a:t>Each plane rotates at its own frequency.</a:t>
            </a:r>
            <a:endParaRPr b="0" i="0" sz="1400" u="none" cap="none" strike="noStrike">
              <a:solidFill>
                <a:srgbClr val="000000"/>
              </a:solidFill>
              <a:latin typeface="Arial"/>
              <a:ea typeface="Arial"/>
              <a:cs typeface="Arial"/>
              <a:sym typeface="Arial"/>
            </a:endParaRPr>
          </a:p>
        </p:txBody>
      </p:sp>
      <p:sp>
        <p:nvSpPr>
          <p:cNvPr id="307" name="Google Shape;307;p10"/>
          <p:cNvSpPr/>
          <p:nvPr/>
        </p:nvSpPr>
        <p:spPr>
          <a:xfrm>
            <a:off x="8549640" y="2020824"/>
            <a:ext cx="109728" cy="109728"/>
          </a:xfrm>
          <a:prstGeom prst="ellipse">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8" name="Google Shape;308;p10"/>
          <p:cNvSpPr txBox="1"/>
          <p:nvPr/>
        </p:nvSpPr>
        <p:spPr>
          <a:xfrm>
            <a:off x="8805672" y="1929384"/>
            <a:ext cx="3035808" cy="69494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none" strike="noStrike">
                <a:solidFill>
                  <a:srgbClr val="142034"/>
                </a:solidFill>
                <a:latin typeface="Calibri"/>
                <a:ea typeface="Calibri"/>
                <a:cs typeface="Calibri"/>
                <a:sym typeface="Calibri"/>
              </a:rPr>
              <a:t>Shared ToA: both arrows turn together.</a:t>
            </a:r>
            <a:endParaRPr b="0" i="0" sz="1400" u="none" cap="none" strike="noStrike">
              <a:solidFill>
                <a:srgbClr val="000000"/>
              </a:solidFill>
              <a:latin typeface="Arial"/>
              <a:ea typeface="Arial"/>
              <a:cs typeface="Arial"/>
              <a:sym typeface="Arial"/>
            </a:endParaRPr>
          </a:p>
        </p:txBody>
      </p:sp>
      <p:sp>
        <p:nvSpPr>
          <p:cNvPr id="309" name="Google Shape;309;p10"/>
          <p:cNvSpPr/>
          <p:nvPr/>
        </p:nvSpPr>
        <p:spPr>
          <a:xfrm>
            <a:off x="8549640" y="2642616"/>
            <a:ext cx="109728" cy="109728"/>
          </a:xfrm>
          <a:prstGeom prst="ellipse">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0" name="Google Shape;310;p10"/>
          <p:cNvSpPr txBox="1"/>
          <p:nvPr/>
        </p:nvSpPr>
        <p:spPr>
          <a:xfrm>
            <a:off x="8805672" y="2499518"/>
            <a:ext cx="3035700" cy="69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none" strike="noStrike">
                <a:solidFill>
                  <a:srgbClr val="142034"/>
                </a:solidFill>
                <a:latin typeface="Calibri"/>
                <a:ea typeface="Calibri"/>
                <a:cs typeface="Calibri"/>
                <a:sym typeface="Calibri"/>
              </a:rPr>
              <a:t>This incorporates ToA into the Attention matrix</a:t>
            </a:r>
            <a:endParaRPr b="0" i="0" sz="1400" u="none" cap="none" strike="noStrike">
              <a:solidFill>
                <a:srgbClr val="000000"/>
              </a:solidFill>
              <a:latin typeface="Arial"/>
              <a:ea typeface="Arial"/>
              <a:cs typeface="Arial"/>
              <a:sym typeface="Arial"/>
            </a:endParaRPr>
          </a:p>
        </p:txBody>
      </p:sp>
      <p:sp>
        <p:nvSpPr>
          <p:cNvPr id="311" name="Google Shape;311;p10"/>
          <p:cNvSpPr/>
          <p:nvPr/>
        </p:nvSpPr>
        <p:spPr>
          <a:xfrm>
            <a:off x="0" y="6510528"/>
            <a:ext cx="12191695" cy="347472"/>
          </a:xfrm>
          <a:prstGeom prst="rect">
            <a:avLst/>
          </a:prstGeom>
          <a:solidFill>
            <a:srgbClr val="F5F7F9"/>
          </a:solidFill>
          <a:ln cap="flat" cmpd="sng" w="12700">
            <a:solidFill>
              <a:srgbClr val="D2DA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2" name="Google Shape;312;p10"/>
          <p:cNvSpPr txBox="1"/>
          <p:nvPr/>
        </p:nvSpPr>
        <p:spPr>
          <a:xfrm>
            <a:off x="411480" y="6528816"/>
            <a:ext cx="9326880" cy="29260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5A687A"/>
                </a:solidFill>
                <a:latin typeface="Calibri"/>
                <a:ea typeface="Calibri"/>
                <a:cs typeface="Calibri"/>
                <a:sym typeface="Calibri"/>
              </a:rPr>
              <a:t>Internal briefing  ·  Saab  ·  KTH master's thesis  ·  Markus Johnson Swegmark</a:t>
            </a:r>
            <a:endParaRPr b="0" i="0" sz="1400" u="none" cap="none" strike="noStrike">
              <a:solidFill>
                <a:srgbClr val="000000"/>
              </a:solidFill>
              <a:latin typeface="Arial"/>
              <a:ea typeface="Arial"/>
              <a:cs typeface="Arial"/>
              <a:sym typeface="Arial"/>
            </a:endParaRPr>
          </a:p>
        </p:txBody>
      </p:sp>
      <p:sp>
        <p:nvSpPr>
          <p:cNvPr id="313" name="Google Shape;313;p10"/>
          <p:cNvSpPr txBox="1"/>
          <p:nvPr/>
        </p:nvSpPr>
        <p:spPr>
          <a:xfrm>
            <a:off x="10911535" y="6528816"/>
            <a:ext cx="960120" cy="29260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5A687A"/>
                </a:solidFill>
                <a:latin typeface="Calibri"/>
                <a:ea typeface="Calibri"/>
                <a:cs typeface="Calibri"/>
                <a:sym typeface="Calibri"/>
              </a:rPr>
              <a:t>11 / 19</a:t>
            </a:r>
            <a:endParaRPr b="0" i="0" sz="1400" u="none" cap="none" strike="noStrike">
              <a:solidFill>
                <a:srgbClr val="000000"/>
              </a:solidFill>
              <a:latin typeface="Arial"/>
              <a:ea typeface="Arial"/>
              <a:cs typeface="Arial"/>
              <a:sym typeface="Arial"/>
            </a:endParaRPr>
          </a:p>
        </p:txBody>
      </p:sp>
      <p:pic>
        <p:nvPicPr>
          <p:cNvPr id="314" name="Google Shape;314;p10" title="RoPEToA.mp4">
            <a:hlinkClick r:id="rId3"/>
          </p:cNvPr>
          <p:cNvPicPr preferRelativeResize="0"/>
          <p:nvPr/>
        </p:nvPicPr>
        <p:blipFill rotWithShape="1">
          <a:blip r:embed="rId4">
            <a:alphaModFix/>
          </a:blip>
          <a:srcRect b="0" l="0" r="0" t="0"/>
          <a:stretch/>
        </p:blipFill>
        <p:spPr>
          <a:xfrm>
            <a:off x="152400" y="737631"/>
            <a:ext cx="7566050" cy="567453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4"/>
                                        </p:tgtEl>
                                        <p:attrNameLst>
                                          <p:attrName>style.visibility</p:attrName>
                                        </p:attrNameLst>
                                      </p:cBhvr>
                                      <p:to>
                                        <p:strVal val="visible"/>
                                      </p:to>
                                    </p:set>
                                    <p:animEffect filter="fade" transition="in">
                                      <p:cBhvr>
                                        <p:cTn dur="1000"/>
                                        <p:tgtEl>
                                          <p:spTgt spid="31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11"/>
          <p:cNvSpPr/>
          <p:nvPr/>
        </p:nvSpPr>
        <p:spPr>
          <a:xfrm>
            <a:off x="0" y="0"/>
            <a:ext cx="12191695" cy="64008"/>
          </a:xfrm>
          <a:prstGeom prst="rect">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1" name="Google Shape;321;p11"/>
          <p:cNvSpPr txBox="1"/>
          <p:nvPr/>
        </p:nvSpPr>
        <p:spPr>
          <a:xfrm>
            <a:off x="502920" y="201168"/>
            <a:ext cx="11155680" cy="38404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200"/>
              <a:buFont typeface="Arial"/>
              <a:buNone/>
            </a:pPr>
            <a:r>
              <a:rPr b="1" i="0" lang="en-US" sz="2200" u="none" cap="none" strike="noStrike">
                <a:solidFill>
                  <a:srgbClr val="142034"/>
                </a:solidFill>
                <a:latin typeface="Calibri"/>
                <a:ea typeface="Calibri"/>
                <a:cs typeface="Calibri"/>
                <a:sym typeface="Calibri"/>
              </a:rPr>
              <a:t>Physical bias  ·  learned λ on delta maps, subtracted from A</a:t>
            </a:r>
            <a:endParaRPr b="0" i="0" sz="1400" u="none" cap="none" strike="noStrike">
              <a:solidFill>
                <a:srgbClr val="000000"/>
              </a:solidFill>
              <a:latin typeface="Arial"/>
              <a:ea typeface="Arial"/>
              <a:cs typeface="Arial"/>
              <a:sym typeface="Arial"/>
            </a:endParaRPr>
          </a:p>
        </p:txBody>
      </p:sp>
      <p:sp>
        <p:nvSpPr>
          <p:cNvPr id="322" name="Google Shape;322;p11"/>
          <p:cNvSpPr/>
          <p:nvPr/>
        </p:nvSpPr>
        <p:spPr>
          <a:xfrm>
            <a:off x="8549640" y="777240"/>
            <a:ext cx="109728" cy="109728"/>
          </a:xfrm>
          <a:prstGeom prst="ellipse">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3" name="Google Shape;323;p11"/>
          <p:cNvSpPr txBox="1"/>
          <p:nvPr/>
        </p:nvSpPr>
        <p:spPr>
          <a:xfrm>
            <a:off x="8805672" y="685800"/>
            <a:ext cx="3035808" cy="73151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none" strike="noStrike">
                <a:solidFill>
                  <a:srgbClr val="142034"/>
                </a:solidFill>
                <a:latin typeface="Calibri"/>
                <a:ea typeface="Calibri"/>
                <a:cs typeface="Calibri"/>
                <a:sym typeface="Calibri"/>
              </a:rPr>
              <a:t>|ΔToA| and |Δ incidence| from the inputs.</a:t>
            </a:r>
            <a:endParaRPr b="0" i="0" sz="1400" u="none" cap="none" strike="noStrike">
              <a:solidFill>
                <a:srgbClr val="000000"/>
              </a:solidFill>
              <a:latin typeface="Arial"/>
              <a:ea typeface="Arial"/>
              <a:cs typeface="Arial"/>
              <a:sym typeface="Arial"/>
            </a:endParaRPr>
          </a:p>
        </p:txBody>
      </p:sp>
      <p:sp>
        <p:nvSpPr>
          <p:cNvPr id="324" name="Google Shape;324;p11"/>
          <p:cNvSpPr/>
          <p:nvPr/>
        </p:nvSpPr>
        <p:spPr>
          <a:xfrm>
            <a:off x="8549640" y="1435608"/>
            <a:ext cx="109728" cy="109728"/>
          </a:xfrm>
          <a:prstGeom prst="ellipse">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5" name="Google Shape;325;p11"/>
          <p:cNvSpPr txBox="1"/>
          <p:nvPr/>
        </p:nvSpPr>
        <p:spPr>
          <a:xfrm>
            <a:off x="8805672" y="1344168"/>
            <a:ext cx="3035808" cy="73151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none" strike="noStrike">
                <a:solidFill>
                  <a:srgbClr val="142034"/>
                </a:solidFill>
                <a:latin typeface="Calibri"/>
                <a:ea typeface="Calibri"/>
                <a:cs typeface="Calibri"/>
                <a:sym typeface="Calibri"/>
              </a:rPr>
              <a:t>λ_t, λ_u: learned scalars on ToA and incidence. Unique per head.</a:t>
            </a:r>
            <a:endParaRPr b="0" i="0" sz="1400" u="none" cap="none" strike="noStrike">
              <a:solidFill>
                <a:srgbClr val="000000"/>
              </a:solidFill>
              <a:latin typeface="Arial"/>
              <a:ea typeface="Arial"/>
              <a:cs typeface="Arial"/>
              <a:sym typeface="Arial"/>
            </a:endParaRPr>
          </a:p>
        </p:txBody>
      </p:sp>
      <p:sp>
        <p:nvSpPr>
          <p:cNvPr id="326" name="Google Shape;326;p11"/>
          <p:cNvSpPr/>
          <p:nvPr/>
        </p:nvSpPr>
        <p:spPr>
          <a:xfrm>
            <a:off x="8549640" y="2093976"/>
            <a:ext cx="109728" cy="109728"/>
          </a:xfrm>
          <a:prstGeom prst="ellipse">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7" name="Google Shape;327;p11"/>
          <p:cNvSpPr txBox="1"/>
          <p:nvPr/>
        </p:nvSpPr>
        <p:spPr>
          <a:xfrm>
            <a:off x="8805672" y="2002536"/>
            <a:ext cx="3035808" cy="73151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none" strike="noStrike">
                <a:solidFill>
                  <a:srgbClr val="142034"/>
                </a:solidFill>
                <a:latin typeface="Calibri"/>
                <a:ea typeface="Calibri"/>
                <a:cs typeface="Calibri"/>
                <a:sym typeface="Calibri"/>
              </a:rPr>
              <a:t>Bias λB is subtracted from vanilla A.</a:t>
            </a:r>
            <a:endParaRPr b="0" i="0" sz="1400" u="none" cap="none" strike="noStrike">
              <a:solidFill>
                <a:srgbClr val="000000"/>
              </a:solidFill>
              <a:latin typeface="Arial"/>
              <a:ea typeface="Arial"/>
              <a:cs typeface="Arial"/>
              <a:sym typeface="Arial"/>
            </a:endParaRPr>
          </a:p>
        </p:txBody>
      </p:sp>
      <p:sp>
        <p:nvSpPr>
          <p:cNvPr id="328" name="Google Shape;328;p11"/>
          <p:cNvSpPr/>
          <p:nvPr/>
        </p:nvSpPr>
        <p:spPr>
          <a:xfrm>
            <a:off x="8549640" y="2752344"/>
            <a:ext cx="109728" cy="109728"/>
          </a:xfrm>
          <a:prstGeom prst="ellipse">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9" name="Google Shape;329;p11"/>
          <p:cNvSpPr txBox="1"/>
          <p:nvPr/>
        </p:nvSpPr>
        <p:spPr>
          <a:xfrm>
            <a:off x="8805672" y="2660904"/>
            <a:ext cx="3035808" cy="73151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none" strike="noStrike">
                <a:solidFill>
                  <a:srgbClr val="142034"/>
                </a:solidFill>
                <a:latin typeface="Calibri"/>
                <a:ea typeface="Calibri"/>
                <a:cs typeface="Calibri"/>
                <a:sym typeface="Calibri"/>
              </a:rPr>
              <a:t>Same-direction, nearby pulses stay bright.</a:t>
            </a:r>
            <a:endParaRPr b="0" i="0" sz="1400" u="none" cap="none" strike="noStrike">
              <a:solidFill>
                <a:srgbClr val="000000"/>
              </a:solidFill>
              <a:latin typeface="Arial"/>
              <a:ea typeface="Arial"/>
              <a:cs typeface="Arial"/>
              <a:sym typeface="Arial"/>
            </a:endParaRPr>
          </a:p>
        </p:txBody>
      </p:sp>
      <p:sp>
        <p:nvSpPr>
          <p:cNvPr id="330" name="Google Shape;330;p11"/>
          <p:cNvSpPr/>
          <p:nvPr/>
        </p:nvSpPr>
        <p:spPr>
          <a:xfrm>
            <a:off x="8549640" y="3410712"/>
            <a:ext cx="109728" cy="109728"/>
          </a:xfrm>
          <a:prstGeom prst="ellipse">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1" name="Google Shape;331;p11"/>
          <p:cNvSpPr txBox="1"/>
          <p:nvPr/>
        </p:nvSpPr>
        <p:spPr>
          <a:xfrm>
            <a:off x="8805672" y="3319272"/>
            <a:ext cx="3035808" cy="73151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none" strike="noStrike">
                <a:solidFill>
                  <a:srgbClr val="142034"/>
                </a:solidFill>
                <a:latin typeface="Calibri"/>
                <a:ea typeface="Calibri"/>
                <a:cs typeface="Calibri"/>
                <a:sym typeface="Calibri"/>
              </a:rPr>
              <a:t>Maps are L×L. That is the bill.</a:t>
            </a:r>
            <a:endParaRPr b="0" i="0" sz="1400" u="none" cap="none" strike="noStrike">
              <a:solidFill>
                <a:srgbClr val="000000"/>
              </a:solidFill>
              <a:latin typeface="Arial"/>
              <a:ea typeface="Arial"/>
              <a:cs typeface="Arial"/>
              <a:sym typeface="Arial"/>
            </a:endParaRPr>
          </a:p>
        </p:txBody>
      </p:sp>
      <p:sp>
        <p:nvSpPr>
          <p:cNvPr id="332" name="Google Shape;332;p11"/>
          <p:cNvSpPr/>
          <p:nvPr/>
        </p:nvSpPr>
        <p:spPr>
          <a:xfrm>
            <a:off x="0" y="6510528"/>
            <a:ext cx="12191695" cy="347472"/>
          </a:xfrm>
          <a:prstGeom prst="rect">
            <a:avLst/>
          </a:prstGeom>
          <a:solidFill>
            <a:srgbClr val="F5F7F9"/>
          </a:solidFill>
          <a:ln cap="flat" cmpd="sng" w="12700">
            <a:solidFill>
              <a:srgbClr val="D2DA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3" name="Google Shape;333;p11"/>
          <p:cNvSpPr txBox="1"/>
          <p:nvPr/>
        </p:nvSpPr>
        <p:spPr>
          <a:xfrm>
            <a:off x="411480" y="6528816"/>
            <a:ext cx="9326880" cy="29260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5A687A"/>
                </a:solidFill>
                <a:latin typeface="Calibri"/>
                <a:ea typeface="Calibri"/>
                <a:cs typeface="Calibri"/>
                <a:sym typeface="Calibri"/>
              </a:rPr>
              <a:t>Internal briefing  ·  Saab  ·  KTH master's thesis  ·  Markus Johnson Swegmark</a:t>
            </a:r>
            <a:endParaRPr b="0" i="0" sz="1400" u="none" cap="none" strike="noStrike">
              <a:solidFill>
                <a:srgbClr val="000000"/>
              </a:solidFill>
              <a:latin typeface="Arial"/>
              <a:ea typeface="Arial"/>
              <a:cs typeface="Arial"/>
              <a:sym typeface="Arial"/>
            </a:endParaRPr>
          </a:p>
        </p:txBody>
      </p:sp>
      <p:sp>
        <p:nvSpPr>
          <p:cNvPr id="334" name="Google Shape;334;p11"/>
          <p:cNvSpPr txBox="1"/>
          <p:nvPr/>
        </p:nvSpPr>
        <p:spPr>
          <a:xfrm>
            <a:off x="10911535" y="6528816"/>
            <a:ext cx="960120" cy="29260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5A687A"/>
                </a:solidFill>
                <a:latin typeface="Calibri"/>
                <a:ea typeface="Calibri"/>
                <a:cs typeface="Calibri"/>
                <a:sym typeface="Calibri"/>
              </a:rPr>
              <a:t>12 / 19</a:t>
            </a:r>
            <a:endParaRPr b="0" i="0" sz="1400" u="none" cap="none" strike="noStrike">
              <a:solidFill>
                <a:srgbClr val="000000"/>
              </a:solidFill>
              <a:latin typeface="Arial"/>
              <a:ea typeface="Arial"/>
              <a:cs typeface="Arial"/>
              <a:sym typeface="Arial"/>
            </a:endParaRPr>
          </a:p>
        </p:txBody>
      </p:sp>
      <p:pic>
        <p:nvPicPr>
          <p:cNvPr id="335" name="Google Shape;335;p11"/>
          <p:cNvPicPr preferRelativeResize="0"/>
          <p:nvPr/>
        </p:nvPicPr>
        <p:blipFill rotWithShape="1">
          <a:blip r:embed="rId3">
            <a:alphaModFix/>
          </a:blip>
          <a:srcRect b="0" l="0" r="0" t="0"/>
          <a:stretch/>
        </p:blipFill>
        <p:spPr>
          <a:xfrm>
            <a:off x="44900" y="2002525"/>
            <a:ext cx="8148774" cy="38002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12"/>
          <p:cNvSpPr/>
          <p:nvPr/>
        </p:nvSpPr>
        <p:spPr>
          <a:xfrm>
            <a:off x="0" y="0"/>
            <a:ext cx="12191695" cy="6858000"/>
          </a:xfrm>
          <a:prstGeom prst="rect">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1" name="Google Shape;341;p12"/>
          <p:cNvSpPr/>
          <p:nvPr/>
        </p:nvSpPr>
        <p:spPr>
          <a:xfrm>
            <a:off x="0" y="0"/>
            <a:ext cx="12191695" cy="64008"/>
          </a:xfrm>
          <a:prstGeom prst="rect">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2" name="Google Shape;342;p12"/>
          <p:cNvSpPr txBox="1"/>
          <p:nvPr/>
        </p:nvSpPr>
        <p:spPr>
          <a:xfrm>
            <a:off x="502920" y="201168"/>
            <a:ext cx="11155680" cy="38404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142034"/>
                </a:solidFill>
                <a:latin typeface="Calibri"/>
                <a:ea typeface="Calibri"/>
                <a:cs typeface="Calibri"/>
                <a:sym typeface="Calibri"/>
              </a:rPr>
              <a:t>Loss function</a:t>
            </a:r>
            <a:endParaRPr b="0" i="0" sz="1400" u="none" cap="none" strike="noStrike">
              <a:solidFill>
                <a:srgbClr val="000000"/>
              </a:solidFill>
              <a:latin typeface="Arial"/>
              <a:ea typeface="Arial"/>
              <a:cs typeface="Arial"/>
              <a:sym typeface="Arial"/>
            </a:endParaRPr>
          </a:p>
        </p:txBody>
      </p:sp>
      <p:sp>
        <p:nvSpPr>
          <p:cNvPr id="343" name="Google Shape;343;p12"/>
          <p:cNvSpPr txBox="1"/>
          <p:nvPr/>
        </p:nvSpPr>
        <p:spPr>
          <a:xfrm>
            <a:off x="502920" y="658368"/>
            <a:ext cx="11155680" cy="36576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142034"/>
                </a:solidFill>
                <a:latin typeface="Calibri"/>
                <a:ea typeface="Calibri"/>
                <a:cs typeface="Calibri"/>
                <a:sym typeface="Calibri"/>
              </a:rPr>
              <a:t>Supervised contrastive loss. Embeddings are pushed close if they share a label, and away if they differ.</a:t>
            </a:r>
            <a:endParaRPr b="0" i="0" sz="1400" u="none" cap="none" strike="noStrike">
              <a:solidFill>
                <a:srgbClr val="000000"/>
              </a:solidFill>
              <a:latin typeface="Arial"/>
              <a:ea typeface="Arial"/>
              <a:cs typeface="Arial"/>
              <a:sym typeface="Arial"/>
            </a:endParaRPr>
          </a:p>
        </p:txBody>
      </p:sp>
      <p:pic>
        <p:nvPicPr>
          <p:cNvPr descr="image7.png" id="344" name="Google Shape;344;p12"/>
          <p:cNvPicPr preferRelativeResize="0"/>
          <p:nvPr/>
        </p:nvPicPr>
        <p:blipFill rotWithShape="1">
          <a:blip r:embed="rId3">
            <a:alphaModFix/>
          </a:blip>
          <a:srcRect b="0" l="0" r="0" t="0"/>
          <a:stretch/>
        </p:blipFill>
        <p:spPr>
          <a:xfrm>
            <a:off x="640080" y="1097280"/>
            <a:ext cx="4572000" cy="1353312"/>
          </a:xfrm>
          <a:prstGeom prst="rect">
            <a:avLst/>
          </a:prstGeom>
          <a:noFill/>
          <a:ln>
            <a:noFill/>
          </a:ln>
        </p:spPr>
      </p:pic>
      <p:pic>
        <p:nvPicPr>
          <p:cNvPr descr="image4.png" id="345" name="Google Shape;345;p12"/>
          <p:cNvPicPr preferRelativeResize="0"/>
          <p:nvPr/>
        </p:nvPicPr>
        <p:blipFill rotWithShape="1">
          <a:blip r:embed="rId4">
            <a:alphaModFix/>
          </a:blip>
          <a:srcRect b="0" l="0" r="0" t="0"/>
          <a:stretch/>
        </p:blipFill>
        <p:spPr>
          <a:xfrm>
            <a:off x="640080" y="2514600"/>
            <a:ext cx="4572000" cy="1563076"/>
          </a:xfrm>
          <a:prstGeom prst="rect">
            <a:avLst/>
          </a:prstGeom>
          <a:noFill/>
          <a:ln>
            <a:noFill/>
          </a:ln>
        </p:spPr>
      </p:pic>
      <p:pic>
        <p:nvPicPr>
          <p:cNvPr descr="image10.png" id="346" name="Google Shape;346;p12"/>
          <p:cNvPicPr preferRelativeResize="0"/>
          <p:nvPr/>
        </p:nvPicPr>
        <p:blipFill rotWithShape="1">
          <a:blip r:embed="rId5">
            <a:alphaModFix/>
          </a:blip>
          <a:srcRect b="0" l="0" r="0" t="0"/>
          <a:stretch/>
        </p:blipFill>
        <p:spPr>
          <a:xfrm>
            <a:off x="502920" y="4160520"/>
            <a:ext cx="10607040" cy="2206574"/>
          </a:xfrm>
          <a:prstGeom prst="rect">
            <a:avLst/>
          </a:prstGeom>
          <a:noFill/>
          <a:ln>
            <a:noFill/>
          </a:ln>
        </p:spPr>
      </p:pic>
      <p:sp>
        <p:nvSpPr>
          <p:cNvPr id="347" name="Google Shape;347;p12"/>
          <p:cNvSpPr/>
          <p:nvPr/>
        </p:nvSpPr>
        <p:spPr>
          <a:xfrm>
            <a:off x="0" y="6510528"/>
            <a:ext cx="12191695" cy="347472"/>
          </a:xfrm>
          <a:prstGeom prst="rect">
            <a:avLst/>
          </a:prstGeom>
          <a:solidFill>
            <a:srgbClr val="F5F7F9"/>
          </a:solidFill>
          <a:ln cap="flat" cmpd="sng" w="12700">
            <a:solidFill>
              <a:srgbClr val="D2DA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8" name="Google Shape;348;p12"/>
          <p:cNvSpPr txBox="1"/>
          <p:nvPr/>
        </p:nvSpPr>
        <p:spPr>
          <a:xfrm>
            <a:off x="411480" y="6528816"/>
            <a:ext cx="9326880" cy="29260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5A687A"/>
                </a:solidFill>
                <a:latin typeface="Calibri"/>
                <a:ea typeface="Calibri"/>
                <a:cs typeface="Calibri"/>
                <a:sym typeface="Calibri"/>
              </a:rPr>
              <a:t>Internal briefing  ·  Saab  ·  KTH master's thesis  ·  Markus Johnson Swegmark</a:t>
            </a:r>
            <a:endParaRPr b="0" i="0" sz="1400" u="none" cap="none" strike="noStrike">
              <a:solidFill>
                <a:srgbClr val="000000"/>
              </a:solidFill>
              <a:latin typeface="Arial"/>
              <a:ea typeface="Arial"/>
              <a:cs typeface="Arial"/>
              <a:sym typeface="Arial"/>
            </a:endParaRPr>
          </a:p>
        </p:txBody>
      </p:sp>
      <p:sp>
        <p:nvSpPr>
          <p:cNvPr id="349" name="Google Shape;349;p12"/>
          <p:cNvSpPr txBox="1"/>
          <p:nvPr/>
        </p:nvSpPr>
        <p:spPr>
          <a:xfrm>
            <a:off x="10911535" y="6528816"/>
            <a:ext cx="960120" cy="29260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5A687A"/>
                </a:solidFill>
                <a:latin typeface="Calibri"/>
                <a:ea typeface="Calibri"/>
                <a:cs typeface="Calibri"/>
                <a:sym typeface="Calibri"/>
              </a:rPr>
              <a:t>13 / 19</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13"/>
          <p:cNvSpPr/>
          <p:nvPr/>
        </p:nvSpPr>
        <p:spPr>
          <a:xfrm>
            <a:off x="0" y="0"/>
            <a:ext cx="12191695" cy="6858000"/>
          </a:xfrm>
          <a:prstGeom prst="rect">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55" name="Google Shape;355;p13"/>
          <p:cNvSpPr/>
          <p:nvPr/>
        </p:nvSpPr>
        <p:spPr>
          <a:xfrm>
            <a:off x="0" y="0"/>
            <a:ext cx="12191695" cy="64008"/>
          </a:xfrm>
          <a:prstGeom prst="rect">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56" name="Google Shape;356;p13"/>
          <p:cNvSpPr txBox="1"/>
          <p:nvPr/>
        </p:nvSpPr>
        <p:spPr>
          <a:xfrm>
            <a:off x="502920" y="201168"/>
            <a:ext cx="11155680" cy="38404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142034"/>
                </a:solidFill>
                <a:latin typeface="Calibri"/>
                <a:ea typeface="Calibri"/>
                <a:cs typeface="Calibri"/>
                <a:sym typeface="Calibri"/>
              </a:rPr>
              <a:t>Joint training</a:t>
            </a:r>
            <a:endParaRPr b="0" i="0" sz="1400" u="none" cap="none" strike="noStrike">
              <a:solidFill>
                <a:srgbClr val="000000"/>
              </a:solidFill>
              <a:latin typeface="Arial"/>
              <a:ea typeface="Arial"/>
              <a:cs typeface="Arial"/>
              <a:sym typeface="Arial"/>
            </a:endParaRPr>
          </a:p>
        </p:txBody>
      </p:sp>
      <p:pic>
        <p:nvPicPr>
          <p:cNvPr descr="image6.png" id="357" name="Google Shape;357;p13"/>
          <p:cNvPicPr preferRelativeResize="0"/>
          <p:nvPr/>
        </p:nvPicPr>
        <p:blipFill rotWithShape="1">
          <a:blip r:embed="rId3">
            <a:alphaModFix/>
          </a:blip>
          <a:srcRect b="0" l="0" r="0" t="0"/>
          <a:stretch/>
        </p:blipFill>
        <p:spPr>
          <a:xfrm>
            <a:off x="640080" y="822960"/>
            <a:ext cx="5669280" cy="1713382"/>
          </a:xfrm>
          <a:prstGeom prst="rect">
            <a:avLst/>
          </a:prstGeom>
          <a:noFill/>
          <a:ln>
            <a:noFill/>
          </a:ln>
        </p:spPr>
      </p:pic>
      <p:sp>
        <p:nvSpPr>
          <p:cNvPr id="358" name="Google Shape;358;p13"/>
          <p:cNvSpPr txBox="1"/>
          <p:nvPr/>
        </p:nvSpPr>
        <p:spPr>
          <a:xfrm>
            <a:off x="502920" y="2148840"/>
            <a:ext cx="11155680" cy="10972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700"/>
              <a:buFont typeface="Arial"/>
              <a:buNone/>
            </a:pPr>
            <a:r>
              <a:rPr b="0" i="0" lang="en-US" sz="1700" u="none" cap="none" strike="noStrike">
                <a:solidFill>
                  <a:srgbClr val="142034"/>
                </a:solidFill>
                <a:latin typeface="Calibri"/>
                <a:ea typeface="Calibri"/>
                <a:cs typeface="Calibri"/>
                <a:sym typeface="Calibri"/>
              </a:rPr>
              <a:t>Joint training adds two separately computed loss terms: one for emitter ID (deinterleaving) and one for mode clustering.</a:t>
            </a:r>
            <a:endParaRPr b="0" i="0" sz="1400" u="none" cap="none" strike="noStrike">
              <a:solidFill>
                <a:srgbClr val="000000"/>
              </a:solidFill>
              <a:latin typeface="Arial"/>
              <a:ea typeface="Arial"/>
              <a:cs typeface="Arial"/>
              <a:sym typeface="Arial"/>
            </a:endParaRPr>
          </a:p>
        </p:txBody>
      </p:sp>
      <p:sp>
        <p:nvSpPr>
          <p:cNvPr id="359" name="Google Shape;359;p13"/>
          <p:cNvSpPr txBox="1"/>
          <p:nvPr/>
        </p:nvSpPr>
        <p:spPr>
          <a:xfrm>
            <a:off x="502920" y="3246120"/>
            <a:ext cx="11155680" cy="219456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700"/>
              <a:buFont typeface="Arial"/>
              <a:buNone/>
            </a:pPr>
            <a:r>
              <a:rPr b="0" i="0" lang="en-US" sz="1700" u="none" cap="none" strike="noStrike">
                <a:solidFill>
                  <a:srgbClr val="142034"/>
                </a:solidFill>
                <a:latin typeface="Calibri"/>
                <a:ea typeface="Calibri"/>
                <a:cs typeface="Calibri"/>
                <a:sym typeface="Calibri"/>
              </a:rPr>
              <a:t>Task-specific models are also trained with loss from only the emitter or mode branch. That makes the model learn from emitters or modes alone. The other branch is still computed but discarded, which is equivalent to a pure mode or deinterleaving transformer.</a:t>
            </a:r>
            <a:endParaRPr b="0" i="0" sz="1400" u="none" cap="none" strike="noStrike">
              <a:solidFill>
                <a:srgbClr val="000000"/>
              </a:solidFill>
              <a:latin typeface="Arial"/>
              <a:ea typeface="Arial"/>
              <a:cs typeface="Arial"/>
              <a:sym typeface="Arial"/>
            </a:endParaRPr>
          </a:p>
        </p:txBody>
      </p:sp>
      <p:sp>
        <p:nvSpPr>
          <p:cNvPr id="360" name="Google Shape;360;p13"/>
          <p:cNvSpPr/>
          <p:nvPr/>
        </p:nvSpPr>
        <p:spPr>
          <a:xfrm>
            <a:off x="0" y="6510528"/>
            <a:ext cx="12191695" cy="347472"/>
          </a:xfrm>
          <a:prstGeom prst="rect">
            <a:avLst/>
          </a:prstGeom>
          <a:solidFill>
            <a:srgbClr val="F5F7F9"/>
          </a:solidFill>
          <a:ln cap="flat" cmpd="sng" w="12700">
            <a:solidFill>
              <a:srgbClr val="D2DA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1" name="Google Shape;361;p13"/>
          <p:cNvSpPr txBox="1"/>
          <p:nvPr/>
        </p:nvSpPr>
        <p:spPr>
          <a:xfrm>
            <a:off x="411480" y="6528816"/>
            <a:ext cx="9326880" cy="29260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5A687A"/>
                </a:solidFill>
                <a:latin typeface="Calibri"/>
                <a:ea typeface="Calibri"/>
                <a:cs typeface="Calibri"/>
                <a:sym typeface="Calibri"/>
              </a:rPr>
              <a:t>Internal briefing  ·  Saab  ·  KTH master's thesis  ·  Markus Johnson Swegmark</a:t>
            </a:r>
            <a:endParaRPr b="0" i="0" sz="1400" u="none" cap="none" strike="noStrike">
              <a:solidFill>
                <a:srgbClr val="000000"/>
              </a:solidFill>
              <a:latin typeface="Arial"/>
              <a:ea typeface="Arial"/>
              <a:cs typeface="Arial"/>
              <a:sym typeface="Arial"/>
            </a:endParaRPr>
          </a:p>
        </p:txBody>
      </p:sp>
      <p:sp>
        <p:nvSpPr>
          <p:cNvPr id="362" name="Google Shape;362;p13"/>
          <p:cNvSpPr txBox="1"/>
          <p:nvPr/>
        </p:nvSpPr>
        <p:spPr>
          <a:xfrm>
            <a:off x="10911535" y="6528816"/>
            <a:ext cx="960120" cy="29260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5A687A"/>
                </a:solidFill>
                <a:latin typeface="Calibri"/>
                <a:ea typeface="Calibri"/>
                <a:cs typeface="Calibri"/>
                <a:sym typeface="Calibri"/>
              </a:rPr>
              <a:t>14 / 19</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14"/>
          <p:cNvSpPr/>
          <p:nvPr/>
        </p:nvSpPr>
        <p:spPr>
          <a:xfrm>
            <a:off x="0" y="0"/>
            <a:ext cx="12191695" cy="6858000"/>
          </a:xfrm>
          <a:prstGeom prst="rect">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8" name="Google Shape;368;p14"/>
          <p:cNvSpPr/>
          <p:nvPr/>
        </p:nvSpPr>
        <p:spPr>
          <a:xfrm>
            <a:off x="0" y="0"/>
            <a:ext cx="12191695" cy="64008"/>
          </a:xfrm>
          <a:prstGeom prst="rect">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9" name="Google Shape;369;p14"/>
          <p:cNvSpPr txBox="1"/>
          <p:nvPr/>
        </p:nvSpPr>
        <p:spPr>
          <a:xfrm>
            <a:off x="502920" y="201168"/>
            <a:ext cx="11155680" cy="38404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142034"/>
                </a:solidFill>
                <a:latin typeface="Calibri"/>
                <a:ea typeface="Calibri"/>
                <a:cs typeface="Calibri"/>
                <a:sym typeface="Calibri"/>
              </a:rPr>
              <a:t>Results: mean ARI ± std over all 1169 test windows</a:t>
            </a:r>
            <a:endParaRPr b="0" i="0" sz="1400" u="none" cap="none" strike="noStrike">
              <a:solidFill>
                <a:srgbClr val="000000"/>
              </a:solidFill>
              <a:latin typeface="Arial"/>
              <a:ea typeface="Arial"/>
              <a:cs typeface="Arial"/>
              <a:sym typeface="Arial"/>
            </a:endParaRPr>
          </a:p>
        </p:txBody>
      </p:sp>
      <p:sp>
        <p:nvSpPr>
          <p:cNvPr id="370" name="Google Shape;370;p14"/>
          <p:cNvSpPr txBox="1"/>
          <p:nvPr/>
        </p:nvSpPr>
        <p:spPr>
          <a:xfrm>
            <a:off x="502920" y="960120"/>
            <a:ext cx="5303520" cy="3657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C45A20"/>
                </a:solidFill>
                <a:latin typeface="Calibri"/>
                <a:ea typeface="Calibri"/>
                <a:cs typeface="Calibri"/>
                <a:sym typeface="Calibri"/>
              </a:rPr>
              <a:t>Deinterleaving</a:t>
            </a:r>
            <a:endParaRPr b="0" i="0" sz="1400" u="none" cap="none" strike="noStrike">
              <a:solidFill>
                <a:srgbClr val="000000"/>
              </a:solidFill>
              <a:latin typeface="Arial"/>
              <a:ea typeface="Arial"/>
              <a:cs typeface="Arial"/>
              <a:sym typeface="Arial"/>
            </a:endParaRPr>
          </a:p>
        </p:txBody>
      </p:sp>
      <p:sp>
        <p:nvSpPr>
          <p:cNvPr id="371" name="Google Shape;371;p14"/>
          <p:cNvSpPr txBox="1"/>
          <p:nvPr/>
        </p:nvSpPr>
        <p:spPr>
          <a:xfrm>
            <a:off x="6355080" y="960120"/>
            <a:ext cx="5303520" cy="3657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0A7A96"/>
                </a:solidFill>
                <a:latin typeface="Calibri"/>
                <a:ea typeface="Calibri"/>
                <a:cs typeface="Calibri"/>
                <a:sym typeface="Calibri"/>
              </a:rPr>
              <a:t>Mode clustering</a:t>
            </a:r>
            <a:endParaRPr b="0" i="0" sz="1400" u="none" cap="none" strike="noStrike">
              <a:solidFill>
                <a:srgbClr val="000000"/>
              </a:solidFill>
              <a:latin typeface="Arial"/>
              <a:ea typeface="Arial"/>
              <a:cs typeface="Arial"/>
              <a:sym typeface="Arial"/>
            </a:endParaRPr>
          </a:p>
        </p:txBody>
      </p:sp>
      <p:sp>
        <p:nvSpPr>
          <p:cNvPr id="372" name="Google Shape;372;p14"/>
          <p:cNvSpPr/>
          <p:nvPr/>
        </p:nvSpPr>
        <p:spPr>
          <a:xfrm>
            <a:off x="0" y="6510528"/>
            <a:ext cx="12191695" cy="347472"/>
          </a:xfrm>
          <a:prstGeom prst="rect">
            <a:avLst/>
          </a:prstGeom>
          <a:solidFill>
            <a:srgbClr val="F5F7F9"/>
          </a:solidFill>
          <a:ln cap="flat" cmpd="sng" w="12700">
            <a:solidFill>
              <a:srgbClr val="D2DA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3" name="Google Shape;373;p14"/>
          <p:cNvSpPr txBox="1"/>
          <p:nvPr/>
        </p:nvSpPr>
        <p:spPr>
          <a:xfrm>
            <a:off x="411480" y="6528816"/>
            <a:ext cx="9326880" cy="29260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5A687A"/>
                </a:solidFill>
                <a:latin typeface="Calibri"/>
                <a:ea typeface="Calibri"/>
                <a:cs typeface="Calibri"/>
                <a:sym typeface="Calibri"/>
              </a:rPr>
              <a:t>Internal briefing  ·  Saab  ·  KTH master's thesis  ·  Markus Johnson Swegmark</a:t>
            </a:r>
            <a:endParaRPr b="0" i="0" sz="1400" u="none" cap="none" strike="noStrike">
              <a:solidFill>
                <a:srgbClr val="000000"/>
              </a:solidFill>
              <a:latin typeface="Arial"/>
              <a:ea typeface="Arial"/>
              <a:cs typeface="Arial"/>
              <a:sym typeface="Arial"/>
            </a:endParaRPr>
          </a:p>
        </p:txBody>
      </p:sp>
      <p:sp>
        <p:nvSpPr>
          <p:cNvPr id="374" name="Google Shape;374;p14"/>
          <p:cNvSpPr txBox="1"/>
          <p:nvPr/>
        </p:nvSpPr>
        <p:spPr>
          <a:xfrm>
            <a:off x="10911535" y="6528816"/>
            <a:ext cx="960120" cy="29260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5A687A"/>
                </a:solidFill>
                <a:latin typeface="Calibri"/>
                <a:ea typeface="Calibri"/>
                <a:cs typeface="Calibri"/>
                <a:sym typeface="Calibri"/>
              </a:rPr>
              <a:t>15 / 19</a:t>
            </a:r>
            <a:endParaRPr b="0" i="0" sz="1400" u="none" cap="none" strike="noStrike">
              <a:solidFill>
                <a:srgbClr val="000000"/>
              </a:solidFill>
              <a:latin typeface="Arial"/>
              <a:ea typeface="Arial"/>
              <a:cs typeface="Arial"/>
              <a:sym typeface="Arial"/>
            </a:endParaRPr>
          </a:p>
        </p:txBody>
      </p:sp>
      <p:pic>
        <p:nvPicPr>
          <p:cNvPr descr="results_ari_em.png" id="375" name="Google Shape;375;p14"/>
          <p:cNvPicPr preferRelativeResize="0"/>
          <p:nvPr/>
        </p:nvPicPr>
        <p:blipFill rotWithShape="1">
          <a:blip r:embed="rId3">
            <a:alphaModFix/>
          </a:blip>
          <a:srcRect b="0" l="0" r="0" t="0"/>
          <a:stretch/>
        </p:blipFill>
        <p:spPr>
          <a:xfrm>
            <a:off x="640080" y="1463040"/>
            <a:ext cx="5120640" cy="3283357"/>
          </a:xfrm>
          <a:prstGeom prst="rect">
            <a:avLst/>
          </a:prstGeom>
          <a:noFill/>
          <a:ln>
            <a:noFill/>
          </a:ln>
        </p:spPr>
      </p:pic>
      <p:pic>
        <p:nvPicPr>
          <p:cNvPr descr="results_ari_md.png" id="376" name="Google Shape;376;p14"/>
          <p:cNvPicPr preferRelativeResize="0"/>
          <p:nvPr/>
        </p:nvPicPr>
        <p:blipFill rotWithShape="1">
          <a:blip r:embed="rId4">
            <a:alphaModFix/>
          </a:blip>
          <a:srcRect b="0" l="0" r="0" t="0"/>
          <a:stretch/>
        </p:blipFill>
        <p:spPr>
          <a:xfrm>
            <a:off x="6446520" y="1417320"/>
            <a:ext cx="5120640" cy="3283357"/>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15"/>
          <p:cNvSpPr/>
          <p:nvPr/>
        </p:nvSpPr>
        <p:spPr>
          <a:xfrm>
            <a:off x="0" y="0"/>
            <a:ext cx="12191695" cy="6858000"/>
          </a:xfrm>
          <a:prstGeom prst="rect">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3" name="Google Shape;383;p15"/>
          <p:cNvSpPr/>
          <p:nvPr/>
        </p:nvSpPr>
        <p:spPr>
          <a:xfrm>
            <a:off x="0" y="0"/>
            <a:ext cx="12191695" cy="64008"/>
          </a:xfrm>
          <a:prstGeom prst="rect">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4" name="Google Shape;384;p15"/>
          <p:cNvSpPr txBox="1"/>
          <p:nvPr/>
        </p:nvSpPr>
        <p:spPr>
          <a:xfrm>
            <a:off x="502920" y="201168"/>
            <a:ext cx="11155680" cy="38404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142034"/>
                </a:solidFill>
                <a:latin typeface="Calibri"/>
                <a:ea typeface="Calibri"/>
                <a:cs typeface="Calibri"/>
                <a:sym typeface="Calibri"/>
              </a:rPr>
              <a:t>Distribution of scores over windows</a:t>
            </a:r>
            <a:endParaRPr b="0" i="0" sz="1400" u="none" cap="none" strike="noStrike">
              <a:solidFill>
                <a:srgbClr val="000000"/>
              </a:solidFill>
              <a:latin typeface="Arial"/>
              <a:ea typeface="Arial"/>
              <a:cs typeface="Arial"/>
              <a:sym typeface="Arial"/>
            </a:endParaRPr>
          </a:p>
        </p:txBody>
      </p:sp>
      <p:sp>
        <p:nvSpPr>
          <p:cNvPr id="385" name="Google Shape;385;p15"/>
          <p:cNvSpPr txBox="1"/>
          <p:nvPr/>
        </p:nvSpPr>
        <p:spPr>
          <a:xfrm>
            <a:off x="502920" y="621792"/>
            <a:ext cx="11155680" cy="36576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5A687A"/>
                </a:solidFill>
                <a:latin typeface="Calibri"/>
                <a:ea typeface="Calibri"/>
                <a:cs typeface="Calibri"/>
                <a:sym typeface="Calibri"/>
              </a:rPr>
              <a:t>Logarithmic y-axis. A curve that stays low until 1 is better. Dashed: single-task. Ordered by ARI.</a:t>
            </a:r>
            <a:endParaRPr b="0" i="0" sz="1400" u="none" cap="none" strike="noStrike">
              <a:solidFill>
                <a:srgbClr val="000000"/>
              </a:solidFill>
              <a:latin typeface="Arial"/>
              <a:ea typeface="Arial"/>
              <a:cs typeface="Arial"/>
              <a:sym typeface="Arial"/>
            </a:endParaRPr>
          </a:p>
        </p:txBody>
      </p:sp>
      <p:sp>
        <p:nvSpPr>
          <p:cNvPr id="386" name="Google Shape;386;p15"/>
          <p:cNvSpPr txBox="1"/>
          <p:nvPr/>
        </p:nvSpPr>
        <p:spPr>
          <a:xfrm>
            <a:off x="365760" y="1005840"/>
            <a:ext cx="5486400" cy="34747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C45A20"/>
                </a:solidFill>
                <a:latin typeface="Calibri"/>
                <a:ea typeface="Calibri"/>
                <a:cs typeface="Calibri"/>
                <a:sym typeface="Calibri"/>
              </a:rPr>
              <a:t>Deinterleaving</a:t>
            </a:r>
            <a:endParaRPr b="0" i="0" sz="1400" u="none" cap="none" strike="noStrike">
              <a:solidFill>
                <a:srgbClr val="000000"/>
              </a:solidFill>
              <a:latin typeface="Arial"/>
              <a:ea typeface="Arial"/>
              <a:cs typeface="Arial"/>
              <a:sym typeface="Arial"/>
            </a:endParaRPr>
          </a:p>
        </p:txBody>
      </p:sp>
      <p:sp>
        <p:nvSpPr>
          <p:cNvPr id="387" name="Google Shape;387;p15"/>
          <p:cNvSpPr txBox="1"/>
          <p:nvPr/>
        </p:nvSpPr>
        <p:spPr>
          <a:xfrm>
            <a:off x="6263640" y="1005840"/>
            <a:ext cx="5486400" cy="34747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0A7A96"/>
                </a:solidFill>
                <a:latin typeface="Calibri"/>
                <a:ea typeface="Calibri"/>
                <a:cs typeface="Calibri"/>
                <a:sym typeface="Calibri"/>
              </a:rPr>
              <a:t>Mode clustering</a:t>
            </a:r>
            <a:endParaRPr b="0" i="0" sz="1400" u="none" cap="none" strike="noStrike">
              <a:solidFill>
                <a:srgbClr val="000000"/>
              </a:solidFill>
              <a:latin typeface="Arial"/>
              <a:ea typeface="Arial"/>
              <a:cs typeface="Arial"/>
              <a:sym typeface="Arial"/>
            </a:endParaRPr>
          </a:p>
        </p:txBody>
      </p:sp>
      <p:sp>
        <p:nvSpPr>
          <p:cNvPr id="388" name="Google Shape;388;p15"/>
          <p:cNvSpPr/>
          <p:nvPr/>
        </p:nvSpPr>
        <p:spPr>
          <a:xfrm>
            <a:off x="0" y="6510528"/>
            <a:ext cx="12191695" cy="347472"/>
          </a:xfrm>
          <a:prstGeom prst="rect">
            <a:avLst/>
          </a:prstGeom>
          <a:solidFill>
            <a:srgbClr val="F5F7F9"/>
          </a:solidFill>
          <a:ln cap="flat" cmpd="sng" w="12700">
            <a:solidFill>
              <a:srgbClr val="D2DA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9" name="Google Shape;389;p15"/>
          <p:cNvSpPr txBox="1"/>
          <p:nvPr/>
        </p:nvSpPr>
        <p:spPr>
          <a:xfrm>
            <a:off x="411480" y="6528816"/>
            <a:ext cx="9326880" cy="29260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5A687A"/>
                </a:solidFill>
                <a:latin typeface="Calibri"/>
                <a:ea typeface="Calibri"/>
                <a:cs typeface="Calibri"/>
                <a:sym typeface="Calibri"/>
              </a:rPr>
              <a:t>Internal briefing  ·  Saab  ·  KTH master's thesis  ·  Markus Johnson Swegmark</a:t>
            </a:r>
            <a:endParaRPr b="0" i="0" sz="1400" u="none" cap="none" strike="noStrike">
              <a:solidFill>
                <a:srgbClr val="000000"/>
              </a:solidFill>
              <a:latin typeface="Arial"/>
              <a:ea typeface="Arial"/>
              <a:cs typeface="Arial"/>
              <a:sym typeface="Arial"/>
            </a:endParaRPr>
          </a:p>
        </p:txBody>
      </p:sp>
      <p:sp>
        <p:nvSpPr>
          <p:cNvPr id="390" name="Google Shape;390;p15"/>
          <p:cNvSpPr txBox="1"/>
          <p:nvPr/>
        </p:nvSpPr>
        <p:spPr>
          <a:xfrm>
            <a:off x="10911535" y="6528816"/>
            <a:ext cx="960120" cy="29260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5A687A"/>
                </a:solidFill>
                <a:latin typeface="Calibri"/>
                <a:ea typeface="Calibri"/>
                <a:cs typeface="Calibri"/>
                <a:sym typeface="Calibri"/>
              </a:rPr>
              <a:t>16 / 19</a:t>
            </a:r>
            <a:endParaRPr b="0" i="0" sz="1400" u="none" cap="none" strike="noStrike">
              <a:solidFill>
                <a:srgbClr val="000000"/>
              </a:solidFill>
              <a:latin typeface="Arial"/>
              <a:ea typeface="Arial"/>
              <a:cs typeface="Arial"/>
              <a:sym typeface="Arial"/>
            </a:endParaRPr>
          </a:p>
        </p:txBody>
      </p:sp>
      <p:pic>
        <p:nvPicPr>
          <p:cNvPr descr="hist_em_task.png" id="391" name="Google Shape;391;p15"/>
          <p:cNvPicPr preferRelativeResize="0"/>
          <p:nvPr/>
        </p:nvPicPr>
        <p:blipFill rotWithShape="1">
          <a:blip r:embed="rId3">
            <a:alphaModFix/>
          </a:blip>
          <a:srcRect b="0" l="0" r="0" t="0"/>
          <a:stretch/>
        </p:blipFill>
        <p:spPr>
          <a:xfrm>
            <a:off x="320040" y="1417320"/>
            <a:ext cx="5669280" cy="3048535"/>
          </a:xfrm>
          <a:prstGeom prst="rect">
            <a:avLst/>
          </a:prstGeom>
          <a:noFill/>
          <a:ln>
            <a:noFill/>
          </a:ln>
        </p:spPr>
      </p:pic>
      <p:pic>
        <p:nvPicPr>
          <p:cNvPr descr="hist_md_task.png" id="392" name="Google Shape;392;p15"/>
          <p:cNvPicPr preferRelativeResize="0"/>
          <p:nvPr/>
        </p:nvPicPr>
        <p:blipFill rotWithShape="1">
          <a:blip r:embed="rId4">
            <a:alphaModFix/>
          </a:blip>
          <a:srcRect b="0" l="0" r="0" t="0"/>
          <a:stretch/>
        </p:blipFill>
        <p:spPr>
          <a:xfrm>
            <a:off x="6217920" y="1417320"/>
            <a:ext cx="5669280" cy="304853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16"/>
          <p:cNvSpPr/>
          <p:nvPr/>
        </p:nvSpPr>
        <p:spPr>
          <a:xfrm>
            <a:off x="0" y="0"/>
            <a:ext cx="12191695" cy="64008"/>
          </a:xfrm>
          <a:prstGeom prst="rect">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98" name="Google Shape;398;p16"/>
          <p:cNvSpPr txBox="1"/>
          <p:nvPr/>
        </p:nvSpPr>
        <p:spPr>
          <a:xfrm>
            <a:off x="502920" y="201168"/>
            <a:ext cx="11155680" cy="38404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142034"/>
                </a:solidFill>
                <a:latin typeface="Calibri"/>
                <a:ea typeface="Calibri"/>
                <a:cs typeface="Calibri"/>
                <a:sym typeface="Calibri"/>
              </a:rPr>
              <a:t>Conclusion</a:t>
            </a:r>
            <a:endParaRPr b="0" i="0" sz="1400" u="none" cap="none" strike="noStrike">
              <a:solidFill>
                <a:srgbClr val="000000"/>
              </a:solidFill>
              <a:latin typeface="Arial"/>
              <a:ea typeface="Arial"/>
              <a:cs typeface="Arial"/>
              <a:sym typeface="Arial"/>
            </a:endParaRPr>
          </a:p>
        </p:txBody>
      </p:sp>
      <p:sp>
        <p:nvSpPr>
          <p:cNvPr id="399" name="Google Shape;399;p16"/>
          <p:cNvSpPr/>
          <p:nvPr/>
        </p:nvSpPr>
        <p:spPr>
          <a:xfrm>
            <a:off x="0" y="6510528"/>
            <a:ext cx="12191695" cy="347472"/>
          </a:xfrm>
          <a:prstGeom prst="rect">
            <a:avLst/>
          </a:prstGeom>
          <a:solidFill>
            <a:srgbClr val="F5F7F9"/>
          </a:solidFill>
          <a:ln cap="flat" cmpd="sng" w="12700">
            <a:solidFill>
              <a:srgbClr val="D2DA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00" name="Google Shape;400;p16"/>
          <p:cNvSpPr txBox="1"/>
          <p:nvPr/>
        </p:nvSpPr>
        <p:spPr>
          <a:xfrm>
            <a:off x="411480" y="6528816"/>
            <a:ext cx="9326880" cy="29260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5A687A"/>
                </a:solidFill>
                <a:latin typeface="Calibri"/>
                <a:ea typeface="Calibri"/>
                <a:cs typeface="Calibri"/>
                <a:sym typeface="Calibri"/>
              </a:rPr>
              <a:t>Internal briefing  ·  Saab  ·  KTH master's thesis  ·  Markus Johnson Swegmark</a:t>
            </a:r>
            <a:endParaRPr b="0" i="0" sz="1400" u="none" cap="none" strike="noStrike">
              <a:solidFill>
                <a:srgbClr val="000000"/>
              </a:solidFill>
              <a:latin typeface="Arial"/>
              <a:ea typeface="Arial"/>
              <a:cs typeface="Arial"/>
              <a:sym typeface="Arial"/>
            </a:endParaRPr>
          </a:p>
        </p:txBody>
      </p:sp>
      <p:sp>
        <p:nvSpPr>
          <p:cNvPr id="401" name="Google Shape;401;p16"/>
          <p:cNvSpPr txBox="1"/>
          <p:nvPr/>
        </p:nvSpPr>
        <p:spPr>
          <a:xfrm>
            <a:off x="10911535" y="6528816"/>
            <a:ext cx="960120" cy="29260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5A687A"/>
                </a:solidFill>
                <a:latin typeface="Calibri"/>
                <a:ea typeface="Calibri"/>
                <a:cs typeface="Calibri"/>
                <a:sym typeface="Calibri"/>
              </a:rPr>
              <a:t>17 / 19</a:t>
            </a:r>
            <a:endParaRPr b="0" i="0" sz="1400" u="none" cap="none" strike="noStrike">
              <a:solidFill>
                <a:srgbClr val="000000"/>
              </a:solidFill>
              <a:latin typeface="Arial"/>
              <a:ea typeface="Arial"/>
              <a:cs typeface="Arial"/>
              <a:sym typeface="Arial"/>
            </a:endParaRPr>
          </a:p>
        </p:txBody>
      </p:sp>
      <p:sp>
        <p:nvSpPr>
          <p:cNvPr id="402" name="Google Shape;402;p16"/>
          <p:cNvSpPr txBox="1"/>
          <p:nvPr/>
        </p:nvSpPr>
        <p:spPr>
          <a:xfrm>
            <a:off x="502920" y="777240"/>
            <a:ext cx="11155680" cy="31089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en-US" sz="1800" u="none" cap="none" strike="noStrike">
                <a:solidFill>
                  <a:srgbClr val="C45A20"/>
                </a:solidFill>
                <a:latin typeface="Calibri"/>
                <a:ea typeface="Calibri"/>
                <a:cs typeface="Calibri"/>
                <a:sym typeface="Calibri"/>
              </a:rPr>
              <a:t>Deinterleaving</a:t>
            </a:r>
            <a:endParaRPr/>
          </a:p>
        </p:txBody>
      </p:sp>
      <p:sp>
        <p:nvSpPr>
          <p:cNvPr id="403" name="Google Shape;403;p16"/>
          <p:cNvSpPr/>
          <p:nvPr/>
        </p:nvSpPr>
        <p:spPr>
          <a:xfrm>
            <a:off x="502920" y="1207008"/>
            <a:ext cx="109728" cy="109728"/>
          </a:xfrm>
          <a:prstGeom prst="ellipse">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4" name="Google Shape;404;p16"/>
          <p:cNvSpPr txBox="1"/>
          <p:nvPr/>
        </p:nvSpPr>
        <p:spPr>
          <a:xfrm>
            <a:off x="758952" y="1115568"/>
            <a:ext cx="10899648" cy="71323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800" u="none" cap="none" strike="noStrike">
                <a:solidFill>
                  <a:srgbClr val="142034"/>
                </a:solidFill>
                <a:latin typeface="Calibri"/>
                <a:ea typeface="Calibri"/>
                <a:cs typeface="Calibri"/>
                <a:sym typeface="Calibri"/>
              </a:rPr>
              <a:t>Joint model is weaker than single-task for deinterleaving without modification.</a:t>
            </a:r>
            <a:endParaRPr/>
          </a:p>
        </p:txBody>
      </p:sp>
      <p:sp>
        <p:nvSpPr>
          <p:cNvPr id="405" name="Google Shape;405;p16"/>
          <p:cNvSpPr/>
          <p:nvPr/>
        </p:nvSpPr>
        <p:spPr>
          <a:xfrm>
            <a:off x="502920" y="1847088"/>
            <a:ext cx="109728" cy="109728"/>
          </a:xfrm>
          <a:prstGeom prst="ellipse">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6" name="Google Shape;406;p16"/>
          <p:cNvSpPr txBox="1"/>
          <p:nvPr/>
        </p:nvSpPr>
        <p:spPr>
          <a:xfrm>
            <a:off x="758952" y="1755648"/>
            <a:ext cx="10899648" cy="71323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800" u="none" cap="none" strike="noStrike">
                <a:solidFill>
                  <a:srgbClr val="142034"/>
                </a:solidFill>
                <a:latin typeface="Calibri"/>
                <a:ea typeface="Calibri"/>
                <a:cs typeface="Calibri"/>
                <a:sym typeface="Calibri"/>
              </a:rPr>
              <a:t>But with RoPE or physical bias they perform on par, even </a:t>
            </a:r>
            <a:r>
              <a:rPr lang="en-US" sz="1800">
                <a:solidFill>
                  <a:srgbClr val="142034"/>
                </a:solidFill>
                <a:latin typeface="Calibri"/>
                <a:ea typeface="Calibri"/>
                <a:cs typeface="Calibri"/>
                <a:sym typeface="Calibri"/>
              </a:rPr>
              <a:t>slightly</a:t>
            </a:r>
            <a:r>
              <a:rPr b="0" i="0" lang="en-US" sz="1800" u="none" cap="none" strike="noStrike">
                <a:solidFill>
                  <a:srgbClr val="142034"/>
                </a:solidFill>
                <a:latin typeface="Calibri"/>
                <a:ea typeface="Calibri"/>
                <a:cs typeface="Calibri"/>
                <a:sym typeface="Calibri"/>
              </a:rPr>
              <a:t> better.</a:t>
            </a:r>
            <a:endParaRPr/>
          </a:p>
        </p:txBody>
      </p:sp>
      <p:sp>
        <p:nvSpPr>
          <p:cNvPr id="407" name="Google Shape;407;p16"/>
          <p:cNvSpPr txBox="1"/>
          <p:nvPr/>
        </p:nvSpPr>
        <p:spPr>
          <a:xfrm>
            <a:off x="502920" y="2606040"/>
            <a:ext cx="11155680" cy="31089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en-US" sz="1800" u="none" cap="none" strike="noStrike">
                <a:solidFill>
                  <a:srgbClr val="0A7A96"/>
                </a:solidFill>
                <a:latin typeface="Calibri"/>
                <a:ea typeface="Calibri"/>
                <a:cs typeface="Calibri"/>
                <a:sym typeface="Calibri"/>
              </a:rPr>
              <a:t>Mode clustering</a:t>
            </a:r>
            <a:endParaRPr/>
          </a:p>
        </p:txBody>
      </p:sp>
      <p:sp>
        <p:nvSpPr>
          <p:cNvPr id="408" name="Google Shape;408;p16"/>
          <p:cNvSpPr/>
          <p:nvPr/>
        </p:nvSpPr>
        <p:spPr>
          <a:xfrm>
            <a:off x="502920" y="3035808"/>
            <a:ext cx="109728" cy="109728"/>
          </a:xfrm>
          <a:prstGeom prst="ellipse">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9" name="Google Shape;409;p16"/>
          <p:cNvSpPr txBox="1"/>
          <p:nvPr/>
        </p:nvSpPr>
        <p:spPr>
          <a:xfrm>
            <a:off x="758952" y="2944368"/>
            <a:ext cx="10899648" cy="78638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800" u="none" cap="none" strike="noStrike">
                <a:solidFill>
                  <a:srgbClr val="142034"/>
                </a:solidFill>
                <a:latin typeface="Calibri"/>
                <a:ea typeface="Calibri"/>
                <a:cs typeface="Calibri"/>
                <a:sym typeface="Calibri"/>
              </a:rPr>
              <a:t>Mode clustering the join model actually perform slightly better, but basically on par with the single-task model</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17"/>
          <p:cNvSpPr/>
          <p:nvPr/>
        </p:nvSpPr>
        <p:spPr>
          <a:xfrm>
            <a:off x="0" y="0"/>
            <a:ext cx="12191695" cy="6858000"/>
          </a:xfrm>
          <a:prstGeom prst="rect">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15" name="Google Shape;415;p17"/>
          <p:cNvSpPr/>
          <p:nvPr/>
        </p:nvSpPr>
        <p:spPr>
          <a:xfrm>
            <a:off x="0" y="0"/>
            <a:ext cx="12191695" cy="64008"/>
          </a:xfrm>
          <a:prstGeom prst="rect">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16" name="Google Shape;416;p17"/>
          <p:cNvSpPr txBox="1"/>
          <p:nvPr/>
        </p:nvSpPr>
        <p:spPr>
          <a:xfrm>
            <a:off x="502920" y="201168"/>
            <a:ext cx="11155680" cy="38404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142034"/>
                </a:solidFill>
                <a:latin typeface="Calibri"/>
                <a:ea typeface="Calibri"/>
                <a:cs typeface="Calibri"/>
                <a:sym typeface="Calibri"/>
              </a:rPr>
              <a:t>Discussion and further work</a:t>
            </a:r>
            <a:endParaRPr b="0" i="0" sz="1400" u="none" cap="none" strike="noStrike">
              <a:solidFill>
                <a:srgbClr val="000000"/>
              </a:solidFill>
              <a:latin typeface="Arial"/>
              <a:ea typeface="Arial"/>
              <a:cs typeface="Arial"/>
              <a:sym typeface="Arial"/>
            </a:endParaRPr>
          </a:p>
        </p:txBody>
      </p:sp>
      <p:sp>
        <p:nvSpPr>
          <p:cNvPr id="417" name="Google Shape;417;p17"/>
          <p:cNvSpPr/>
          <p:nvPr/>
        </p:nvSpPr>
        <p:spPr>
          <a:xfrm>
            <a:off x="0" y="6510528"/>
            <a:ext cx="12191695" cy="347472"/>
          </a:xfrm>
          <a:prstGeom prst="rect">
            <a:avLst/>
          </a:prstGeom>
          <a:solidFill>
            <a:srgbClr val="F5F7F9"/>
          </a:solidFill>
          <a:ln cap="flat" cmpd="sng" w="12700">
            <a:solidFill>
              <a:srgbClr val="D2DA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18" name="Google Shape;418;p17"/>
          <p:cNvSpPr txBox="1"/>
          <p:nvPr/>
        </p:nvSpPr>
        <p:spPr>
          <a:xfrm>
            <a:off x="411480" y="6528816"/>
            <a:ext cx="9326880" cy="29260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5A687A"/>
                </a:solidFill>
                <a:latin typeface="Calibri"/>
                <a:ea typeface="Calibri"/>
                <a:cs typeface="Calibri"/>
                <a:sym typeface="Calibri"/>
              </a:rPr>
              <a:t>Internal briefing  ·  Saab  ·  KTH master's thesis  ·  Markus Johnson Swegmark</a:t>
            </a:r>
            <a:endParaRPr b="0" i="0" sz="1400" u="none" cap="none" strike="noStrike">
              <a:solidFill>
                <a:srgbClr val="000000"/>
              </a:solidFill>
              <a:latin typeface="Arial"/>
              <a:ea typeface="Arial"/>
              <a:cs typeface="Arial"/>
              <a:sym typeface="Arial"/>
            </a:endParaRPr>
          </a:p>
        </p:txBody>
      </p:sp>
      <p:sp>
        <p:nvSpPr>
          <p:cNvPr id="419" name="Google Shape;419;p17"/>
          <p:cNvSpPr txBox="1"/>
          <p:nvPr/>
        </p:nvSpPr>
        <p:spPr>
          <a:xfrm>
            <a:off x="10911535" y="6528816"/>
            <a:ext cx="960120" cy="29260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5A687A"/>
                </a:solidFill>
                <a:latin typeface="Calibri"/>
                <a:ea typeface="Calibri"/>
                <a:cs typeface="Calibri"/>
                <a:sym typeface="Calibri"/>
              </a:rPr>
              <a:t>18 / 19</a:t>
            </a:r>
            <a:endParaRPr b="0" i="0" sz="1400" u="none" cap="none" strike="noStrike">
              <a:solidFill>
                <a:srgbClr val="000000"/>
              </a:solidFill>
              <a:latin typeface="Arial"/>
              <a:ea typeface="Arial"/>
              <a:cs typeface="Arial"/>
              <a:sym typeface="Arial"/>
            </a:endParaRPr>
          </a:p>
        </p:txBody>
      </p:sp>
      <p:pic>
        <p:nvPicPr>
          <p:cNvPr id="420" name="Google Shape;420;p17"/>
          <p:cNvPicPr preferRelativeResize="0"/>
          <p:nvPr/>
        </p:nvPicPr>
        <p:blipFill rotWithShape="1">
          <a:blip r:embed="rId3">
            <a:alphaModFix/>
          </a:blip>
          <a:srcRect b="0" l="0" r="0" t="0"/>
          <a:stretch/>
        </p:blipFill>
        <p:spPr>
          <a:xfrm>
            <a:off x="6435150" y="911075"/>
            <a:ext cx="4304074" cy="5161124"/>
          </a:xfrm>
          <a:prstGeom prst="rect">
            <a:avLst/>
          </a:prstGeom>
          <a:noFill/>
          <a:ln>
            <a:noFill/>
          </a:ln>
        </p:spPr>
      </p:pic>
      <p:sp>
        <p:nvSpPr>
          <p:cNvPr id="421" name="Google Shape;421;p17"/>
          <p:cNvSpPr/>
          <p:nvPr/>
        </p:nvSpPr>
        <p:spPr>
          <a:xfrm>
            <a:off x="9013050" y="2166275"/>
            <a:ext cx="1459200" cy="549900"/>
          </a:xfrm>
          <a:prstGeom prst="rect">
            <a:avLst/>
          </a:prstGeom>
          <a:solidFill>
            <a:srgbClr val="EEECE1"/>
          </a:solidFill>
          <a:ln cap="flat" cmpd="sng" w="9525">
            <a:solidFill>
              <a:srgbClr val="1F497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libri"/>
                <a:ea typeface="Calibri"/>
                <a:cs typeface="Calibri"/>
                <a:sym typeface="Calibri"/>
              </a:rPr>
              <a:t>Classification head</a:t>
            </a:r>
            <a:endParaRPr b="0" i="0" sz="1400" u="none" cap="none" strike="noStrike">
              <a:solidFill>
                <a:srgbClr val="000000"/>
              </a:solidFill>
              <a:latin typeface="Calibri"/>
              <a:ea typeface="Calibri"/>
              <a:cs typeface="Calibri"/>
              <a:sym typeface="Calibri"/>
            </a:endParaRPr>
          </a:p>
        </p:txBody>
      </p:sp>
      <p:sp>
        <p:nvSpPr>
          <p:cNvPr id="422" name="Google Shape;422;p17"/>
          <p:cNvSpPr/>
          <p:nvPr/>
        </p:nvSpPr>
        <p:spPr>
          <a:xfrm>
            <a:off x="8900800" y="1066300"/>
            <a:ext cx="1695000" cy="9429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423" name="Google Shape;423;p17"/>
          <p:cNvSpPr txBox="1"/>
          <p:nvPr/>
        </p:nvSpPr>
        <p:spPr>
          <a:xfrm>
            <a:off x="502920" y="777240"/>
            <a:ext cx="5852160" cy="31089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en-US" sz="1800" u="none" cap="none" strike="noStrike">
                <a:solidFill>
                  <a:srgbClr val="C45A20"/>
                </a:solidFill>
                <a:latin typeface="Calibri"/>
                <a:ea typeface="Calibri"/>
                <a:cs typeface="Calibri"/>
                <a:sym typeface="Calibri"/>
              </a:rPr>
              <a:t>Windows</a:t>
            </a:r>
            <a:endParaRPr/>
          </a:p>
        </p:txBody>
      </p:sp>
      <p:sp>
        <p:nvSpPr>
          <p:cNvPr id="424" name="Google Shape;424;p17"/>
          <p:cNvSpPr/>
          <p:nvPr/>
        </p:nvSpPr>
        <p:spPr>
          <a:xfrm>
            <a:off x="502920" y="1207008"/>
            <a:ext cx="109728" cy="109728"/>
          </a:xfrm>
          <a:prstGeom prst="ellipse">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5" name="Google Shape;425;p17"/>
          <p:cNvSpPr txBox="1"/>
          <p:nvPr/>
        </p:nvSpPr>
        <p:spPr>
          <a:xfrm>
            <a:off x="758952" y="1115568"/>
            <a:ext cx="5596128" cy="11247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800" u="none" cap="none" strike="noStrike">
                <a:solidFill>
                  <a:srgbClr val="142034"/>
                </a:solidFill>
                <a:latin typeface="Calibri"/>
                <a:ea typeface="Calibri"/>
                <a:cs typeface="Calibri"/>
                <a:sym typeface="Calibri"/>
              </a:rPr>
              <a:t>We are not processing a whole scenario, only a window of it. Need to “sew” together.</a:t>
            </a:r>
            <a:endParaRPr/>
          </a:p>
        </p:txBody>
      </p:sp>
      <p:sp>
        <p:nvSpPr>
          <p:cNvPr id="426" name="Google Shape;426;p17"/>
          <p:cNvSpPr txBox="1"/>
          <p:nvPr/>
        </p:nvSpPr>
        <p:spPr>
          <a:xfrm>
            <a:off x="502920" y="2606040"/>
            <a:ext cx="5852160" cy="31089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en-US" sz="1800" u="none" cap="none" strike="noStrike">
                <a:solidFill>
                  <a:srgbClr val="0A7A96"/>
                </a:solidFill>
                <a:latin typeface="Calibri"/>
                <a:ea typeface="Calibri"/>
                <a:cs typeface="Calibri"/>
                <a:sym typeface="Calibri"/>
              </a:rPr>
              <a:t>A second head</a:t>
            </a:r>
            <a:endParaRPr/>
          </a:p>
        </p:txBody>
      </p:sp>
      <p:sp>
        <p:nvSpPr>
          <p:cNvPr id="427" name="Google Shape;427;p17"/>
          <p:cNvSpPr/>
          <p:nvPr/>
        </p:nvSpPr>
        <p:spPr>
          <a:xfrm>
            <a:off x="502920" y="3035808"/>
            <a:ext cx="109728" cy="109728"/>
          </a:xfrm>
          <a:prstGeom prst="ellipse">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8" name="Google Shape;428;p17"/>
          <p:cNvSpPr txBox="1"/>
          <p:nvPr/>
        </p:nvSpPr>
        <p:spPr>
          <a:xfrm>
            <a:off x="758952" y="2944368"/>
            <a:ext cx="5596128" cy="11247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800" u="none" cap="none" strike="noStrike">
                <a:solidFill>
                  <a:srgbClr val="142034"/>
                </a:solidFill>
                <a:latin typeface="Calibri"/>
                <a:ea typeface="Calibri"/>
                <a:cs typeface="Calibri"/>
                <a:sym typeface="Calibri"/>
              </a:rPr>
              <a:t>Mode classification head could be added to the outputted encdoings perhaps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18"/>
          <p:cNvSpPr/>
          <p:nvPr/>
        </p:nvSpPr>
        <p:spPr>
          <a:xfrm>
            <a:off x="0" y="0"/>
            <a:ext cx="12191695" cy="6858000"/>
          </a:xfrm>
          <a:prstGeom prst="rect">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4" name="Google Shape;434;p18"/>
          <p:cNvSpPr/>
          <p:nvPr/>
        </p:nvSpPr>
        <p:spPr>
          <a:xfrm>
            <a:off x="0" y="0"/>
            <a:ext cx="12191695" cy="64008"/>
          </a:xfrm>
          <a:prstGeom prst="rect">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5" name="Google Shape;435;p18"/>
          <p:cNvSpPr/>
          <p:nvPr/>
        </p:nvSpPr>
        <p:spPr>
          <a:xfrm>
            <a:off x="0" y="6510528"/>
            <a:ext cx="12191695" cy="347472"/>
          </a:xfrm>
          <a:prstGeom prst="rect">
            <a:avLst/>
          </a:prstGeom>
          <a:solidFill>
            <a:srgbClr val="F5F7F9"/>
          </a:solidFill>
          <a:ln cap="flat" cmpd="sng" w="12700">
            <a:solidFill>
              <a:srgbClr val="D2DA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6" name="Google Shape;436;p18"/>
          <p:cNvSpPr txBox="1"/>
          <p:nvPr/>
        </p:nvSpPr>
        <p:spPr>
          <a:xfrm>
            <a:off x="411480" y="6528816"/>
            <a:ext cx="9326880" cy="29260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5A687A"/>
                </a:solidFill>
                <a:latin typeface="Calibri"/>
                <a:ea typeface="Calibri"/>
                <a:cs typeface="Calibri"/>
                <a:sym typeface="Calibri"/>
              </a:rPr>
              <a:t>Internal briefing  ·  Saab  ·  KTH master's thesis  ·  Markus Johnson Swegmark</a:t>
            </a:r>
            <a:endParaRPr b="0" i="0" sz="1400" u="none" cap="none" strike="noStrike">
              <a:solidFill>
                <a:srgbClr val="000000"/>
              </a:solidFill>
              <a:latin typeface="Arial"/>
              <a:ea typeface="Arial"/>
              <a:cs typeface="Arial"/>
              <a:sym typeface="Arial"/>
            </a:endParaRPr>
          </a:p>
        </p:txBody>
      </p:sp>
      <p:sp>
        <p:nvSpPr>
          <p:cNvPr id="437" name="Google Shape;437;p18"/>
          <p:cNvSpPr txBox="1"/>
          <p:nvPr/>
        </p:nvSpPr>
        <p:spPr>
          <a:xfrm>
            <a:off x="10911535" y="6528816"/>
            <a:ext cx="960120" cy="29260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5A687A"/>
                </a:solidFill>
                <a:latin typeface="Calibri"/>
                <a:ea typeface="Calibri"/>
                <a:cs typeface="Calibri"/>
                <a:sym typeface="Calibri"/>
              </a:rPr>
              <a:t>19 / 19</a:t>
            </a:r>
            <a:endParaRPr b="0" i="0" sz="1400" u="none" cap="none" strike="noStrike">
              <a:solidFill>
                <a:srgbClr val="000000"/>
              </a:solidFill>
              <a:latin typeface="Arial"/>
              <a:ea typeface="Arial"/>
              <a:cs typeface="Arial"/>
              <a:sym typeface="Arial"/>
            </a:endParaRPr>
          </a:p>
        </p:txBody>
      </p:sp>
      <p:sp>
        <p:nvSpPr>
          <p:cNvPr id="438" name="Google Shape;438;p18"/>
          <p:cNvSpPr txBox="1"/>
          <p:nvPr/>
        </p:nvSpPr>
        <p:spPr>
          <a:xfrm>
            <a:off x="502920" y="2331720"/>
            <a:ext cx="11155680" cy="146304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4400" u="none" cap="none" strike="noStrike">
                <a:solidFill>
                  <a:srgbClr val="142034"/>
                </a:solidFill>
                <a:latin typeface="Calibri"/>
                <a:ea typeface="Calibri"/>
                <a:cs typeface="Calibri"/>
                <a:sym typeface="Calibri"/>
              </a:rPr>
              <a:t>Questions?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